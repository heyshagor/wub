
<file path=[Content_Types].xml><?xml version="1.0" encoding="utf-8"?>
<Types xmlns="http://schemas.openxmlformats.org/package/2006/content-types">
  <Default Extension="gif" ContentType="image/gif"/>
  <Default Extension="jpeg" ContentType="image/jpeg"/>
  <Default Extension="jpg" ContentType="image/png"/>
  <Default Extension="m4a" ContentType="audi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media/image10.jpg" ContentType="image/jpeg"/>
  <Override PartName="/ppt/tags/tag5.xml" ContentType="application/vnd.openxmlformats-officedocument.presentationml.tags+xml"/>
  <Override PartName="/ppt/tags/tag6.xml" ContentType="application/vnd.openxmlformats-officedocument.presentationml.tags+xml"/>
  <Override PartName="/ppt/media/image18.jpg" ContentType="image/jpeg"/>
  <Override PartName="/ppt/media/image24.jpg" ContentType="image/jpeg"/>
  <Override PartName="/ppt/tags/tag7.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notesMasterIdLst>
    <p:notesMasterId r:id="rId23"/>
  </p:notesMasterIdLst>
  <p:sldIdLst>
    <p:sldId id="277" r:id="rId2"/>
    <p:sldId id="257" r:id="rId3"/>
    <p:sldId id="275" r:id="rId4"/>
    <p:sldId id="270" r:id="rId5"/>
    <p:sldId id="276" r:id="rId6"/>
    <p:sldId id="258" r:id="rId7"/>
    <p:sldId id="259" r:id="rId8"/>
    <p:sldId id="272" r:id="rId9"/>
    <p:sldId id="260" r:id="rId10"/>
    <p:sldId id="261" r:id="rId11"/>
    <p:sldId id="262" r:id="rId12"/>
    <p:sldId id="271" r:id="rId13"/>
    <p:sldId id="273" r:id="rId14"/>
    <p:sldId id="263" r:id="rId15"/>
    <p:sldId id="265" r:id="rId16"/>
    <p:sldId id="266" r:id="rId17"/>
    <p:sldId id="267" r:id="rId18"/>
    <p:sldId id="274" r:id="rId19"/>
    <p:sldId id="268" r:id="rId20"/>
    <p:sldId id="269" r:id="rId21"/>
    <p:sldId id="31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4660"/>
  </p:normalViewPr>
  <p:slideViewPr>
    <p:cSldViewPr snapToGrid="0">
      <p:cViewPr varScale="1">
        <p:scale>
          <a:sx n="68" d="100"/>
          <a:sy n="68" d="100"/>
        </p:scale>
        <p:origin x="89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DEE575-8076-4F7B-9649-022C58C5AE7D}" type="datetimeFigureOut">
              <a:rPr lang="en-US" smtClean="0"/>
              <a:t>5/26/2024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2FFF155-8E1B-417A-A622-BAA3E085021C}" type="slidenum">
              <a:rPr lang="en-US" smtClean="0"/>
              <a:t>‹#›</a:t>
            </a:fld>
            <a:endParaRPr lang="en-US"/>
          </a:p>
        </p:txBody>
      </p:sp>
    </p:spTree>
    <p:extLst>
      <p:ext uri="{BB962C8B-B14F-4D97-AF65-F5344CB8AC3E}">
        <p14:creationId xmlns:p14="http://schemas.microsoft.com/office/powerpoint/2010/main" val="2421154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pPr/>
              <a:t>1</a:t>
            </a:fld>
            <a:endParaRPr lang="en-US"/>
          </a:p>
        </p:txBody>
      </p:sp>
    </p:spTree>
    <p:extLst>
      <p:ext uri="{BB962C8B-B14F-4D97-AF65-F5344CB8AC3E}">
        <p14:creationId xmlns:p14="http://schemas.microsoft.com/office/powerpoint/2010/main" val="65467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pPr/>
              <a:t>21</a:t>
            </a:fld>
            <a:endParaRPr lang="en-US"/>
          </a:p>
        </p:txBody>
      </p:sp>
    </p:spTree>
    <p:extLst>
      <p:ext uri="{BB962C8B-B14F-4D97-AF65-F5344CB8AC3E}">
        <p14:creationId xmlns:p14="http://schemas.microsoft.com/office/powerpoint/2010/main" val="1285260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8E9E-59C1-F3C2-2E0D-F1D1177419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C814BD-FAE3-8469-9464-1D48824011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F34DB1-7105-4391-A6DC-BD197A726B1E}"/>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5" name="Footer Placeholder 4">
            <a:extLst>
              <a:ext uri="{FF2B5EF4-FFF2-40B4-BE49-F238E27FC236}">
                <a16:creationId xmlns:a16="http://schemas.microsoft.com/office/drawing/2014/main" id="{6381270B-44FD-82AB-30C4-CCD7CE9AA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717DFD-D128-6F09-5BAF-661D93FE688C}"/>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672722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A5BB9-5A62-A042-1106-A5D3B18F10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B57FCF-7936-20A7-EF36-38879692B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77818E-6C24-DF38-E42D-A5BF2461BCF0}"/>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5" name="Footer Placeholder 4">
            <a:extLst>
              <a:ext uri="{FF2B5EF4-FFF2-40B4-BE49-F238E27FC236}">
                <a16:creationId xmlns:a16="http://schemas.microsoft.com/office/drawing/2014/main" id="{C96CEABE-ABB9-5993-55A7-96F811A0E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5CCC8B-B22A-8E7F-FEB9-0E2A6C748CB8}"/>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078834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BD043-98F0-AEDA-5AE9-3B152D9C7F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7006715-AF1A-2EEB-FC2B-E3901474FE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2056B5-B436-FB7E-2F6E-B760412FEA2F}"/>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5" name="Footer Placeholder 4">
            <a:extLst>
              <a:ext uri="{FF2B5EF4-FFF2-40B4-BE49-F238E27FC236}">
                <a16:creationId xmlns:a16="http://schemas.microsoft.com/office/drawing/2014/main" id="{6EB076D5-67C9-E424-991E-B3D37F454A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366A4-9431-0E9F-3EFC-1C463613F131}"/>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434867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E2793-20E7-C0AB-D7E0-068BFCD7C0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A355E9-222C-D8E2-9E00-73B00121FF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215AB-639E-5536-0104-FA23AFCBC3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3FF440-89F6-D0CE-3938-36EDAC235E5B}"/>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6" name="Footer Placeholder 5">
            <a:extLst>
              <a:ext uri="{FF2B5EF4-FFF2-40B4-BE49-F238E27FC236}">
                <a16:creationId xmlns:a16="http://schemas.microsoft.com/office/drawing/2014/main" id="{70509B37-7698-A413-CC3E-8C1AB2579E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CDA00-00F5-7BE9-46D8-04E90A6F9860}"/>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9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482D1-2D25-8F45-D44A-BB1F6482B1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03F9C4-FB63-0910-4A36-D35EC1A12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1A70CB-9F8D-651D-E13C-46D3FC9027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122987-121B-6F50-EA5C-C3037565A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E8264F-FCEC-CBB7-A6E6-A322F48370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B5B044-3215-371F-B2D7-E0C178C1310D}"/>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8" name="Footer Placeholder 7">
            <a:extLst>
              <a:ext uri="{FF2B5EF4-FFF2-40B4-BE49-F238E27FC236}">
                <a16:creationId xmlns:a16="http://schemas.microsoft.com/office/drawing/2014/main" id="{55BFE9F8-CCA8-EBF5-F505-C84FDE432C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C08195-4F50-94B0-1090-CF338198C496}"/>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8872575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B72F1-2806-D12B-FCCE-BCFD63D3F6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EADD76C-70F0-05F9-828E-62842B14D1D6}"/>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4" name="Footer Placeholder 3">
            <a:extLst>
              <a:ext uri="{FF2B5EF4-FFF2-40B4-BE49-F238E27FC236}">
                <a16:creationId xmlns:a16="http://schemas.microsoft.com/office/drawing/2014/main" id="{45219EDE-B949-28BF-3D1C-389D27BA75C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2D7C2D-9D3A-EFBE-CBC1-10646FCAC805}"/>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126130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1414A8-CC19-8F1E-AE59-D980CA11658B}"/>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3" name="Footer Placeholder 2">
            <a:extLst>
              <a:ext uri="{FF2B5EF4-FFF2-40B4-BE49-F238E27FC236}">
                <a16:creationId xmlns:a16="http://schemas.microsoft.com/office/drawing/2014/main" id="{EC8F70A4-DB41-F3E8-A9A3-402127AA43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B165CE-3CB5-D496-E354-B310DE9FAC22}"/>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680135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8816C-D443-ACF6-B333-05DF5C1FCC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D4C2A4-D09E-412F-1FFC-435EA08989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E40E4D-88B4-7575-F34A-9FD09EBDD9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0239E3-0279-3F12-2ECA-6911D04170CD}"/>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6" name="Footer Placeholder 5">
            <a:extLst>
              <a:ext uri="{FF2B5EF4-FFF2-40B4-BE49-F238E27FC236}">
                <a16:creationId xmlns:a16="http://schemas.microsoft.com/office/drawing/2014/main" id="{D94BFC79-F6F7-5E05-012E-4A46971305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2C8855-C06F-BD36-9B0B-B9E66C284EDA}"/>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225800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9EC1B-815C-A983-094D-34B7D1B068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E54FCAB-98F4-7FE4-3F97-684C212717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B31BBE-B604-F562-847B-E8FE0F241A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D3854-F644-02F5-660E-9DF97D02CF64}"/>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6" name="Footer Placeholder 5">
            <a:extLst>
              <a:ext uri="{FF2B5EF4-FFF2-40B4-BE49-F238E27FC236}">
                <a16:creationId xmlns:a16="http://schemas.microsoft.com/office/drawing/2014/main" id="{3FE56D45-11C5-3032-864F-A5FCC223AE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68834-07E8-771A-F87B-6AC6DA5C99CD}"/>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125371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C5184-77D8-735F-EF80-E58E373C34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837623-6509-EF5C-2884-5F5D7A22D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5AEC2F-EE7D-FBE6-D39B-25B7B0076C4E}"/>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5" name="Footer Placeholder 4">
            <a:extLst>
              <a:ext uri="{FF2B5EF4-FFF2-40B4-BE49-F238E27FC236}">
                <a16:creationId xmlns:a16="http://schemas.microsoft.com/office/drawing/2014/main" id="{5E6ED34C-7597-9F20-FB10-DDC6EF7A0D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4D1ABE-0765-B0A3-35AF-B1AEF1E8F615}"/>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109785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8D4A3A-52C0-C10B-9198-AAEC9569C9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296988-653A-B844-00E9-4187E4EE583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B39829-22F2-1C9C-BC3A-63388BA0CE52}"/>
              </a:ext>
            </a:extLst>
          </p:cNvPr>
          <p:cNvSpPr>
            <a:spLocks noGrp="1"/>
          </p:cNvSpPr>
          <p:nvPr>
            <p:ph type="dt" sz="half" idx="10"/>
          </p:nvPr>
        </p:nvSpPr>
        <p:spPr/>
        <p:txBody>
          <a:bodyPr/>
          <a:lstStyle/>
          <a:p>
            <a:fld id="{0CA699E7-B68E-4DA2-8660-A5F652D9838A}" type="datetimeFigureOut">
              <a:rPr lang="en-US" smtClean="0"/>
              <a:t>5/26/2024</a:t>
            </a:fld>
            <a:endParaRPr lang="en-US"/>
          </a:p>
        </p:txBody>
      </p:sp>
      <p:sp>
        <p:nvSpPr>
          <p:cNvPr id="5" name="Footer Placeholder 4">
            <a:extLst>
              <a:ext uri="{FF2B5EF4-FFF2-40B4-BE49-F238E27FC236}">
                <a16:creationId xmlns:a16="http://schemas.microsoft.com/office/drawing/2014/main" id="{D3DBD8CF-177B-292E-85F1-BD12E12E2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6C0B61-07D8-4EB8-83CA-537E679E4A01}"/>
              </a:ext>
            </a:extLst>
          </p:cNvPr>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352923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699E7-B68E-4DA2-8660-A5F652D9838A}" type="datetimeFigureOut">
              <a:rPr lang="en-US" smtClean="0"/>
              <a:t>5/26/2024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7B9B22-D26D-4A68-A862-0E9AF6644342}" type="slidenum">
              <a:rPr lang="en-US" smtClean="0"/>
              <a:t>‹#›</a:t>
            </a:fld>
            <a:endParaRPr lang="en-US"/>
          </a:p>
        </p:txBody>
      </p:sp>
    </p:spTree>
    <p:extLst>
      <p:ext uri="{BB962C8B-B14F-4D97-AF65-F5344CB8AC3E}">
        <p14:creationId xmlns:p14="http://schemas.microsoft.com/office/powerpoint/2010/main" val="3911995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DA5B7D-8CED-7A92-ACF0-76F8013DD4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8EBF7A-BB63-2637-46E2-FD25283EDE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5E96E2-9E32-B7BA-9BE4-4E31616FC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A699E7-B68E-4DA2-8660-A5F652D9838A}" type="datetimeFigureOut">
              <a:rPr lang="en-US" smtClean="0"/>
              <a:t>5/26/2024</a:t>
            </a:fld>
            <a:endParaRPr lang="en-US"/>
          </a:p>
        </p:txBody>
      </p:sp>
      <p:sp>
        <p:nvSpPr>
          <p:cNvPr id="5" name="Footer Placeholder 4">
            <a:extLst>
              <a:ext uri="{FF2B5EF4-FFF2-40B4-BE49-F238E27FC236}">
                <a16:creationId xmlns:a16="http://schemas.microsoft.com/office/drawing/2014/main" id="{AF60AEA4-7AF6-EFE8-B901-0D1DCCCFEB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5EAAC2B-5CFF-1674-4D76-082ADB11C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7B9B22-D26D-4A68-A862-0E9AF6644342}" type="slidenum">
              <a:rPr lang="en-US" smtClean="0"/>
              <a:t>‹#›</a:t>
            </a:fld>
            <a:endParaRPr lang="en-US"/>
          </a:p>
        </p:txBody>
      </p:sp>
    </p:spTree>
    <p:extLst>
      <p:ext uri="{BB962C8B-B14F-4D97-AF65-F5344CB8AC3E}">
        <p14:creationId xmlns:p14="http://schemas.microsoft.com/office/powerpoint/2010/main" val="269971448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2.png"/><Relationship Id="rId2" Type="http://schemas.microsoft.com/office/2007/relationships/media" Target="../media/media1.m4a"/><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2" Type="http://schemas.microsoft.com/office/2007/relationships/media" Target="../media/media3.m4a"/><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3.gif"/><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2" Type="http://schemas.microsoft.com/office/2007/relationships/media" Target="../media/media4.m4a"/><Relationship Id="rId1" Type="http://schemas.openxmlformats.org/officeDocument/2006/relationships/tags" Target="../tags/tag3.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2.png"/><Relationship Id="rId2" Type="http://schemas.microsoft.com/office/2007/relationships/media" Target="../media/media5.m4a"/><Relationship Id="rId1" Type="http://schemas.openxmlformats.org/officeDocument/2006/relationships/tags" Target="../tags/tag4.xml"/><Relationship Id="rId6" Type="http://schemas.openxmlformats.org/officeDocument/2006/relationships/image" Target="../media/image5.gif"/><Relationship Id="rId5" Type="http://schemas.openxmlformats.org/officeDocument/2006/relationships/image" Target="../media/image4.png"/><Relationship Id="rId4"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9.jpg"/><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4a"/><Relationship Id="rId1" Type="http://schemas.microsoft.com/office/2007/relationships/media" Target="../media/media8.m4a"/><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2.png"/><Relationship Id="rId5" Type="http://schemas.openxmlformats.org/officeDocument/2006/relationships/image" Target="../media/image10.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audio" Target="../media/media11.m4a"/><Relationship Id="rId7" Type="http://schemas.openxmlformats.org/officeDocument/2006/relationships/image" Target="../media/image2.png"/><Relationship Id="rId2" Type="http://schemas.microsoft.com/office/2007/relationships/media" Target="../media/media11.m4a"/><Relationship Id="rId1" Type="http://schemas.openxmlformats.org/officeDocument/2006/relationships/tags" Target="../tags/tag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audio" Target="../media/media12.m4a"/><Relationship Id="rId7" Type="http://schemas.openxmlformats.org/officeDocument/2006/relationships/image" Target="../media/image2.png"/><Relationship Id="rId2" Type="http://schemas.microsoft.com/office/2007/relationships/media" Target="../media/media12.m4a"/><Relationship Id="rId1" Type="http://schemas.openxmlformats.org/officeDocument/2006/relationships/tags" Target="../tags/tag6.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4a"/><Relationship Id="rId1" Type="http://schemas.microsoft.com/office/2007/relationships/media" Target="../media/media13.m4a"/><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2.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2.png"/><Relationship Id="rId5" Type="http://schemas.openxmlformats.org/officeDocument/2006/relationships/image" Target="../media/image18.jp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16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2.png"/><Relationship Id="rId5" Type="http://schemas.openxmlformats.org/officeDocument/2006/relationships/image" Target="../media/image22.gif"/><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2.png"/><Relationship Id="rId4" Type="http://schemas.openxmlformats.org/officeDocument/2006/relationships/image" Target="../media/image23.gif"/></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4a"/><Relationship Id="rId1" Type="http://schemas.microsoft.com/office/2007/relationships/media" Target="../media/media20.m4a"/><Relationship Id="rId5" Type="http://schemas.openxmlformats.org/officeDocument/2006/relationships/image" Target="../media/image2.pn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audio" Target="../media/media21.m4a"/><Relationship Id="rId7" Type="http://schemas.openxmlformats.org/officeDocument/2006/relationships/image" Target="../media/image2.png"/><Relationship Id="rId2" Type="http://schemas.microsoft.com/office/2007/relationships/media" Target="../media/media21.m4a"/><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1730095"/>
            <a:ext cx="10515600" cy="2387600"/>
          </a:xfrm>
        </p:spPr>
        <p:txBody>
          <a:bodyPr/>
          <a:lstStyle/>
          <a:p>
            <a:r>
              <a:rPr lang="en-US" b="1" dirty="0"/>
              <a:t>Physics (PHY 102) </a:t>
            </a:r>
            <a:r>
              <a:rPr lang="en-US" sz="3600" b="1" dirty="0"/>
              <a:t>Mechanics</a:t>
            </a:r>
            <a:endParaRPr lang="en-US" b="1" dirty="0">
              <a:solidFill>
                <a:schemeClr val="accent4"/>
              </a:solidFill>
            </a:endParaRPr>
          </a:p>
        </p:txBody>
      </p:sp>
      <p:sp>
        <p:nvSpPr>
          <p:cNvPr id="3" name="Subtitle 2"/>
          <p:cNvSpPr>
            <a:spLocks noGrp="1"/>
          </p:cNvSpPr>
          <p:nvPr>
            <p:ph type="subTitle" idx="1"/>
          </p:nvPr>
        </p:nvSpPr>
        <p:spPr>
          <a:xfrm>
            <a:off x="317227" y="5127905"/>
            <a:ext cx="3989292" cy="1137793"/>
          </a:xfrm>
        </p:spPr>
        <p:txBody>
          <a:bodyPr>
            <a:normAutofit fontScale="92500" lnSpcReduction="20000"/>
          </a:bodyPr>
          <a:lstStyle/>
          <a:p>
            <a:r>
              <a:rPr lang="en-US" sz="1800" b="1" dirty="0"/>
              <a:t>Farjana </a:t>
            </a:r>
            <a:r>
              <a:rPr lang="en-US" sz="1800" b="1" dirty="0" err="1"/>
              <a:t>Yeasmin</a:t>
            </a:r>
            <a:endParaRPr lang="en-US" sz="1800" b="1" dirty="0"/>
          </a:p>
          <a:p>
            <a:r>
              <a:rPr lang="en-US" sz="1800" b="1" dirty="0"/>
              <a:t>Lecturer in Physics, Basic Science Division</a:t>
            </a:r>
          </a:p>
          <a:p>
            <a:r>
              <a:rPr lang="en-US" sz="1800" b="1" dirty="0"/>
              <a:t>World University of Bangladesh, Dhaka-1205</a:t>
            </a:r>
          </a:p>
        </p:txBody>
      </p:sp>
      <p:pic>
        <p:nvPicPr>
          <p:cNvPr id="4"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pic>
        <p:nvPicPr>
          <p:cNvPr id="5" name="Audio 4">
            <a:hlinkClick r:id="" action="ppaction://media"/>
            <a:extLst>
              <a:ext uri="{FF2B5EF4-FFF2-40B4-BE49-F238E27FC236}">
                <a16:creationId xmlns:a16="http://schemas.microsoft.com/office/drawing/2014/main" id="{D4766431-6926-69D9-8010-8F72BF8ACCDD}"/>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183778852"/>
      </p:ext>
    </p:extLst>
  </p:cSld>
  <p:clrMapOvr>
    <a:masterClrMapping/>
  </p:clrMapOvr>
  <mc:AlternateContent xmlns:mc="http://schemas.openxmlformats.org/markup-compatibility/2006">
    <mc:Choice xmlns:p14="http://schemas.microsoft.com/office/powerpoint/2010/main" Requires="p14">
      <p:transition spd="slow" p14:dur="2000" advTm="7820"/>
    </mc:Choice>
    <mc:Fallback>
      <p:transition spd="slow" advTm="7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8D0E6B5-D9B1-6701-2A95-1D597E3A6D6D}"/>
              </a:ext>
            </a:extLst>
          </p:cNvPr>
          <p:cNvSpPr/>
          <p:nvPr/>
        </p:nvSpPr>
        <p:spPr>
          <a:xfrm>
            <a:off x="357808" y="251791"/>
            <a:ext cx="11834191" cy="6042992"/>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solidFill>
                  <a:srgbClr val="FF0000"/>
                </a:solidFill>
                <a:latin typeface="Comic Sans MS" panose="030F0702030302020204" pitchFamily="66" charset="0"/>
              </a:rPr>
              <a:t>Mechanics</a:t>
            </a:r>
          </a:p>
          <a:p>
            <a:pPr algn="ctr"/>
            <a:r>
              <a:rPr lang="en-US" sz="2000" b="1" i="0" dirty="0">
                <a:solidFill>
                  <a:srgbClr val="202124"/>
                </a:solidFill>
                <a:effectLst/>
                <a:latin typeface="Comic Sans MS" panose="030F0702030302020204" pitchFamily="66" charset="0"/>
              </a:rPr>
              <a:t>Mechanics</a:t>
            </a:r>
            <a:r>
              <a:rPr lang="en-US" sz="2000" b="0" i="0" dirty="0">
                <a:solidFill>
                  <a:srgbClr val="202124"/>
                </a:solidFill>
                <a:effectLst/>
                <a:latin typeface="Comic Sans MS" panose="030F0702030302020204" pitchFamily="66" charset="0"/>
              </a:rPr>
              <a:t> is </a:t>
            </a:r>
            <a:r>
              <a:rPr lang="en-US" sz="2000" b="1" i="0" dirty="0">
                <a:solidFill>
                  <a:srgbClr val="202124"/>
                </a:solidFill>
                <a:effectLst/>
                <a:latin typeface="Comic Sans MS" panose="030F0702030302020204" pitchFamily="66" charset="0"/>
              </a:rPr>
              <a:t>the branch of Physics dealing with the study of motion when subjected to forces or displacements, and the subsequent effects of the bodies on their environment</a:t>
            </a:r>
            <a:r>
              <a:rPr lang="en-US" sz="2000" b="0" i="0" dirty="0">
                <a:solidFill>
                  <a:srgbClr val="202124"/>
                </a:solidFill>
                <a:effectLst/>
                <a:latin typeface="Comic Sans MS" panose="030F0702030302020204" pitchFamily="66" charset="0"/>
              </a:rPr>
              <a:t>. </a:t>
            </a:r>
          </a:p>
          <a:p>
            <a:pPr algn="ctr"/>
            <a:endParaRPr lang="en-US" sz="2000" dirty="0">
              <a:solidFill>
                <a:srgbClr val="202124"/>
              </a:solidFill>
              <a:latin typeface="Comic Sans MS" panose="030F0702030302020204" pitchFamily="66" charset="0"/>
            </a:endParaRPr>
          </a:p>
          <a:p>
            <a:pPr algn="ctr"/>
            <a:r>
              <a:rPr lang="en-US" sz="2800" dirty="0">
                <a:solidFill>
                  <a:srgbClr val="FF0000"/>
                </a:solidFill>
                <a:latin typeface="Comic Sans MS" panose="030F0702030302020204" pitchFamily="66" charset="0"/>
              </a:rPr>
              <a:t>Motion</a:t>
            </a:r>
          </a:p>
          <a:p>
            <a:pPr algn="ctr"/>
            <a:r>
              <a:rPr lang="en-US" sz="2000" b="1" dirty="0">
                <a:solidFill>
                  <a:srgbClr val="202124"/>
                </a:solidFill>
                <a:latin typeface="Comic Sans MS" panose="030F0702030302020204" pitchFamily="66" charset="0"/>
              </a:rPr>
              <a:t>In physics, motion is the change in the position of an object with respect to its surroundings in a given interval of time. The motion of an object with some mass can be described in terms of the following:</a:t>
            </a:r>
          </a:p>
          <a:p>
            <a:pPr algn="ctr">
              <a:buFont typeface="Arial" panose="020B0604020202020204" pitchFamily="34" charset="0"/>
              <a:buChar char="•"/>
            </a:pPr>
            <a:r>
              <a:rPr lang="en-US" sz="2000" b="1" dirty="0">
                <a:solidFill>
                  <a:srgbClr val="202124"/>
                </a:solidFill>
                <a:latin typeface="Comic Sans MS" panose="030F0702030302020204" pitchFamily="66" charset="0"/>
              </a:rPr>
              <a:t>Distance</a:t>
            </a:r>
          </a:p>
          <a:p>
            <a:pPr algn="ctr">
              <a:buFont typeface="Arial" panose="020B0604020202020204" pitchFamily="34" charset="0"/>
              <a:buChar char="•"/>
            </a:pPr>
            <a:r>
              <a:rPr lang="en-US" sz="2000" b="1" dirty="0">
                <a:solidFill>
                  <a:srgbClr val="202124"/>
                </a:solidFill>
                <a:latin typeface="Comic Sans MS" panose="030F0702030302020204" pitchFamily="66" charset="0"/>
              </a:rPr>
              <a:t>Displacement</a:t>
            </a:r>
          </a:p>
          <a:p>
            <a:pPr algn="ctr">
              <a:buFont typeface="Arial" panose="020B0604020202020204" pitchFamily="34" charset="0"/>
              <a:buChar char="•"/>
            </a:pPr>
            <a:r>
              <a:rPr lang="en-US" sz="2000" b="1" dirty="0">
                <a:solidFill>
                  <a:srgbClr val="202124"/>
                </a:solidFill>
                <a:latin typeface="Comic Sans MS" panose="030F0702030302020204" pitchFamily="66" charset="0"/>
              </a:rPr>
              <a:t>Speed</a:t>
            </a:r>
          </a:p>
          <a:p>
            <a:pPr algn="ctr">
              <a:buFont typeface="Arial" panose="020B0604020202020204" pitchFamily="34" charset="0"/>
              <a:buChar char="•"/>
            </a:pPr>
            <a:r>
              <a:rPr lang="en-US" sz="2000" b="1" dirty="0">
                <a:solidFill>
                  <a:srgbClr val="202124"/>
                </a:solidFill>
                <a:latin typeface="Comic Sans MS" panose="030F0702030302020204" pitchFamily="66" charset="0"/>
              </a:rPr>
              <a:t>Velocity</a:t>
            </a:r>
          </a:p>
          <a:p>
            <a:pPr algn="ctr">
              <a:buFont typeface="Arial" panose="020B0604020202020204" pitchFamily="34" charset="0"/>
              <a:buChar char="•"/>
            </a:pPr>
            <a:r>
              <a:rPr lang="en-US" sz="2000" b="1" dirty="0">
                <a:solidFill>
                  <a:srgbClr val="202124"/>
                </a:solidFill>
                <a:latin typeface="Comic Sans MS" panose="030F0702030302020204" pitchFamily="66" charset="0"/>
              </a:rPr>
              <a:t>Time</a:t>
            </a:r>
          </a:p>
          <a:p>
            <a:pPr algn="ctr">
              <a:buFont typeface="Arial" panose="020B0604020202020204" pitchFamily="34" charset="0"/>
              <a:buChar char="•"/>
            </a:pPr>
            <a:r>
              <a:rPr lang="en-US" sz="2000" b="1" dirty="0">
                <a:solidFill>
                  <a:srgbClr val="202124"/>
                </a:solidFill>
                <a:latin typeface="Comic Sans MS" panose="030F0702030302020204" pitchFamily="66" charset="0"/>
              </a:rPr>
              <a:t>Acceleration</a:t>
            </a:r>
          </a:p>
          <a:p>
            <a:pPr algn="ctr"/>
            <a:endParaRPr lang="en-US" sz="2800" dirty="0">
              <a:solidFill>
                <a:srgbClr val="FF0000"/>
              </a:solidFill>
              <a:latin typeface="Comic Sans MS" panose="030F0702030302020204" pitchFamily="66" charset="0"/>
            </a:endParaRPr>
          </a:p>
        </p:txBody>
      </p:sp>
      <p:pic>
        <p:nvPicPr>
          <p:cNvPr id="2" name="Audio 1">
            <a:hlinkClick r:id="" action="ppaction://media"/>
            <a:extLst>
              <a:ext uri="{FF2B5EF4-FFF2-40B4-BE49-F238E27FC236}">
                <a16:creationId xmlns:a16="http://schemas.microsoft.com/office/drawing/2014/main" id="{7D525EF6-037A-1495-59FB-ECDFA9002C08}"/>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629200431"/>
      </p:ext>
    </p:extLst>
  </p:cSld>
  <p:clrMapOvr>
    <a:masterClrMapping/>
  </p:clrMapOvr>
  <mc:AlternateContent xmlns:mc="http://schemas.openxmlformats.org/markup-compatibility/2006">
    <mc:Choice xmlns:p14="http://schemas.microsoft.com/office/powerpoint/2010/main" Requires="p14">
      <p:transition spd="slow" p14:dur="2000" advTm="45240"/>
    </mc:Choice>
    <mc:Fallback>
      <p:transition spd="slow" advTm="45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4881C5-8B89-E720-E1EB-5FFF5EA67AD9}"/>
              </a:ext>
            </a:extLst>
          </p:cNvPr>
          <p:cNvSpPr txBox="1">
            <a:spLocks/>
          </p:cNvSpPr>
          <p:nvPr/>
        </p:nvSpPr>
        <p:spPr>
          <a:xfrm>
            <a:off x="115037" y="381019"/>
            <a:ext cx="10749367" cy="1208868"/>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sz="4000" b="1" dirty="0">
                <a:solidFill>
                  <a:schemeClr val="dk1"/>
                </a:solidFill>
                <a:latin typeface="Comic Sans MS" panose="030F0702030302020204" pitchFamily="66" charset="0"/>
                <a:ea typeface="+mn-ea"/>
                <a:cs typeface="+mn-cs"/>
              </a:rPr>
              <a:t>Newton’s laws of motion</a:t>
            </a:r>
          </a:p>
        </p:txBody>
      </p:sp>
      <p:sp>
        <p:nvSpPr>
          <p:cNvPr id="5" name="TextBox 4">
            <a:extLst>
              <a:ext uri="{FF2B5EF4-FFF2-40B4-BE49-F238E27FC236}">
                <a16:creationId xmlns:a16="http://schemas.microsoft.com/office/drawing/2014/main" id="{4A38575C-8F07-12ED-8575-DCBF91286BC2}"/>
              </a:ext>
            </a:extLst>
          </p:cNvPr>
          <p:cNvSpPr txBox="1"/>
          <p:nvPr/>
        </p:nvSpPr>
        <p:spPr>
          <a:xfrm>
            <a:off x="347729" y="1615104"/>
            <a:ext cx="11446705" cy="1138773"/>
          </a:xfrm>
          <a:prstGeom prst="rect">
            <a:avLst/>
          </a:prstGeom>
          <a:noFill/>
        </p:spPr>
        <p:txBody>
          <a:bodyPr wrap="square">
            <a:spAutoFit/>
          </a:bodyPr>
          <a:lstStyle/>
          <a:p>
            <a:pPr algn="just"/>
            <a:r>
              <a:rPr lang="en-US" sz="2800" b="1" dirty="0">
                <a:solidFill>
                  <a:srgbClr val="00B050"/>
                </a:solidFill>
                <a:latin typeface="Comic Sans MS" panose="030F0702030302020204" pitchFamily="66" charset="0"/>
              </a:rPr>
              <a:t>1st Law:</a:t>
            </a:r>
            <a:r>
              <a:rPr lang="en-US" b="1" dirty="0">
                <a:solidFill>
                  <a:schemeClr val="dk1"/>
                </a:solidFill>
                <a:latin typeface="Comic Sans MS" panose="030F0702030302020204" pitchFamily="66" charset="0"/>
              </a:rPr>
              <a:t> </a:t>
            </a:r>
            <a:r>
              <a:rPr lang="en-US" sz="2000" b="1" dirty="0">
                <a:solidFill>
                  <a:schemeClr val="dk1"/>
                </a:solidFill>
                <a:latin typeface="Comic Sans MS" panose="030F0702030302020204" pitchFamily="66" charset="0"/>
              </a:rPr>
              <a:t> Every object will remain at rest or in uniform motion in a straight line unless compelled to change its state by the action of an external force.</a:t>
            </a:r>
          </a:p>
          <a:p>
            <a:pPr algn="just"/>
            <a:r>
              <a:rPr lang="en-US" sz="2000" b="1" dirty="0">
                <a:solidFill>
                  <a:schemeClr val="dk1"/>
                </a:solidFill>
                <a:latin typeface="Comic Sans MS" panose="030F0702030302020204" pitchFamily="66" charset="0"/>
              </a:rPr>
              <a:t>1</a:t>
            </a:r>
            <a:r>
              <a:rPr lang="en-US" sz="2000" b="1" baseline="30000" dirty="0">
                <a:solidFill>
                  <a:schemeClr val="dk1"/>
                </a:solidFill>
                <a:latin typeface="Comic Sans MS" panose="030F0702030302020204" pitchFamily="66" charset="0"/>
              </a:rPr>
              <a:t>st</a:t>
            </a:r>
            <a:r>
              <a:rPr lang="en-US" sz="2000" b="1" dirty="0">
                <a:solidFill>
                  <a:schemeClr val="dk1"/>
                </a:solidFill>
                <a:latin typeface="Comic Sans MS" panose="030F0702030302020204" pitchFamily="66" charset="0"/>
              </a:rPr>
              <a:t> Law gives us the idea of inertia. </a:t>
            </a:r>
            <a:endParaRPr lang="en-US" sz="1400" b="1" dirty="0">
              <a:solidFill>
                <a:schemeClr val="dk1"/>
              </a:solidFill>
              <a:latin typeface="Comic Sans MS" panose="030F0702030302020204" pitchFamily="66" charset="0"/>
            </a:endParaRPr>
          </a:p>
        </p:txBody>
      </p:sp>
      <p:pic>
        <p:nvPicPr>
          <p:cNvPr id="6" name="Picture 2" descr="Picture">
            <a:extLst>
              <a:ext uri="{FF2B5EF4-FFF2-40B4-BE49-F238E27FC236}">
                <a16:creationId xmlns:a16="http://schemas.microsoft.com/office/drawing/2014/main" id="{D7912AAD-716B-60E5-00FA-19EDD12EA52B}"/>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2827999" y="3543170"/>
            <a:ext cx="5507619" cy="1542133"/>
          </a:xfrm>
          <a:prstGeom prst="rect">
            <a:avLst/>
          </a:prstGeom>
          <a:noFill/>
          <a:extLst>
            <a:ext uri="{909E8E84-426E-40DD-AFC4-6F175D3DCCD1}">
              <a14:hiddenFill xmlns:a14="http://schemas.microsoft.com/office/drawing/2010/main">
                <a:solidFill>
                  <a:srgbClr val="FFFFFF"/>
                </a:solidFill>
              </a14:hiddenFill>
            </a:ext>
          </a:extLst>
        </p:spPr>
      </p:pic>
      <p:pic>
        <p:nvPicPr>
          <p:cNvPr id="2" name="Audio 1">
            <a:hlinkClick r:id="" action="ppaction://media"/>
            <a:extLst>
              <a:ext uri="{FF2B5EF4-FFF2-40B4-BE49-F238E27FC236}">
                <a16:creationId xmlns:a16="http://schemas.microsoft.com/office/drawing/2014/main" id="{A99B552F-DC55-D095-CAEB-C97F7E9182B6}"/>
              </a:ext>
            </a:extLst>
          </p:cNvPr>
          <p:cNvPicPr>
            <a:picLocks noChangeAspect="1"/>
          </p:cNvPicPr>
          <p:nvPr>
            <a:audioFile r:link="rId3"/>
            <p:extLst>
              <p:ext uri="{DAA4B4D4-6D71-4841-9C94-3DE7FCFB9230}">
                <p14:media xmlns:p14="http://schemas.microsoft.com/office/powerpoint/2010/main" r:embed="rId2"/>
              </p:ext>
            </p:extLst>
          </p:nvPr>
        </p:nvPicPr>
        <p:blipFill>
          <a:blip r:embed="rId6"/>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362024456"/>
      </p:ext>
    </p:extLst>
  </p:cSld>
  <p:clrMapOvr>
    <a:masterClrMapping/>
  </p:clrMapOvr>
  <mc:AlternateContent xmlns:mc="http://schemas.openxmlformats.org/markup-compatibility/2006">
    <mc:Choice xmlns:p14="http://schemas.microsoft.com/office/powerpoint/2010/main" Requires="p14">
      <p:transition spd="slow" p14:dur="2000" advTm="32370"/>
    </mc:Choice>
    <mc:Fallback>
      <p:transition spd="slow" advTm="32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2"/>
                </p:tgtEl>
              </p:cMediaNode>
            </p:audio>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4881C5-8B89-E720-E1EB-5FFF5EA67AD9}"/>
              </a:ext>
            </a:extLst>
          </p:cNvPr>
          <p:cNvSpPr txBox="1">
            <a:spLocks/>
          </p:cNvSpPr>
          <p:nvPr/>
        </p:nvSpPr>
        <p:spPr>
          <a:xfrm>
            <a:off x="115037" y="381019"/>
            <a:ext cx="10749367" cy="1208868"/>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sz="4000" b="1" dirty="0">
                <a:solidFill>
                  <a:schemeClr val="dk1"/>
                </a:solidFill>
                <a:latin typeface="Comic Sans MS" panose="030F0702030302020204" pitchFamily="66" charset="0"/>
                <a:ea typeface="+mn-ea"/>
                <a:cs typeface="+mn-cs"/>
              </a:rPr>
              <a:t>Newton’s laws of motion</a:t>
            </a:r>
          </a:p>
        </p:txBody>
      </p:sp>
      <p:sp>
        <p:nvSpPr>
          <p:cNvPr id="7" name="TextBox 6">
            <a:extLst>
              <a:ext uri="{FF2B5EF4-FFF2-40B4-BE49-F238E27FC236}">
                <a16:creationId xmlns:a16="http://schemas.microsoft.com/office/drawing/2014/main" id="{FEA1C295-1A86-16CD-9210-22FAFAC2D61A}"/>
              </a:ext>
            </a:extLst>
          </p:cNvPr>
          <p:cNvSpPr txBox="1"/>
          <p:nvPr/>
        </p:nvSpPr>
        <p:spPr>
          <a:xfrm>
            <a:off x="387485" y="1803113"/>
            <a:ext cx="10749367" cy="1692771"/>
          </a:xfrm>
          <a:prstGeom prst="rect">
            <a:avLst/>
          </a:prstGeom>
          <a:noFill/>
        </p:spPr>
        <p:txBody>
          <a:bodyPr wrap="square">
            <a:spAutoFit/>
          </a:bodyPr>
          <a:lstStyle/>
          <a:p>
            <a:pPr algn="just"/>
            <a:r>
              <a:rPr lang="en-US" sz="3200" b="1" dirty="0">
                <a:solidFill>
                  <a:srgbClr val="00B050"/>
                </a:solidFill>
                <a:latin typeface="Comic Sans MS" panose="030F0702030302020204" pitchFamily="66" charset="0"/>
              </a:rPr>
              <a:t>2</a:t>
            </a:r>
            <a:r>
              <a:rPr lang="en-US" sz="3200" b="1" baseline="30000" dirty="0">
                <a:solidFill>
                  <a:srgbClr val="00B050"/>
                </a:solidFill>
                <a:latin typeface="Comic Sans MS" panose="030F0702030302020204" pitchFamily="66" charset="0"/>
              </a:rPr>
              <a:t>nd</a:t>
            </a:r>
            <a:r>
              <a:rPr lang="en-US" sz="3200" b="1" dirty="0">
                <a:solidFill>
                  <a:srgbClr val="00B050"/>
                </a:solidFill>
                <a:latin typeface="Comic Sans MS" panose="030F0702030302020204" pitchFamily="66" charset="0"/>
              </a:rPr>
              <a:t> Law: </a:t>
            </a:r>
            <a:r>
              <a:rPr lang="en-US" sz="2400" b="1" dirty="0">
                <a:solidFill>
                  <a:schemeClr val="dk1"/>
                </a:solidFill>
                <a:latin typeface="Comic Sans MS" panose="030F0702030302020204" pitchFamily="66" charset="0"/>
              </a:rPr>
              <a:t>Newton's Second Law of Motion states that the rate of change of linear momentum of a body is directly proportional to the external force applied or F = ma, or net force is equal to mass times acceleration.</a:t>
            </a:r>
            <a:endParaRPr lang="en-US" b="1" dirty="0">
              <a:solidFill>
                <a:schemeClr val="dk1"/>
              </a:solidFill>
              <a:latin typeface="Comic Sans MS" panose="030F0702030302020204" pitchFamily="66" charset="0"/>
            </a:endParaRPr>
          </a:p>
        </p:txBody>
      </p:sp>
      <p:pic>
        <p:nvPicPr>
          <p:cNvPr id="8" name="Picture 4">
            <a:extLst>
              <a:ext uri="{FF2B5EF4-FFF2-40B4-BE49-F238E27FC236}">
                <a16:creationId xmlns:a16="http://schemas.microsoft.com/office/drawing/2014/main" id="{64498107-622D-BE6C-E3DB-C8C713D55351}"/>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3953745" y="3429000"/>
            <a:ext cx="3798957" cy="2136913"/>
          </a:xfrm>
          <a:prstGeom prst="rect">
            <a:avLst/>
          </a:prstGeom>
          <a:noFill/>
          <a:extLst>
            <a:ext uri="{909E8E84-426E-40DD-AFC4-6F175D3DCCD1}">
              <a14:hiddenFill xmlns:a14="http://schemas.microsoft.com/office/drawing/2010/main">
                <a:solidFill>
                  <a:srgbClr val="FFFFFF"/>
                </a:solidFill>
              </a14:hiddenFill>
            </a:ext>
          </a:extLst>
        </p:spPr>
      </p:pic>
      <p:pic>
        <p:nvPicPr>
          <p:cNvPr id="2" name="Audio 1">
            <a:hlinkClick r:id="" action="ppaction://media"/>
            <a:extLst>
              <a:ext uri="{FF2B5EF4-FFF2-40B4-BE49-F238E27FC236}">
                <a16:creationId xmlns:a16="http://schemas.microsoft.com/office/drawing/2014/main" id="{27CD0689-B1B5-03D0-CEEA-44D9B850F9A7}"/>
              </a:ext>
            </a:extLst>
          </p:cNvPr>
          <p:cNvPicPr>
            <a:picLocks noChangeAspect="1"/>
          </p:cNvPicPr>
          <p:nvPr>
            <a:audioFile r:link="rId3"/>
            <p:extLst>
              <p:ext uri="{DAA4B4D4-6D71-4841-9C94-3DE7FCFB9230}">
                <p14:media xmlns:p14="http://schemas.microsoft.com/office/powerpoint/2010/main" r:embed="rId2"/>
              </p:ext>
            </p:extLst>
          </p:nvPr>
        </p:nvPicPr>
        <p:blipFill>
          <a:blip r:embed="rId6"/>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310173718"/>
      </p:ext>
    </p:extLst>
  </p:cSld>
  <p:clrMapOvr>
    <a:masterClrMapping/>
  </p:clrMapOvr>
  <mc:AlternateContent xmlns:mc="http://schemas.openxmlformats.org/markup-compatibility/2006">
    <mc:Choice xmlns:p14="http://schemas.microsoft.com/office/powerpoint/2010/main" Requires="p14">
      <p:transition spd="slow" p14:dur="2000" advTm="17805"/>
    </mc:Choice>
    <mc:Fallback>
      <p:transition spd="slow" advTm="178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2"/>
                </p:tgtEl>
              </p:cMediaNode>
            </p:audio>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F4881C5-8B89-E720-E1EB-5FFF5EA67AD9}"/>
              </a:ext>
            </a:extLst>
          </p:cNvPr>
          <p:cNvSpPr txBox="1">
            <a:spLocks/>
          </p:cNvSpPr>
          <p:nvPr/>
        </p:nvSpPr>
        <p:spPr>
          <a:xfrm>
            <a:off x="115037" y="381019"/>
            <a:ext cx="10749367" cy="1208868"/>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sz="4000" b="1" dirty="0">
                <a:solidFill>
                  <a:schemeClr val="dk1"/>
                </a:solidFill>
                <a:latin typeface="Comic Sans MS" panose="030F0702030302020204" pitchFamily="66" charset="0"/>
                <a:ea typeface="+mn-ea"/>
                <a:cs typeface="+mn-cs"/>
              </a:rPr>
              <a:t>Newton’s laws of motion</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80AEBFA-F60E-578A-38EA-7F66D57E15DE}"/>
                  </a:ext>
                </a:extLst>
              </p:cNvPr>
              <p:cNvSpPr txBox="1"/>
              <p:nvPr/>
            </p:nvSpPr>
            <p:spPr>
              <a:xfrm>
                <a:off x="559764" y="1792049"/>
                <a:ext cx="10749367" cy="1323439"/>
              </a:xfrm>
              <a:prstGeom prst="rect">
                <a:avLst/>
              </a:prstGeom>
              <a:noFill/>
            </p:spPr>
            <p:txBody>
              <a:bodyPr wrap="square">
                <a:spAutoFit/>
              </a:bodyPr>
              <a:lstStyle/>
              <a:p>
                <a:pPr algn="just"/>
                <a:r>
                  <a:rPr lang="en-US" sz="3200" b="1" dirty="0">
                    <a:solidFill>
                      <a:srgbClr val="00B050"/>
                    </a:solidFill>
                    <a:latin typeface="Comic Sans MS" panose="030F0702030302020204" pitchFamily="66" charset="0"/>
                  </a:rPr>
                  <a:t>3</a:t>
                </a:r>
                <a:r>
                  <a:rPr lang="en-US" sz="3200" b="1" baseline="30000" dirty="0">
                    <a:solidFill>
                      <a:srgbClr val="00B050"/>
                    </a:solidFill>
                    <a:latin typeface="Comic Sans MS" panose="030F0702030302020204" pitchFamily="66" charset="0"/>
                  </a:rPr>
                  <a:t>rd</a:t>
                </a:r>
                <a:r>
                  <a:rPr lang="en-US" sz="3200" b="1" dirty="0">
                    <a:solidFill>
                      <a:srgbClr val="00B050"/>
                    </a:solidFill>
                    <a:latin typeface="Comic Sans MS" panose="030F0702030302020204" pitchFamily="66" charset="0"/>
                  </a:rPr>
                  <a:t> Law: </a:t>
                </a:r>
                <a:r>
                  <a:rPr lang="en-US" sz="2400" b="1" dirty="0">
                    <a:solidFill>
                      <a:schemeClr val="dk1"/>
                    </a:solidFill>
                    <a:latin typeface="Comic Sans MS" panose="030F0702030302020204" pitchFamily="66" charset="0"/>
                  </a:rPr>
                  <a:t>For every action, there is an equal and opposite reaction.</a:t>
                </a:r>
              </a:p>
              <a:p>
                <a:pPr algn="just"/>
                <a:endParaRPr lang="en-US" sz="2400" b="1" dirty="0">
                  <a:solidFill>
                    <a:schemeClr val="dk1"/>
                  </a:solidFill>
                  <a:latin typeface="Comic Sans MS" panose="030F0702030302020204" pitchFamily="66" charset="0"/>
                </a:endParaRPr>
              </a:p>
              <a:p>
                <a:pPr algn="just"/>
                <a:r>
                  <a:rPr lang="en-US" sz="2400" b="1" dirty="0">
                    <a:solidFill>
                      <a:schemeClr val="dk1"/>
                    </a:solidFill>
                    <a:latin typeface="Comic Sans MS" panose="030F0702030302020204" pitchFamily="66" charset="0"/>
                  </a:rPr>
                  <a:t>Or we can say </a:t>
                </a:r>
                <a14:m>
                  <m:oMath xmlns:m="http://schemas.openxmlformats.org/officeDocument/2006/math">
                    <m:sSub>
                      <m:sSubPr>
                        <m:ctrlPr>
                          <a:rPr lang="en-US" sz="2400" b="1" i="1" smtClean="0">
                            <a:solidFill>
                              <a:schemeClr val="dk1"/>
                            </a:solidFill>
                            <a:latin typeface="Cambria Math" panose="02040503050406030204" pitchFamily="18" charset="0"/>
                          </a:rPr>
                        </m:ctrlPr>
                      </m:sSubPr>
                      <m:e>
                        <m:r>
                          <a:rPr lang="en-US" sz="2400" b="1" i="1" smtClean="0">
                            <a:solidFill>
                              <a:schemeClr val="dk1"/>
                            </a:solidFill>
                            <a:latin typeface="Cambria Math" panose="02040503050406030204" pitchFamily="18" charset="0"/>
                          </a:rPr>
                          <m:t>𝑭</m:t>
                        </m:r>
                      </m:e>
                      <m:sub>
                        <m:r>
                          <a:rPr lang="en-US" sz="2400" b="1" i="1" smtClean="0">
                            <a:solidFill>
                              <a:schemeClr val="dk1"/>
                            </a:solidFill>
                            <a:latin typeface="Cambria Math" panose="02040503050406030204" pitchFamily="18" charset="0"/>
                          </a:rPr>
                          <m:t>𝟏</m:t>
                        </m:r>
                      </m:sub>
                    </m:sSub>
                    <m:r>
                      <a:rPr lang="en-US" sz="2400" b="1" i="1" smtClean="0">
                        <a:solidFill>
                          <a:schemeClr val="dk1"/>
                        </a:solidFill>
                        <a:latin typeface="Cambria Math" panose="02040503050406030204" pitchFamily="18" charset="0"/>
                      </a:rPr>
                      <m:t>=−</m:t>
                    </m:r>
                    <m:sSub>
                      <m:sSubPr>
                        <m:ctrlPr>
                          <a:rPr lang="en-US" sz="2400" b="1" i="1" smtClean="0">
                            <a:solidFill>
                              <a:schemeClr val="dk1"/>
                            </a:solidFill>
                            <a:latin typeface="Cambria Math" panose="02040503050406030204" pitchFamily="18" charset="0"/>
                          </a:rPr>
                        </m:ctrlPr>
                      </m:sSubPr>
                      <m:e>
                        <m:r>
                          <a:rPr lang="en-US" sz="2400" b="1" i="1" smtClean="0">
                            <a:solidFill>
                              <a:schemeClr val="dk1"/>
                            </a:solidFill>
                            <a:latin typeface="Cambria Math" panose="02040503050406030204" pitchFamily="18" charset="0"/>
                          </a:rPr>
                          <m:t>𝑭</m:t>
                        </m:r>
                      </m:e>
                      <m:sub>
                        <m:r>
                          <a:rPr lang="en-US" sz="2400" b="1" i="1" smtClean="0">
                            <a:solidFill>
                              <a:schemeClr val="dk1"/>
                            </a:solidFill>
                            <a:latin typeface="Cambria Math" panose="02040503050406030204" pitchFamily="18" charset="0"/>
                          </a:rPr>
                          <m:t>𝟐</m:t>
                        </m:r>
                      </m:sub>
                    </m:sSub>
                  </m:oMath>
                </a14:m>
                <a:r>
                  <a:rPr lang="en-US" b="1" dirty="0">
                    <a:solidFill>
                      <a:schemeClr val="dk1"/>
                    </a:solidFill>
                    <a:latin typeface="Comic Sans MS" panose="030F0702030302020204" pitchFamily="66" charset="0"/>
                  </a:rPr>
                  <a:t> , where </a:t>
                </a:r>
                <a14:m>
                  <m:oMath xmlns:m="http://schemas.openxmlformats.org/officeDocument/2006/math">
                    <m:sSub>
                      <m:sSubPr>
                        <m:ctrlPr>
                          <a:rPr lang="en-US" b="1" i="1">
                            <a:solidFill>
                              <a:schemeClr val="dk1"/>
                            </a:solidFill>
                            <a:latin typeface="Cambria Math" panose="02040503050406030204" pitchFamily="18" charset="0"/>
                          </a:rPr>
                        </m:ctrlPr>
                      </m:sSubPr>
                      <m:e>
                        <m:r>
                          <a:rPr lang="en-US" b="1" i="1">
                            <a:solidFill>
                              <a:schemeClr val="dk1"/>
                            </a:solidFill>
                            <a:latin typeface="Cambria Math" panose="02040503050406030204" pitchFamily="18" charset="0"/>
                          </a:rPr>
                          <m:t>𝑭</m:t>
                        </m:r>
                      </m:e>
                      <m:sub>
                        <m:r>
                          <a:rPr lang="en-US" b="1" i="1">
                            <a:solidFill>
                              <a:schemeClr val="dk1"/>
                            </a:solidFill>
                            <a:latin typeface="Cambria Math" panose="02040503050406030204" pitchFamily="18" charset="0"/>
                          </a:rPr>
                          <m:t>𝟏</m:t>
                        </m:r>
                      </m:sub>
                    </m:sSub>
                  </m:oMath>
                </a14:m>
                <a:r>
                  <a:rPr lang="en-US" b="1" dirty="0">
                    <a:solidFill>
                      <a:schemeClr val="dk1"/>
                    </a:solidFill>
                    <a:latin typeface="Comic Sans MS" panose="030F0702030302020204" pitchFamily="66" charset="0"/>
                  </a:rPr>
                  <a:t> and </a:t>
                </a:r>
                <a14:m>
                  <m:oMath xmlns:m="http://schemas.openxmlformats.org/officeDocument/2006/math">
                    <m:sSub>
                      <m:sSubPr>
                        <m:ctrlPr>
                          <a:rPr lang="en-US" b="1" i="1">
                            <a:solidFill>
                              <a:schemeClr val="dk1"/>
                            </a:solidFill>
                            <a:latin typeface="Cambria Math" panose="02040503050406030204" pitchFamily="18" charset="0"/>
                          </a:rPr>
                        </m:ctrlPr>
                      </m:sSubPr>
                      <m:e>
                        <m:r>
                          <a:rPr lang="en-US" b="1" i="1">
                            <a:solidFill>
                              <a:schemeClr val="dk1"/>
                            </a:solidFill>
                            <a:latin typeface="Cambria Math" panose="02040503050406030204" pitchFamily="18" charset="0"/>
                          </a:rPr>
                          <m:t>𝑭</m:t>
                        </m:r>
                      </m:e>
                      <m:sub>
                        <m:r>
                          <a:rPr lang="en-US" b="1" i="1">
                            <a:solidFill>
                              <a:schemeClr val="dk1"/>
                            </a:solidFill>
                            <a:latin typeface="Cambria Math" panose="02040503050406030204" pitchFamily="18" charset="0"/>
                          </a:rPr>
                          <m:t>𝟐</m:t>
                        </m:r>
                      </m:sub>
                    </m:sSub>
                  </m:oMath>
                </a14:m>
                <a:r>
                  <a:rPr lang="en-US" b="1" dirty="0">
                    <a:solidFill>
                      <a:schemeClr val="dk1"/>
                    </a:solidFill>
                    <a:latin typeface="Comic Sans MS" panose="030F0702030302020204" pitchFamily="66" charset="0"/>
                  </a:rPr>
                  <a:t>  are two equal and opposite forces.</a:t>
                </a:r>
              </a:p>
            </p:txBody>
          </p:sp>
        </mc:Choice>
        <mc:Fallback xmlns="">
          <p:sp>
            <p:nvSpPr>
              <p:cNvPr id="9" name="TextBox 8">
                <a:extLst>
                  <a:ext uri="{FF2B5EF4-FFF2-40B4-BE49-F238E27FC236}">
                    <a16:creationId xmlns:a16="http://schemas.microsoft.com/office/drawing/2014/main" id="{F80AEBFA-F60E-578A-38EA-7F66D57E15DE}"/>
                  </a:ext>
                </a:extLst>
              </p:cNvPr>
              <p:cNvSpPr txBox="1">
                <a:spLocks noRot="1" noChangeAspect="1" noMove="1" noResize="1" noEditPoints="1" noAdjustHandles="1" noChangeArrowheads="1" noChangeShapeType="1" noTextEdit="1"/>
              </p:cNvSpPr>
              <p:nvPr/>
            </p:nvSpPr>
            <p:spPr>
              <a:xfrm>
                <a:off x="559764" y="1792049"/>
                <a:ext cx="10749367" cy="1323439"/>
              </a:xfrm>
              <a:prstGeom prst="rect">
                <a:avLst/>
              </a:prstGeom>
              <a:blipFill>
                <a:blip r:embed="rId5"/>
                <a:stretch>
                  <a:fillRect l="-1475" t="-5991" b="-9677"/>
                </a:stretch>
              </a:blipFill>
            </p:spPr>
            <p:txBody>
              <a:bodyPr/>
              <a:lstStyle/>
              <a:p>
                <a:r>
                  <a:rPr lang="en-US">
                    <a:noFill/>
                  </a:rPr>
                  <a:t> </a:t>
                </a:r>
              </a:p>
            </p:txBody>
          </p:sp>
        </mc:Fallback>
      </mc:AlternateContent>
      <p:pic>
        <p:nvPicPr>
          <p:cNvPr id="10" name="Picture 6" descr="The third man GIF - Find on GIFER">
            <a:extLst>
              <a:ext uri="{FF2B5EF4-FFF2-40B4-BE49-F238E27FC236}">
                <a16:creationId xmlns:a16="http://schemas.microsoft.com/office/drawing/2014/main" id="{83BF3A30-DA1D-AD62-4CC0-AA21691A88D7}"/>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3421129" y="3287543"/>
            <a:ext cx="4185619" cy="2224624"/>
          </a:xfrm>
          <a:prstGeom prst="rect">
            <a:avLst/>
          </a:prstGeom>
          <a:noFill/>
          <a:extLst>
            <a:ext uri="{909E8E84-426E-40DD-AFC4-6F175D3DCCD1}">
              <a14:hiddenFill xmlns:a14="http://schemas.microsoft.com/office/drawing/2010/main">
                <a:solidFill>
                  <a:srgbClr val="FFFFFF"/>
                </a:solidFill>
              </a14:hiddenFill>
            </a:ext>
          </a:extLst>
        </p:spPr>
      </p:pic>
      <p:pic>
        <p:nvPicPr>
          <p:cNvPr id="2" name="Audio 1">
            <a:hlinkClick r:id="" action="ppaction://media"/>
            <a:extLst>
              <a:ext uri="{FF2B5EF4-FFF2-40B4-BE49-F238E27FC236}">
                <a16:creationId xmlns:a16="http://schemas.microsoft.com/office/drawing/2014/main" id="{7C9E4A11-8DA4-61B4-BD95-AAE0A635084D}"/>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300172411"/>
      </p:ext>
    </p:extLst>
  </p:cSld>
  <p:clrMapOvr>
    <a:masterClrMapping/>
  </p:clrMapOvr>
  <mc:AlternateContent xmlns:mc="http://schemas.openxmlformats.org/markup-compatibility/2006">
    <mc:Choice xmlns:p14="http://schemas.microsoft.com/office/powerpoint/2010/main" Requires="p14">
      <p:transition spd="slow" p14:dur="2000" advTm="14743"/>
    </mc:Choice>
    <mc:Fallback>
      <p:transition spd="slow" advTm="147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2"/>
                </p:tgtEl>
              </p:cMediaNode>
            </p:audio>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4">
            <a:duotone>
              <a:schemeClr val="bg2">
                <a:shade val="48000"/>
                <a:satMod val="110000"/>
                <a:lumMod val="40000"/>
              </a:schemeClr>
              <a:schemeClr val="bg2">
                <a:tint val="90000"/>
                <a:lumMod val="106000"/>
              </a:schemeClr>
            </a:duotone>
          </a:blip>
          <a:stretch/>
        </a:blip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636FFCE-CE2B-8E9C-3AF3-64E94EF28C43}"/>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rot="21480000">
            <a:off x="1137837" y="1042724"/>
            <a:ext cx="9916327" cy="4685464"/>
          </a:xfrm>
          <a:prstGeom prst="rect">
            <a:avLst/>
          </a:prstGeom>
          <a:noFill/>
          <a:extLst>
            <a:ext uri="{909E8E84-426E-40DD-AFC4-6F175D3DCCD1}">
              <a14:hiddenFill xmlns:a14="http://schemas.microsoft.com/office/drawing/2010/main">
                <a:solidFill>
                  <a:srgbClr val="FFFFFF"/>
                </a:solidFill>
              </a14:hiddenFill>
            </a:ext>
          </a:extLst>
        </p:spPr>
      </p:pic>
      <p:pic>
        <p:nvPicPr>
          <p:cNvPr id="2" name="Audio 1">
            <a:hlinkClick r:id="" action="ppaction://media"/>
            <a:extLst>
              <a:ext uri="{FF2B5EF4-FFF2-40B4-BE49-F238E27FC236}">
                <a16:creationId xmlns:a16="http://schemas.microsoft.com/office/drawing/2014/main" id="{4BD0A94D-F954-3862-D338-C03F64C36A2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521578836"/>
      </p:ext>
    </p:extLst>
  </p:cSld>
  <p:clrMapOvr>
    <a:masterClrMapping/>
  </p:clrMapOvr>
  <mc:AlternateContent xmlns:mc="http://schemas.openxmlformats.org/markup-compatibility/2006">
    <mc:Choice xmlns:p14="http://schemas.microsoft.com/office/powerpoint/2010/main" Requires="p14">
      <p:transition spd="slow" p14:dur="2000" advTm="16208"/>
    </mc:Choice>
    <mc:Fallback>
      <p:transition spd="slow" advTm="1620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8876A1-DDB1-C66D-A2C7-4DFDC85F2538}"/>
              </a:ext>
            </a:extLst>
          </p:cNvPr>
          <p:cNvSpPr/>
          <p:nvPr/>
        </p:nvSpPr>
        <p:spPr>
          <a:xfrm>
            <a:off x="3126596" y="101736"/>
            <a:ext cx="4984652" cy="10512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a:latin typeface="Comic Sans MS" panose="030F0702030302020204" pitchFamily="66" charset="0"/>
              </a:rPr>
              <a:t>Linear Motion and Circular Motion.</a:t>
            </a:r>
          </a:p>
        </p:txBody>
      </p:sp>
      <p:sp>
        <p:nvSpPr>
          <p:cNvPr id="5" name="Rectangle 4">
            <a:extLst>
              <a:ext uri="{FF2B5EF4-FFF2-40B4-BE49-F238E27FC236}">
                <a16:creationId xmlns:a16="http://schemas.microsoft.com/office/drawing/2014/main" id="{F8DA236F-637D-4CAC-81A9-2FF34AB8F80E}"/>
              </a:ext>
            </a:extLst>
          </p:cNvPr>
          <p:cNvSpPr/>
          <p:nvPr/>
        </p:nvSpPr>
        <p:spPr>
          <a:xfrm>
            <a:off x="437322" y="1345097"/>
            <a:ext cx="5181600" cy="25907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latin typeface="Comic Sans MS" panose="030F0702030302020204" pitchFamily="66" charset="0"/>
              </a:rPr>
              <a:t>Linear Motion</a:t>
            </a:r>
          </a:p>
          <a:p>
            <a:pPr algn="ctr"/>
            <a:r>
              <a:rPr lang="en-US" b="1" dirty="0">
                <a:solidFill>
                  <a:schemeClr val="tx1">
                    <a:lumMod val="95000"/>
                    <a:lumOff val="5000"/>
                  </a:schemeClr>
                </a:solidFill>
                <a:latin typeface="Comic Sans MS" panose="030F0702030302020204" pitchFamily="66" charset="0"/>
              </a:rPr>
              <a:t>Linear motion involves an object moving from</a:t>
            </a:r>
          </a:p>
          <a:p>
            <a:pPr algn="ctr"/>
            <a:r>
              <a:rPr lang="en-US" b="1" dirty="0">
                <a:solidFill>
                  <a:schemeClr val="tx1">
                    <a:lumMod val="95000"/>
                    <a:lumOff val="5000"/>
                  </a:schemeClr>
                </a:solidFill>
                <a:latin typeface="Comic Sans MS" panose="030F0702030302020204" pitchFamily="66" charset="0"/>
              </a:rPr>
              <a:t>one point to another in a straight line.</a:t>
            </a:r>
          </a:p>
          <a:p>
            <a:pPr algn="ctr"/>
            <a:r>
              <a:rPr lang="en-US" b="1" dirty="0">
                <a:solidFill>
                  <a:schemeClr val="tx1">
                    <a:lumMod val="95000"/>
                    <a:lumOff val="5000"/>
                  </a:schemeClr>
                </a:solidFill>
                <a:latin typeface="Comic Sans MS" panose="030F0702030302020204" pitchFamily="66" charset="0"/>
              </a:rPr>
              <a:t>– Examples include a parade of soldiers, a train moving along a straight line</a:t>
            </a:r>
          </a:p>
        </p:txBody>
      </p:sp>
      <p:sp>
        <p:nvSpPr>
          <p:cNvPr id="6" name="Rectangle 5">
            <a:extLst>
              <a:ext uri="{FF2B5EF4-FFF2-40B4-BE49-F238E27FC236}">
                <a16:creationId xmlns:a16="http://schemas.microsoft.com/office/drawing/2014/main" id="{751650EB-3512-CDFF-7376-F449813FC141}"/>
              </a:ext>
            </a:extLst>
          </p:cNvPr>
          <p:cNvSpPr/>
          <p:nvPr/>
        </p:nvSpPr>
        <p:spPr>
          <a:xfrm>
            <a:off x="6095999" y="1345095"/>
            <a:ext cx="5420139" cy="239869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latin typeface="Comic Sans MS" panose="030F0702030302020204" pitchFamily="66" charset="0"/>
              </a:rPr>
              <a:t>Circular Motion</a:t>
            </a:r>
          </a:p>
          <a:p>
            <a:pPr algn="ctr"/>
            <a:r>
              <a:rPr lang="en-US" b="1" dirty="0">
                <a:solidFill>
                  <a:schemeClr val="tx1">
                    <a:lumMod val="95000"/>
                    <a:lumOff val="5000"/>
                  </a:schemeClr>
                </a:solidFill>
                <a:latin typeface="Comic Sans MS" panose="030F0702030302020204" pitchFamily="66" charset="0"/>
              </a:rPr>
              <a:t>Rotational motion involves an object rotating</a:t>
            </a:r>
          </a:p>
          <a:p>
            <a:pPr algn="ctr"/>
            <a:r>
              <a:rPr lang="en-US" b="1" dirty="0">
                <a:solidFill>
                  <a:schemeClr val="tx1">
                    <a:lumMod val="95000"/>
                    <a:lumOff val="5000"/>
                  </a:schemeClr>
                </a:solidFill>
                <a:latin typeface="Comic Sans MS" panose="030F0702030302020204" pitchFamily="66" charset="0"/>
              </a:rPr>
              <a:t>about an axis.</a:t>
            </a:r>
          </a:p>
          <a:p>
            <a:pPr algn="ctr"/>
            <a:r>
              <a:rPr lang="en-US" b="1" dirty="0">
                <a:solidFill>
                  <a:schemeClr val="tx1">
                    <a:lumMod val="95000"/>
                    <a:lumOff val="5000"/>
                  </a:schemeClr>
                </a:solidFill>
                <a:latin typeface="Comic Sans MS" panose="030F0702030302020204" pitchFamily="66" charset="0"/>
              </a:rPr>
              <a:t>– Examples include a merry-go-round, the rotating</a:t>
            </a:r>
          </a:p>
          <a:p>
            <a:pPr algn="ctr"/>
            <a:r>
              <a:rPr lang="en-US" b="1" dirty="0">
                <a:solidFill>
                  <a:schemeClr val="tx1">
                    <a:lumMod val="95000"/>
                    <a:lumOff val="5000"/>
                  </a:schemeClr>
                </a:solidFill>
                <a:latin typeface="Comic Sans MS" panose="030F0702030302020204" pitchFamily="66" charset="0"/>
              </a:rPr>
              <a:t>earth, a spinning skater, a top, and a turning wheel.</a:t>
            </a:r>
          </a:p>
        </p:txBody>
      </p:sp>
      <p:pic>
        <p:nvPicPr>
          <p:cNvPr id="2" name="Picture 1" descr="Diagram&#10;&#10;Description automatically generated">
            <a:extLst>
              <a:ext uri="{FF2B5EF4-FFF2-40B4-BE49-F238E27FC236}">
                <a16:creationId xmlns:a16="http://schemas.microsoft.com/office/drawing/2014/main" id="{75B7EADF-108E-6B74-8667-098AF1AF92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2160" y="4138458"/>
            <a:ext cx="3327816" cy="2495862"/>
          </a:xfrm>
          <a:prstGeom prst="rect">
            <a:avLst/>
          </a:prstGeom>
        </p:spPr>
      </p:pic>
      <p:pic>
        <p:nvPicPr>
          <p:cNvPr id="9" name="Picture 8" descr="Shape">
            <a:extLst>
              <a:ext uri="{FF2B5EF4-FFF2-40B4-BE49-F238E27FC236}">
                <a16:creationId xmlns:a16="http://schemas.microsoft.com/office/drawing/2014/main" id="{2E2A4808-DCB5-9F48-94C7-F78321801F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44545" y="4243387"/>
            <a:ext cx="3959360" cy="1143002"/>
          </a:xfrm>
          <a:prstGeom prst="rect">
            <a:avLst/>
          </a:prstGeom>
        </p:spPr>
      </p:pic>
      <p:pic>
        <p:nvPicPr>
          <p:cNvPr id="3" name="Audio 2">
            <a:hlinkClick r:id="" action="ppaction://media"/>
            <a:extLst>
              <a:ext uri="{FF2B5EF4-FFF2-40B4-BE49-F238E27FC236}">
                <a16:creationId xmlns:a16="http://schemas.microsoft.com/office/drawing/2014/main" id="{3A769059-6ACA-EF4F-10F1-C4C113654B61}"/>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450764255"/>
      </p:ext>
    </p:extLst>
  </p:cSld>
  <p:clrMapOvr>
    <a:masterClrMapping/>
  </p:clrMapOvr>
  <mc:AlternateContent xmlns:mc="http://schemas.openxmlformats.org/markup-compatibility/2006">
    <mc:Choice xmlns:p14="http://schemas.microsoft.com/office/powerpoint/2010/main" Requires="p14">
      <p:transition spd="slow" p14:dur="2000" advTm="43698"/>
    </mc:Choice>
    <mc:Fallback>
      <p:transition spd="slow" advTm="436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FBA0D1B-8E4C-0795-FED9-2551461ADC4E}"/>
              </a:ext>
            </a:extLst>
          </p:cNvPr>
          <p:cNvSpPr/>
          <p:nvPr/>
        </p:nvSpPr>
        <p:spPr>
          <a:xfrm>
            <a:off x="1351722" y="1298713"/>
            <a:ext cx="9342782" cy="35648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ln w="22225">
                  <a:solidFill>
                    <a:schemeClr val="accent2"/>
                  </a:solidFill>
                  <a:prstDash val="solid"/>
                </a:ln>
                <a:solidFill>
                  <a:schemeClr val="accent2">
                    <a:lumMod val="40000"/>
                    <a:lumOff val="60000"/>
                  </a:schemeClr>
                </a:solidFill>
              </a:rPr>
              <a:t>Linear Motion</a:t>
            </a:r>
          </a:p>
        </p:txBody>
      </p:sp>
      <p:pic>
        <p:nvPicPr>
          <p:cNvPr id="2" name="Audio 1">
            <a:hlinkClick r:id="" action="ppaction://media"/>
            <a:extLst>
              <a:ext uri="{FF2B5EF4-FFF2-40B4-BE49-F238E27FC236}">
                <a16:creationId xmlns:a16="http://schemas.microsoft.com/office/drawing/2014/main" id="{1BDEEBA6-8570-E2A7-71EE-9A3705C93C31}"/>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336192516"/>
      </p:ext>
    </p:extLst>
  </p:cSld>
  <p:clrMapOvr>
    <a:masterClrMapping/>
  </p:clrMapOvr>
  <mc:AlternateContent xmlns:mc="http://schemas.openxmlformats.org/markup-compatibility/2006">
    <mc:Choice xmlns:p14="http://schemas.microsoft.com/office/powerpoint/2010/main" Requires="p14">
      <p:transition spd="slow" p14:dur="2000" advTm="6656"/>
    </mc:Choice>
    <mc:Fallback>
      <p:transition spd="slow" advTm="66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0BA6489-E7FE-041A-152D-97DA70F12887}"/>
                  </a:ext>
                </a:extLst>
              </p:cNvPr>
              <p:cNvSpPr/>
              <p:nvPr/>
            </p:nvSpPr>
            <p:spPr>
              <a:xfrm>
                <a:off x="132522" y="159026"/>
                <a:ext cx="11449878" cy="528761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Displacement: </a:t>
                </a:r>
                <a:r>
                  <a:rPr lang="en-US" dirty="0">
                    <a:latin typeface="Comic Sans MS" panose="030F0702030302020204" pitchFamily="66" charset="0"/>
                  </a:rPr>
                  <a:t>Displacement is defined to be the change in position of an object in a certain direction.</a:t>
                </a:r>
              </a:p>
              <a:p>
                <a:r>
                  <a:rPr lang="en-US" b="1" dirty="0">
                    <a:latin typeface="Comic Sans MS" panose="030F0702030302020204" pitchFamily="66" charset="0"/>
                  </a:rPr>
                  <a:t> </a:t>
                </a:r>
                <a:r>
                  <a:rPr lang="en-US" dirty="0">
                    <a:latin typeface="Comic Sans MS" panose="030F0702030302020204" pitchFamily="66" charset="0"/>
                  </a:rPr>
                  <a:t>The unit is </a:t>
                </a:r>
                <a14:m>
                  <m:oMath xmlns:m="http://schemas.openxmlformats.org/officeDocument/2006/math">
                    <m:r>
                      <a:rPr lang="en-US" b="1" i="1" smtClean="0">
                        <a:latin typeface="Cambria Math" panose="02040503050406030204" pitchFamily="18" charset="0"/>
                      </a:rPr>
                      <m:t>𝒎</m:t>
                    </m:r>
                  </m:oMath>
                </a14:m>
                <a:r>
                  <a:rPr lang="en-US" dirty="0">
                    <a:latin typeface="Comic Sans MS" panose="030F0702030302020204" pitchFamily="66" charset="0"/>
                  </a:rPr>
                  <a:t>. Written as m. It’s a vector quantity. Whereas distance is a scalar quantity.</a:t>
                </a: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endParaRPr lang="en-US" dirty="0">
                  <a:latin typeface="Comic Sans MS" panose="030F0702030302020204" pitchFamily="66" charset="0"/>
                </a:endParaRPr>
              </a:p>
              <a:p>
                <a:r>
                  <a:rPr lang="en-US" b="1" dirty="0">
                    <a:latin typeface="Comic Sans MS" panose="030F0702030302020204" pitchFamily="66" charset="0"/>
                  </a:rPr>
                  <a:t>Velocity: </a:t>
                </a:r>
                <a:r>
                  <a:rPr lang="en-US" dirty="0">
                    <a:latin typeface="Comic Sans MS" panose="030F0702030302020204" pitchFamily="66" charset="0"/>
                  </a:rPr>
                  <a:t>Velocity is a vector quantity that refers to the rate at which an object changes its position. It’s a vector quantity. Whereas speed is a scalar quantity. The unit is </a:t>
                </a:r>
                <a14:m>
                  <m:oMath xmlns:m="http://schemas.openxmlformats.org/officeDocument/2006/math">
                    <m:r>
                      <a:rPr lang="en-US" b="1" i="1" smtClean="0">
                        <a:latin typeface="Cambria Math" panose="02040503050406030204" pitchFamily="18" charset="0"/>
                      </a:rPr>
                      <m:t>𝒎</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𝒔</m:t>
                        </m:r>
                      </m:e>
                      <m:sup>
                        <m:r>
                          <a:rPr lang="en-US" b="1" i="1" smtClean="0">
                            <a:latin typeface="Cambria Math" panose="02040503050406030204" pitchFamily="18" charset="0"/>
                          </a:rPr>
                          <m:t>−</m:t>
                        </m:r>
                        <m:r>
                          <a:rPr lang="en-US" b="1" i="1" smtClean="0">
                            <a:latin typeface="Cambria Math" panose="02040503050406030204" pitchFamily="18" charset="0"/>
                          </a:rPr>
                          <m:t>𝟏</m:t>
                        </m:r>
                      </m:sup>
                    </m:sSup>
                  </m:oMath>
                </a14:m>
                <a:r>
                  <a:rPr lang="en-US" b="1" dirty="0">
                    <a:latin typeface="Comic Sans MS" panose="030F0702030302020204" pitchFamily="66" charset="0"/>
                  </a:rPr>
                  <a:t>. </a:t>
                </a:r>
              </a:p>
              <a:p>
                <a:endParaRPr lang="en-US" dirty="0">
                  <a:latin typeface="Comic Sans MS" panose="030F0702030302020204" pitchFamily="66" charset="0"/>
                </a:endParaRPr>
              </a:p>
              <a:p>
                <a:r>
                  <a:rPr lang="en-US" dirty="0">
                    <a:latin typeface="Comic Sans MS" panose="030F0702030302020204" pitchFamily="66" charset="0"/>
                  </a:rPr>
                  <a:t> </a:t>
                </a:r>
              </a:p>
            </p:txBody>
          </p:sp>
        </mc:Choice>
        <mc:Fallback xmlns="">
          <p:sp>
            <p:nvSpPr>
              <p:cNvPr id="4" name="Rectangle 3">
                <a:extLst>
                  <a:ext uri="{FF2B5EF4-FFF2-40B4-BE49-F238E27FC236}">
                    <a16:creationId xmlns:a16="http://schemas.microsoft.com/office/drawing/2014/main" id="{00BA6489-E7FE-041A-152D-97DA70F12887}"/>
                  </a:ext>
                </a:extLst>
              </p:cNvPr>
              <p:cNvSpPr>
                <a:spLocks noRot="1" noChangeAspect="1" noMove="1" noResize="1" noEditPoints="1" noAdjustHandles="1" noChangeArrowheads="1" noChangeShapeType="1" noTextEdit="1"/>
              </p:cNvSpPr>
              <p:nvPr/>
            </p:nvSpPr>
            <p:spPr>
              <a:xfrm>
                <a:off x="132522" y="159026"/>
                <a:ext cx="11449878" cy="5287617"/>
              </a:xfrm>
              <a:prstGeom prst="rect">
                <a:avLst/>
              </a:prstGeom>
              <a:blipFill>
                <a:blip r:embed="rId4"/>
                <a:stretch>
                  <a:fillRect l="-425"/>
                </a:stretch>
              </a:blipFill>
            </p:spPr>
            <p:txBody>
              <a:bodyPr/>
              <a:lstStyle/>
              <a:p>
                <a:r>
                  <a:rPr lang="en-US">
                    <a:noFill/>
                  </a:rPr>
                  <a:t> </a:t>
                </a:r>
              </a:p>
            </p:txBody>
          </p:sp>
        </mc:Fallback>
      </mc:AlternateContent>
      <p:pic>
        <p:nvPicPr>
          <p:cNvPr id="6" name="Picture 5" descr="Chart&#10;&#10;Description automatically generated with medium confidence">
            <a:extLst>
              <a:ext uri="{FF2B5EF4-FFF2-40B4-BE49-F238E27FC236}">
                <a16:creationId xmlns:a16="http://schemas.microsoft.com/office/drawing/2014/main" id="{51AA630C-0DDD-9C75-2EF9-3024BE0C783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33461" y="1758880"/>
            <a:ext cx="2279374" cy="1459195"/>
          </a:xfrm>
          <a:prstGeom prst="rect">
            <a:avLst/>
          </a:prstGeom>
        </p:spPr>
      </p:pic>
      <p:pic>
        <p:nvPicPr>
          <p:cNvPr id="2" name="Audio 1">
            <a:hlinkClick r:id="" action="ppaction://media"/>
            <a:extLst>
              <a:ext uri="{FF2B5EF4-FFF2-40B4-BE49-F238E27FC236}">
                <a16:creationId xmlns:a16="http://schemas.microsoft.com/office/drawing/2014/main" id="{E0C4269F-3F3C-0360-CBD0-0EC7F9152F51}"/>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690080077"/>
      </p:ext>
    </p:extLst>
  </p:cSld>
  <p:clrMapOvr>
    <a:masterClrMapping/>
  </p:clrMapOvr>
  <mc:AlternateContent xmlns:mc="http://schemas.openxmlformats.org/markup-compatibility/2006">
    <mc:Choice xmlns:p14="http://schemas.microsoft.com/office/powerpoint/2010/main" Requires="p14">
      <p:transition spd="slow" p14:dur="2000" advTm="36933"/>
    </mc:Choice>
    <mc:Fallback>
      <p:transition spd="slow" advTm="3693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CC2B3BF-F342-3695-2D60-91D4D1A339B1}"/>
                  </a:ext>
                </a:extLst>
              </p:cNvPr>
              <p:cNvSpPr/>
              <p:nvPr/>
            </p:nvSpPr>
            <p:spPr>
              <a:xfrm>
                <a:off x="198783" y="92765"/>
                <a:ext cx="5499652" cy="622852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sz="2400" b="1" u="sng" dirty="0">
                    <a:latin typeface="Comic Sans MS" panose="030F0702030302020204" pitchFamily="66" charset="0"/>
                  </a:rPr>
                  <a:t>Average Velocity: </a:t>
                </a:r>
              </a:p>
              <a:p>
                <a:endParaRPr lang="en-US" sz="2400" b="1" u="sng" dirty="0">
                  <a:latin typeface="Comic Sans MS" panose="030F0702030302020204" pitchFamily="66" charset="0"/>
                </a:endParaRPr>
              </a:p>
              <a:p>
                <a:r>
                  <a:rPr lang="en-US" sz="2400" dirty="0">
                    <a:latin typeface="Comic Sans MS" panose="030F0702030302020204" pitchFamily="66" charset="0"/>
                  </a:rPr>
                  <a:t>average velocity is the average rate of change of position (or displacement) with respect to time over an interval.  </a:t>
                </a:r>
              </a:p>
              <a:p>
                <a:pPr algn="l" rtl="0"/>
                <a:endParaRPr lang="en-US" sz="2400" dirty="0">
                  <a:latin typeface="Comic Sans MS" panose="030F0702030302020204" pitchFamily="66" charset="0"/>
                </a:endParaRPr>
              </a:p>
              <a:p>
                <a:r>
                  <a:rPr lang="en-US" sz="2400" dirty="0">
                    <a:latin typeface="Comic Sans MS" panose="030F0702030302020204" pitchFamily="66" charset="0"/>
                  </a:rPr>
                  <a:t>average velocity = </a:t>
                </a:r>
                <a14:m>
                  <m:oMath xmlns:m="http://schemas.openxmlformats.org/officeDocument/2006/math">
                    <m:f>
                      <m:fPr>
                        <m:ctrlPr>
                          <a:rPr lang="en-US" sz="2400" i="1" smtClean="0">
                            <a:latin typeface="Cambria Math" panose="02040503050406030204" pitchFamily="18" charset="0"/>
                          </a:rPr>
                        </m:ctrlPr>
                      </m:fPr>
                      <m:num>
                        <m:r>
                          <m:rPr>
                            <m:sty m:val="p"/>
                          </m:rPr>
                          <a:rPr lang="el-GR" sz="2400" i="1" smtClean="0">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𝑠</m:t>
                        </m:r>
                      </m:num>
                      <m:den>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𝑡</m:t>
                        </m:r>
                      </m:den>
                    </m:f>
                  </m:oMath>
                </a14:m>
                <a:br>
                  <a:rPr lang="en-US" sz="2400" dirty="0">
                    <a:effectLst/>
                  </a:rPr>
                </a:br>
                <a:endParaRPr lang="en-US" sz="2400" dirty="0">
                  <a:effectLst/>
                </a:endParaRPr>
              </a:p>
              <a:p>
                <a:br>
                  <a:rPr lang="en-US" sz="2400" b="0" i="0" dirty="0">
                    <a:solidFill>
                      <a:srgbClr val="5D6879"/>
                    </a:solidFill>
                    <a:effectLst/>
                    <a:latin typeface="Lato" panose="020F0502020204030203" pitchFamily="34" charset="0"/>
                  </a:rPr>
                </a:b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b="0" dirty="0">
                  <a:latin typeface="Comic Sans MS" panose="030F0702030302020204" pitchFamily="66" charset="0"/>
                </a:endParaRPr>
              </a:p>
              <a:p>
                <a:pPr algn="ctr"/>
                <a:endParaRPr lang="en-US" sz="2400" dirty="0">
                  <a:latin typeface="Comic Sans MS" panose="030F0702030302020204" pitchFamily="66" charset="0"/>
                </a:endParaRPr>
              </a:p>
            </p:txBody>
          </p:sp>
        </mc:Choice>
        <mc:Fallback xmlns="">
          <p:sp>
            <p:nvSpPr>
              <p:cNvPr id="5" name="Rectangle 4">
                <a:extLst>
                  <a:ext uri="{FF2B5EF4-FFF2-40B4-BE49-F238E27FC236}">
                    <a16:creationId xmlns:a16="http://schemas.microsoft.com/office/drawing/2014/main" id="{8CC2B3BF-F342-3695-2D60-91D4D1A339B1}"/>
                  </a:ext>
                </a:extLst>
              </p:cNvPr>
              <p:cNvSpPr>
                <a:spLocks noRot="1" noChangeAspect="1" noMove="1" noResize="1" noEditPoints="1" noAdjustHandles="1" noChangeArrowheads="1" noChangeShapeType="1" noTextEdit="1"/>
              </p:cNvSpPr>
              <p:nvPr/>
            </p:nvSpPr>
            <p:spPr>
              <a:xfrm>
                <a:off x="198783" y="92765"/>
                <a:ext cx="5499652" cy="6228522"/>
              </a:xfrm>
              <a:prstGeom prst="rect">
                <a:avLst/>
              </a:prstGeom>
              <a:blipFill>
                <a:blip r:embed="rId4"/>
                <a:stretch>
                  <a:fillRect l="-16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CAD1D88-601C-82BD-6514-05ED6C2697BC}"/>
                  </a:ext>
                </a:extLst>
              </p:cNvPr>
              <p:cNvSpPr/>
              <p:nvPr/>
            </p:nvSpPr>
            <p:spPr>
              <a:xfrm>
                <a:off x="5826615" y="76574"/>
                <a:ext cx="5618922" cy="62285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u="sng" dirty="0">
                    <a:latin typeface="Comic Sans MS" panose="030F0702030302020204" pitchFamily="66" charset="0"/>
                  </a:rPr>
                  <a:t>Instantaneous Velocity:</a:t>
                </a:r>
              </a:p>
              <a:p>
                <a:endParaRPr lang="en-US" sz="2400" b="1" u="sng" dirty="0">
                  <a:latin typeface="Comic Sans MS" panose="030F0702030302020204" pitchFamily="66" charset="0"/>
                </a:endParaRPr>
              </a:p>
              <a:p>
                <a:r>
                  <a:rPr lang="en-US" sz="2400" dirty="0">
                    <a:latin typeface="Comic Sans MS" panose="030F0702030302020204" pitchFamily="66" charset="0"/>
                  </a:rPr>
                  <a:t>The instantaneous velocity is the specific rate of change of position (or displacement) with respect to time at a single point (</a:t>
                </a:r>
                <a:r>
                  <a:rPr lang="en-US" sz="2400" dirty="0" err="1">
                    <a:latin typeface="Comic Sans MS" panose="030F0702030302020204" pitchFamily="66" charset="0"/>
                  </a:rPr>
                  <a:t>x,t</a:t>
                </a:r>
                <a:r>
                  <a:rPr lang="en-US" sz="2400" dirty="0">
                    <a:latin typeface="Comic Sans MS" panose="030F0702030302020204" pitchFamily="66" charset="0"/>
                  </a:rPr>
                  <a:t>), </a:t>
                </a:r>
              </a:p>
              <a:p>
                <a:endParaRPr lang="en-US" sz="2400" dirty="0">
                  <a:latin typeface="Comic Sans MS" panose="030F0702030302020204" pitchFamily="66" charset="0"/>
                </a:endParaRPr>
              </a:p>
              <a:p>
                <a:r>
                  <a:rPr lang="en-US" sz="2400" dirty="0">
                    <a:latin typeface="Comic Sans MS" panose="030F0702030302020204" pitchFamily="66" charset="0"/>
                  </a:rPr>
                  <a:t>instantaneous velocity = </a:t>
                </a:r>
                <a14:m>
                  <m:oMath xmlns:m="http://schemas.openxmlformats.org/officeDocument/2006/math">
                    <m:func>
                      <m:funcPr>
                        <m:ctrlPr>
                          <a:rPr lang="pt-BR" sz="2400" i="1" smtClean="0">
                            <a:latin typeface="Cambria Math" panose="02040503050406030204" pitchFamily="18" charset="0"/>
                          </a:rPr>
                        </m:ctrlPr>
                      </m:funcPr>
                      <m:fName>
                        <m:limLow>
                          <m:limLowPr>
                            <m:ctrlPr>
                              <a:rPr lang="pt-BR" sz="2400" i="1" smtClean="0">
                                <a:latin typeface="Cambria Math" panose="02040503050406030204" pitchFamily="18" charset="0"/>
                              </a:rPr>
                            </m:ctrlPr>
                          </m:limLowPr>
                          <m:e>
                            <m:r>
                              <m:rPr>
                                <m:sty m:val="p"/>
                              </m:rPr>
                              <a:rPr lang="pt-BR" sz="2400" i="0" smtClean="0">
                                <a:latin typeface="Cambria Math" panose="02040503050406030204" pitchFamily="18" charset="0"/>
                              </a:rPr>
                              <m:t>lim</m:t>
                            </m:r>
                          </m:e>
                          <m:lim>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𝑡</m:t>
                            </m:r>
                            <m:r>
                              <a:rPr lang="pt-BR" sz="2400" i="1" smtClean="0">
                                <a:latin typeface="Cambria Math" panose="02040503050406030204" pitchFamily="18" charset="0"/>
                              </a:rPr>
                              <m:t>→</m:t>
                            </m:r>
                            <m:r>
                              <a:rPr lang="en-US" sz="2400" b="0" i="1" smtClean="0">
                                <a:latin typeface="Cambria Math" panose="02040503050406030204" pitchFamily="18" charset="0"/>
                              </a:rPr>
                              <m:t>0</m:t>
                            </m:r>
                          </m:lim>
                        </m:limLow>
                      </m:fName>
                      <m:e>
                        <m:sSup>
                          <m:sSupPr>
                            <m:ctrlPr>
                              <a:rPr lang="pt-BR" sz="2400" i="1" smtClean="0">
                                <a:latin typeface="Cambria Math" panose="02040503050406030204" pitchFamily="18" charset="0"/>
                              </a:rPr>
                            </m:ctrlPr>
                          </m:sSupPr>
                          <m:e>
                            <m:f>
                              <m:fPr>
                                <m:ctrlPr>
                                  <a:rPr lang="pt-BR" sz="2400" i="1" smtClean="0">
                                    <a:latin typeface="Cambria Math" panose="02040503050406030204" pitchFamily="18" charset="0"/>
                                  </a:rPr>
                                </m:ctrlPr>
                              </m:fPr>
                              <m:num>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𝑠</m:t>
                                </m:r>
                              </m:num>
                              <m:den>
                                <m:r>
                                  <m:rPr>
                                    <m:sty m:val="p"/>
                                  </m:rPr>
                                  <a:rPr lang="el-GR" sz="2400" i="1">
                                    <a:latin typeface="Cambria Math" panose="02040503050406030204" pitchFamily="18" charset="0"/>
                                    <a:ea typeface="Cambria Math" panose="02040503050406030204" pitchFamily="18" charset="0"/>
                                  </a:rPr>
                                  <m:t>Δ</m:t>
                                </m:r>
                                <m:r>
                                  <a:rPr lang="en-US" sz="2400" b="0" i="1" smtClean="0">
                                    <a:latin typeface="Cambria Math" panose="02040503050406030204" pitchFamily="18" charset="0"/>
                                    <a:ea typeface="Cambria Math" panose="02040503050406030204" pitchFamily="18" charset="0"/>
                                  </a:rPr>
                                  <m:t>𝑡</m:t>
                                </m:r>
                              </m:den>
                            </m:f>
                          </m:e>
                          <m:sup/>
                        </m:sSup>
                      </m:e>
                    </m:func>
                  </m:oMath>
                </a14:m>
                <a:endParaRPr lang="en-US" sz="2400" b="0" dirty="0">
                  <a:latin typeface="Comic Sans MS" panose="030F0702030302020204" pitchFamily="66" charset="0"/>
                </a:endParaRPr>
              </a:p>
              <a:p>
                <a:r>
                  <a:rPr lang="en-US" sz="2400" dirty="0">
                    <a:latin typeface="Comic Sans MS" panose="030F0702030302020204" pitchFamily="66" charset="0"/>
                  </a:rPr>
                  <a:t> 																		=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𝑑𝑠</m:t>
                        </m:r>
                      </m:num>
                      <m:den>
                        <m:r>
                          <a:rPr lang="en-US" sz="2400" b="0" i="1" smtClean="0">
                            <a:latin typeface="Cambria Math" panose="02040503050406030204" pitchFamily="18" charset="0"/>
                          </a:rPr>
                          <m:t>𝑑𝑡</m:t>
                        </m:r>
                      </m:den>
                    </m:f>
                  </m:oMath>
                </a14:m>
                <a:endParaRPr lang="en-US" sz="2400"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FCAD1D88-601C-82BD-6514-05ED6C2697BC}"/>
                  </a:ext>
                </a:extLst>
              </p:cNvPr>
              <p:cNvSpPr>
                <a:spLocks noRot="1" noChangeAspect="1" noMove="1" noResize="1" noEditPoints="1" noAdjustHandles="1" noChangeArrowheads="1" noChangeShapeType="1" noTextEdit="1"/>
              </p:cNvSpPr>
              <p:nvPr/>
            </p:nvSpPr>
            <p:spPr>
              <a:xfrm>
                <a:off x="5826615" y="76574"/>
                <a:ext cx="5618922" cy="6228522"/>
              </a:xfrm>
              <a:prstGeom prst="rect">
                <a:avLst/>
              </a:prstGeom>
              <a:blipFill>
                <a:blip r:embed="rId5"/>
                <a:stretch>
                  <a:fillRect l="-1622" r="-2486"/>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D45BAA43-75A2-03BE-CF2F-817AFD0E4C09}"/>
              </a:ext>
            </a:extLst>
          </p:cNvPr>
          <p:cNvPicPr>
            <a:picLocks/>
          </p:cNvPicPr>
          <p:nvPr/>
        </p:nvPicPr>
        <p:blipFill>
          <a:blip r:embed="rId6"/>
          <a:stretch>
            <a:fillRect/>
          </a:stretch>
        </p:blipFill>
        <p:spPr>
          <a:xfrm>
            <a:off x="5238750" y="2714625"/>
            <a:ext cx="453628" cy="0"/>
          </a:xfrm>
          <a:prstGeom prst="rect">
            <a:avLst/>
          </a:prstGeom>
        </p:spPr>
      </p:pic>
      <p:pic>
        <p:nvPicPr>
          <p:cNvPr id="14" name="Picture 13">
            <a:extLst>
              <a:ext uri="{FF2B5EF4-FFF2-40B4-BE49-F238E27FC236}">
                <a16:creationId xmlns:a16="http://schemas.microsoft.com/office/drawing/2014/main" id="{6E451A80-C8B3-A5CA-805B-275CE981A5B9}"/>
              </a:ext>
            </a:extLst>
          </p:cNvPr>
          <p:cNvPicPr>
            <a:picLocks/>
          </p:cNvPicPr>
          <p:nvPr/>
        </p:nvPicPr>
        <p:blipFill>
          <a:blip r:embed="rId6"/>
          <a:stretch>
            <a:fillRect/>
          </a:stretch>
        </p:blipFill>
        <p:spPr>
          <a:xfrm>
            <a:off x="5238750" y="2714625"/>
            <a:ext cx="453628" cy="0"/>
          </a:xfrm>
          <a:prstGeom prst="rect">
            <a:avLst/>
          </a:prstGeom>
        </p:spPr>
      </p:pic>
      <p:pic>
        <p:nvPicPr>
          <p:cNvPr id="15" name="Picture 14">
            <a:extLst>
              <a:ext uri="{FF2B5EF4-FFF2-40B4-BE49-F238E27FC236}">
                <a16:creationId xmlns:a16="http://schemas.microsoft.com/office/drawing/2014/main" id="{D7DC0D58-8761-EE66-5388-1ACB887B35C7}"/>
              </a:ext>
            </a:extLst>
          </p:cNvPr>
          <p:cNvPicPr>
            <a:picLocks/>
          </p:cNvPicPr>
          <p:nvPr/>
        </p:nvPicPr>
        <p:blipFill>
          <a:blip r:embed="rId6"/>
          <a:stretch>
            <a:fillRect/>
          </a:stretch>
        </p:blipFill>
        <p:spPr>
          <a:xfrm>
            <a:off x="5238750" y="2714625"/>
            <a:ext cx="453628" cy="0"/>
          </a:xfrm>
          <a:prstGeom prst="rect">
            <a:avLst/>
          </a:prstGeom>
        </p:spPr>
      </p:pic>
      <p:pic>
        <p:nvPicPr>
          <p:cNvPr id="2" name="Audio 1">
            <a:hlinkClick r:id="" action="ppaction://media"/>
            <a:extLst>
              <a:ext uri="{FF2B5EF4-FFF2-40B4-BE49-F238E27FC236}">
                <a16:creationId xmlns:a16="http://schemas.microsoft.com/office/drawing/2014/main" id="{043B6BAE-69BD-493B-4445-3DA265EB0F85}"/>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463179745"/>
      </p:ext>
    </p:extLst>
  </p:cSld>
  <p:clrMapOvr>
    <a:masterClrMapping/>
  </p:clrMapOvr>
  <mc:AlternateContent xmlns:mc="http://schemas.openxmlformats.org/markup-compatibility/2006">
    <mc:Choice xmlns:p14="http://schemas.microsoft.com/office/powerpoint/2010/main" Requires="p14">
      <p:transition spd="slow" p14:dur="2000" advTm="31301"/>
    </mc:Choice>
    <mc:Fallback>
      <p:transition spd="slow" advTm="313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9795F9-FB35-7889-E3BD-F15BAC6EB34C}"/>
              </a:ext>
            </a:extLst>
          </p:cNvPr>
          <p:cNvSpPr/>
          <p:nvPr/>
        </p:nvSpPr>
        <p:spPr>
          <a:xfrm>
            <a:off x="269822" y="65397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Acceleration, a</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4D670A64-74CD-4B29-6243-EF1F27520810}"/>
                  </a:ext>
                </a:extLst>
              </p:cNvPr>
              <p:cNvSpPr/>
              <p:nvPr/>
            </p:nvSpPr>
            <p:spPr>
              <a:xfrm>
                <a:off x="269822" y="1898083"/>
                <a:ext cx="9848538" cy="5246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Rate of change of velocity is called acceleration. The unit is  </a:t>
                </a:r>
                <a14:m>
                  <m:oMath xmlns:m="http://schemas.openxmlformats.org/officeDocument/2006/math">
                    <m:r>
                      <a:rPr lang="en-US" b="1" i="1" smtClean="0">
                        <a:latin typeface="Cambria Math" panose="02040503050406030204" pitchFamily="18" charset="0"/>
                      </a:rPr>
                      <m:t>𝒎</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𝒔</m:t>
                        </m:r>
                      </m:e>
                      <m:sup>
                        <m:r>
                          <a:rPr lang="en-US" b="1" i="1" smtClean="0">
                            <a:latin typeface="Cambria Math" panose="02040503050406030204" pitchFamily="18" charset="0"/>
                          </a:rPr>
                          <m:t>−</m:t>
                        </m:r>
                        <m:r>
                          <a:rPr lang="en-US" b="1" i="1" smtClean="0">
                            <a:latin typeface="Cambria Math" panose="02040503050406030204" pitchFamily="18" charset="0"/>
                          </a:rPr>
                          <m:t>𝟐</m:t>
                        </m:r>
                      </m:sup>
                    </m:sSup>
                  </m:oMath>
                </a14:m>
                <a:r>
                  <a:rPr lang="en-US" b="1" dirty="0">
                    <a:latin typeface="Comic Sans MS" panose="030F0702030302020204" pitchFamily="66" charset="0"/>
                  </a:rPr>
                  <a:t>. The symbol is </a:t>
                </a:r>
                <a14:m>
                  <m:oMath xmlns:m="http://schemas.openxmlformats.org/officeDocument/2006/math">
                    <m:r>
                      <a:rPr lang="en-US" b="1" i="1" dirty="0" smtClean="0">
                        <a:latin typeface="Cambria Math" panose="02040503050406030204" pitchFamily="18" charset="0"/>
                      </a:rPr>
                      <m:t>𝒂</m:t>
                    </m:r>
                  </m:oMath>
                </a14:m>
                <a:r>
                  <a:rPr lang="en-US" b="1" dirty="0">
                    <a:latin typeface="Comic Sans MS" panose="030F0702030302020204" pitchFamily="66" charset="0"/>
                  </a:rPr>
                  <a:t>.</a:t>
                </a:r>
              </a:p>
              <a:p>
                <a:r>
                  <a:rPr lang="en-US" b="1" dirty="0">
                    <a:latin typeface="Comic Sans MS" panose="030F0702030302020204" pitchFamily="66" charset="0"/>
                  </a:rPr>
                  <a:t> </a:t>
                </a:r>
              </a:p>
            </p:txBody>
          </p:sp>
        </mc:Choice>
        <mc:Fallback xmlns="">
          <p:sp>
            <p:nvSpPr>
              <p:cNvPr id="5" name="Rectangle 4">
                <a:extLst>
                  <a:ext uri="{FF2B5EF4-FFF2-40B4-BE49-F238E27FC236}">
                    <a16:creationId xmlns:a16="http://schemas.microsoft.com/office/drawing/2014/main" id="{4D670A64-74CD-4B29-6243-EF1F27520810}"/>
                  </a:ext>
                </a:extLst>
              </p:cNvPr>
              <p:cNvSpPr>
                <a:spLocks noRot="1" noChangeAspect="1" noMove="1" noResize="1" noEditPoints="1" noAdjustHandles="1" noChangeArrowheads="1" noChangeShapeType="1" noTextEdit="1"/>
              </p:cNvSpPr>
              <p:nvPr/>
            </p:nvSpPr>
            <p:spPr>
              <a:xfrm>
                <a:off x="269822" y="1898083"/>
                <a:ext cx="9848538" cy="524657"/>
              </a:xfrm>
              <a:prstGeom prst="rect">
                <a:avLst/>
              </a:prstGeom>
              <a:blipFill>
                <a:blip r:embed="rId5"/>
                <a:stretch>
                  <a:fillRect l="-432" t="-134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EFDAEA-3485-6C80-E977-8AB8E158912A}"/>
                  </a:ext>
                </a:extLst>
              </p:cNvPr>
              <p:cNvSpPr txBox="1"/>
              <p:nvPr/>
            </p:nvSpPr>
            <p:spPr>
              <a:xfrm>
                <a:off x="269823" y="4140943"/>
                <a:ext cx="10163331"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b="1">
                    <a:solidFill>
                      <a:schemeClr val="dk1"/>
                    </a:solidFill>
                    <a:latin typeface="Comic Sans MS" panose="030F0702030302020204" pitchFamily="66"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A force is a push or pull upon an object resulting from the object's interaction with another object. The unit is </a:t>
                </a:r>
                <a14:m>
                  <m:oMath xmlns:m="http://schemas.openxmlformats.org/officeDocument/2006/math">
                    <m:r>
                      <a:rPr lang="en-US" i="1" dirty="0" smtClean="0">
                        <a:latin typeface="Cambria Math" panose="02040503050406030204" pitchFamily="18" charset="0"/>
                      </a:rPr>
                      <m:t>𝑁</m:t>
                    </m:r>
                  </m:oMath>
                </a14:m>
                <a:r>
                  <a:rPr lang="en-US" dirty="0"/>
                  <a:t> (newton). And the symbol is </a:t>
                </a:r>
                <a14:m>
                  <m:oMath xmlns:m="http://schemas.openxmlformats.org/officeDocument/2006/math">
                    <m:r>
                      <a:rPr lang="en-US" b="1" i="1" smtClean="0">
                        <a:latin typeface="Cambria Math" panose="02040503050406030204" pitchFamily="18" charset="0"/>
                      </a:rPr>
                      <m:t>𝑭</m:t>
                    </m:r>
                  </m:oMath>
                </a14:m>
                <a:r>
                  <a:rPr lang="en-US" dirty="0"/>
                  <a:t>. Where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𝑚𝑎</m:t>
                    </m:r>
                  </m:oMath>
                </a14:m>
                <a:endParaRPr lang="en-US" b="0" dirty="0"/>
              </a:p>
            </p:txBody>
          </p:sp>
        </mc:Choice>
        <mc:Fallback xmlns="">
          <p:sp>
            <p:nvSpPr>
              <p:cNvPr id="7" name="TextBox 6">
                <a:extLst>
                  <a:ext uri="{FF2B5EF4-FFF2-40B4-BE49-F238E27FC236}">
                    <a16:creationId xmlns:a16="http://schemas.microsoft.com/office/drawing/2014/main" id="{DBEFDAEA-3485-6C80-E977-8AB8E158912A}"/>
                  </a:ext>
                </a:extLst>
              </p:cNvPr>
              <p:cNvSpPr txBox="1">
                <a:spLocks noRot="1" noChangeAspect="1" noMove="1" noResize="1" noEditPoints="1" noAdjustHandles="1" noChangeArrowheads="1" noChangeShapeType="1" noTextEdit="1"/>
              </p:cNvSpPr>
              <p:nvPr/>
            </p:nvSpPr>
            <p:spPr>
              <a:xfrm>
                <a:off x="269823" y="4140943"/>
                <a:ext cx="10163331" cy="646331"/>
              </a:xfrm>
              <a:prstGeom prst="rect">
                <a:avLst/>
              </a:prstGeom>
              <a:blipFill>
                <a:blip r:embed="rId6"/>
                <a:stretch>
                  <a:fillRect l="-419" t="-2752" b="-13761"/>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749C3793-CB68-BD14-689A-43AE3CA3DF84}"/>
              </a:ext>
            </a:extLst>
          </p:cNvPr>
          <p:cNvSpPr/>
          <p:nvPr/>
        </p:nvSpPr>
        <p:spPr>
          <a:xfrm>
            <a:off x="269822" y="316667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Force, F</a:t>
            </a:r>
          </a:p>
        </p:txBody>
      </p:sp>
      <p:pic>
        <p:nvPicPr>
          <p:cNvPr id="2" name="Audio 1">
            <a:hlinkClick r:id="" action="ppaction://media"/>
            <a:extLst>
              <a:ext uri="{FF2B5EF4-FFF2-40B4-BE49-F238E27FC236}">
                <a16:creationId xmlns:a16="http://schemas.microsoft.com/office/drawing/2014/main" id="{8232819F-2621-B07A-04CD-AEBCC8E0C50F}"/>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1202126886"/>
      </p:ext>
    </p:extLst>
  </p:cSld>
  <p:clrMapOvr>
    <a:masterClrMapping/>
  </p:clrMapOvr>
  <mc:AlternateContent xmlns:mc="http://schemas.openxmlformats.org/markup-compatibility/2006">
    <mc:Choice xmlns:p14="http://schemas.microsoft.com/office/powerpoint/2010/main" Requires="p14">
      <p:transition spd="slow" p14:dur="2000" advTm="31855"/>
    </mc:Choice>
    <mc:Fallback>
      <p:transition spd="slow" advTm="318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2" fill="hold" display="0">
                  <p:stCondLst>
                    <p:cond delay="indefinite"/>
                  </p:stCondLst>
                  <p:endCondLst>
                    <p:cond evt="onStopAudio" delay="0">
                      <p:tgtEl>
                        <p:sldTgt/>
                      </p:tgtEl>
                    </p:cond>
                  </p:endCondLst>
                </p:cTn>
                <p:tgtEl>
                  <p:spTgt spid="2"/>
                </p:tgtEl>
              </p:cMediaNode>
            </p:audio>
          </p:childTnLst>
        </p:cTn>
      </p:par>
    </p:tnLst>
    <p:bldLst>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601C7F6-C07D-133E-098C-9126009E6C70}"/>
              </a:ext>
            </a:extLst>
          </p:cNvPr>
          <p:cNvSpPr/>
          <p:nvPr/>
        </p:nvSpPr>
        <p:spPr>
          <a:xfrm>
            <a:off x="239842" y="668019"/>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Mass, m</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7D82D7C-5B60-1E57-5475-11CE15EAF24A}"/>
                  </a:ext>
                </a:extLst>
              </p:cNvPr>
              <p:cNvSpPr txBox="1"/>
              <p:nvPr/>
            </p:nvSpPr>
            <p:spPr>
              <a:xfrm>
                <a:off x="239842" y="4129747"/>
                <a:ext cx="10163331"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b="1">
                    <a:solidFill>
                      <a:schemeClr val="dk1"/>
                    </a:solidFill>
                    <a:latin typeface="Comic Sans MS" panose="030F0702030302020204" pitchFamily="66"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The total amount of substance in a body </a:t>
                </a:r>
                <a14:m>
                  <m:oMath xmlns:m="http://schemas.openxmlformats.org/officeDocument/2006/math">
                    <m:r>
                      <a:rPr lang="en-US" i="1" dirty="0">
                        <a:latin typeface="Cambria Math" panose="02040503050406030204" pitchFamily="18" charset="0"/>
                      </a:rPr>
                      <m:t>𝑚</m:t>
                    </m:r>
                  </m:oMath>
                </a14:m>
                <a:r>
                  <a:rPr lang="en-US" dirty="0"/>
                  <a:t>, multiplied by its velocity </a:t>
                </a:r>
                <a14:m>
                  <m:oMath xmlns:m="http://schemas.openxmlformats.org/officeDocument/2006/math">
                    <m:r>
                      <a:rPr lang="en-US" i="1">
                        <a:latin typeface="Cambria Math" panose="02040503050406030204" pitchFamily="18" charset="0"/>
                      </a:rPr>
                      <m:t>𝒗</m:t>
                    </m:r>
                  </m:oMath>
                </a14:m>
                <a:r>
                  <a:rPr lang="en-US" dirty="0"/>
                  <a:t> is called momentum. The symbol is </a:t>
                </a:r>
                <a14:m>
                  <m:oMath xmlns:m="http://schemas.openxmlformats.org/officeDocument/2006/math">
                    <m:r>
                      <a:rPr lang="en-US" i="1">
                        <a:latin typeface="Cambria Math" panose="02040503050406030204" pitchFamily="18" charset="0"/>
                      </a:rPr>
                      <m:t>𝑷</m:t>
                    </m:r>
                    <m:r>
                      <a:rPr lang="en-US" i="1">
                        <a:latin typeface="Cambria Math" panose="02040503050406030204" pitchFamily="18" charset="0"/>
                      </a:rPr>
                      <m:t>=</m:t>
                    </m:r>
                    <m:r>
                      <a:rPr lang="en-US" i="1">
                        <a:latin typeface="Cambria Math" panose="02040503050406030204" pitchFamily="18" charset="0"/>
                      </a:rPr>
                      <m:t>𝒎𝒗</m:t>
                    </m:r>
                  </m:oMath>
                </a14:m>
                <a:endParaRPr lang="en-US" dirty="0"/>
              </a:p>
            </p:txBody>
          </p:sp>
        </mc:Choice>
        <mc:Fallback xmlns="">
          <p:sp>
            <p:nvSpPr>
              <p:cNvPr id="10" name="TextBox 9">
                <a:extLst>
                  <a:ext uri="{FF2B5EF4-FFF2-40B4-BE49-F238E27FC236}">
                    <a16:creationId xmlns:a16="http://schemas.microsoft.com/office/drawing/2014/main" id="{97D82D7C-5B60-1E57-5475-11CE15EAF24A}"/>
                  </a:ext>
                </a:extLst>
              </p:cNvPr>
              <p:cNvSpPr txBox="1">
                <a:spLocks noRot="1" noChangeAspect="1" noMove="1" noResize="1" noEditPoints="1" noAdjustHandles="1" noChangeArrowheads="1" noChangeShapeType="1" noTextEdit="1"/>
              </p:cNvSpPr>
              <p:nvPr/>
            </p:nvSpPr>
            <p:spPr>
              <a:xfrm>
                <a:off x="239842" y="4129747"/>
                <a:ext cx="10163331" cy="646331"/>
              </a:xfrm>
              <a:prstGeom prst="rect">
                <a:avLst/>
              </a:prstGeom>
              <a:blipFill>
                <a:blip r:embed="rId5"/>
                <a:stretch>
                  <a:fillRect l="-419" t="-2752" b="-13761"/>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63B0AD37-5394-91EF-0E7D-1D01929C9D49}"/>
              </a:ext>
            </a:extLst>
          </p:cNvPr>
          <p:cNvSpPr/>
          <p:nvPr/>
        </p:nvSpPr>
        <p:spPr>
          <a:xfrm>
            <a:off x="239842" y="3038025"/>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Momentum, p</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0F620C-4E58-F93B-0BE7-51E19A2DC32E}"/>
                  </a:ext>
                </a:extLst>
              </p:cNvPr>
              <p:cNvSpPr txBox="1"/>
              <p:nvPr/>
            </p:nvSpPr>
            <p:spPr>
              <a:xfrm>
                <a:off x="239841" y="1833260"/>
                <a:ext cx="10163331" cy="64633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b="1">
                    <a:solidFill>
                      <a:schemeClr val="dk1"/>
                    </a:solidFill>
                    <a:latin typeface="Comic Sans MS" panose="030F0702030302020204" pitchFamily="66"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algn="l"/>
                <a:r>
                  <a:rPr lang="en-US" dirty="0"/>
                  <a:t>The total amount of substance in a body is called it’s mass, </a:t>
                </a:r>
                <a14:m>
                  <m:oMath xmlns:m="http://schemas.openxmlformats.org/officeDocument/2006/math">
                    <m:r>
                      <a:rPr lang="en-US" b="1" i="1" smtClean="0">
                        <a:latin typeface="Cambria Math" panose="02040503050406030204" pitchFamily="18" charset="0"/>
                      </a:rPr>
                      <m:t>𝒎</m:t>
                    </m:r>
                    <m:r>
                      <a:rPr lang="en-US" b="1" i="1" smtClean="0">
                        <a:latin typeface="Cambria Math" panose="02040503050406030204" pitchFamily="18" charset="0"/>
                      </a:rPr>
                      <m:t>.  </m:t>
                    </m:r>
                  </m:oMath>
                </a14:m>
                <a:r>
                  <a:rPr lang="en-US" dirty="0"/>
                  <a:t> The unit is </a:t>
                </a:r>
                <a14:m>
                  <m:oMath xmlns:m="http://schemas.openxmlformats.org/officeDocument/2006/math">
                    <m:r>
                      <a:rPr lang="en-US" b="1" i="1" smtClean="0">
                        <a:latin typeface="Cambria Math" panose="02040503050406030204" pitchFamily="18" charset="0"/>
                      </a:rPr>
                      <m:t>𝒌𝒈</m:t>
                    </m:r>
                    <m:r>
                      <a:rPr lang="en-US" b="1" i="1" smtClean="0">
                        <a:latin typeface="Cambria Math" panose="02040503050406030204" pitchFamily="18" charset="0"/>
                      </a:rPr>
                      <m:t>. </m:t>
                    </m:r>
                  </m:oMath>
                </a14:m>
                <a:endParaRPr lang="en-US" dirty="0"/>
              </a:p>
            </p:txBody>
          </p:sp>
        </mc:Choice>
        <mc:Fallback xmlns="">
          <p:sp>
            <p:nvSpPr>
              <p:cNvPr id="6" name="TextBox 5">
                <a:extLst>
                  <a:ext uri="{FF2B5EF4-FFF2-40B4-BE49-F238E27FC236}">
                    <a16:creationId xmlns:a16="http://schemas.microsoft.com/office/drawing/2014/main" id="{0C0F620C-4E58-F93B-0BE7-51E19A2DC32E}"/>
                  </a:ext>
                </a:extLst>
              </p:cNvPr>
              <p:cNvSpPr txBox="1">
                <a:spLocks noRot="1" noChangeAspect="1" noMove="1" noResize="1" noEditPoints="1" noAdjustHandles="1" noChangeArrowheads="1" noChangeShapeType="1" noTextEdit="1"/>
              </p:cNvSpPr>
              <p:nvPr/>
            </p:nvSpPr>
            <p:spPr>
              <a:xfrm>
                <a:off x="239841" y="1833260"/>
                <a:ext cx="10163331" cy="646331"/>
              </a:xfrm>
              <a:prstGeom prst="rect">
                <a:avLst/>
              </a:prstGeom>
              <a:blipFill>
                <a:blip r:embed="rId6"/>
                <a:stretch>
                  <a:fillRect l="-419"/>
                </a:stretch>
              </a:blipFill>
            </p:spPr>
            <p:txBody>
              <a:bodyPr/>
              <a:lstStyle/>
              <a:p>
                <a:r>
                  <a:rPr lang="en-US">
                    <a:noFill/>
                  </a:rPr>
                  <a:t> </a:t>
                </a:r>
              </a:p>
            </p:txBody>
          </p:sp>
        </mc:Fallback>
      </mc:AlternateContent>
      <p:pic>
        <p:nvPicPr>
          <p:cNvPr id="3" name="Audio 2">
            <a:hlinkClick r:id="" action="ppaction://media"/>
            <a:extLst>
              <a:ext uri="{FF2B5EF4-FFF2-40B4-BE49-F238E27FC236}">
                <a16:creationId xmlns:a16="http://schemas.microsoft.com/office/drawing/2014/main" id="{35808C11-6CEB-16E1-23E4-03B2680E82FA}"/>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2089236084"/>
      </p:ext>
    </p:extLst>
  </p:cSld>
  <p:clrMapOvr>
    <a:masterClrMapping/>
  </p:clrMapOvr>
  <mc:AlternateContent xmlns:mc="http://schemas.openxmlformats.org/markup-compatibility/2006">
    <mc:Choice xmlns:p14="http://schemas.microsoft.com/office/powerpoint/2010/main" Requires="p14">
      <p:transition spd="slow" p14:dur="2000" advTm="27299"/>
    </mc:Choice>
    <mc:Fallback>
      <p:transition spd="slow" advTm="272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7" fill="hold" display="0">
                  <p:stCondLst>
                    <p:cond delay="indefinite"/>
                  </p:stCondLst>
                  <p:endCondLst>
                    <p:cond evt="onStopAudio" delay="0">
                      <p:tgtEl>
                        <p:sldTgt/>
                      </p:tgtEl>
                    </p:cond>
                  </p:endCondLst>
                </p:cTn>
                <p:tgtEl>
                  <p:spTgt spid="3"/>
                </p:tgtEl>
              </p:cMediaNode>
            </p:audio>
          </p:childTnLst>
        </p:cTn>
      </p:par>
    </p:tnLst>
    <p:bldLst>
      <p:bldP spid="10"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FBA0D1B-8E4C-0795-FED9-2551461ADC4E}"/>
              </a:ext>
            </a:extLst>
          </p:cNvPr>
          <p:cNvSpPr/>
          <p:nvPr/>
        </p:nvSpPr>
        <p:spPr>
          <a:xfrm>
            <a:off x="1351722" y="1298713"/>
            <a:ext cx="9342782" cy="35648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ln w="22225">
                  <a:solidFill>
                    <a:schemeClr val="accent2"/>
                  </a:solidFill>
                  <a:prstDash val="solid"/>
                </a:ln>
                <a:solidFill>
                  <a:schemeClr val="accent2">
                    <a:lumMod val="40000"/>
                    <a:lumOff val="60000"/>
                  </a:schemeClr>
                </a:solidFill>
              </a:rPr>
              <a:t>Circular Motion</a:t>
            </a:r>
          </a:p>
        </p:txBody>
      </p:sp>
      <p:pic>
        <p:nvPicPr>
          <p:cNvPr id="2" name="Audio 1">
            <a:hlinkClick r:id="" action="ppaction://media"/>
            <a:extLst>
              <a:ext uri="{FF2B5EF4-FFF2-40B4-BE49-F238E27FC236}">
                <a16:creationId xmlns:a16="http://schemas.microsoft.com/office/drawing/2014/main" id="{FE523073-3155-BE92-4BD7-F5FE2F3402AD}"/>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142197683"/>
      </p:ext>
    </p:extLst>
  </p:cSld>
  <p:clrMapOvr>
    <a:masterClrMapping/>
  </p:clrMapOvr>
  <mc:AlternateContent xmlns:mc="http://schemas.openxmlformats.org/markup-compatibility/2006">
    <mc:Choice xmlns:p14="http://schemas.microsoft.com/office/powerpoint/2010/main" Requires="p14">
      <p:transition spd="slow" p14:dur="2000" advTm="3654"/>
    </mc:Choice>
    <mc:Fallback>
      <p:transition spd="slow" advTm="36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Displacement</a:t>
            </a:r>
          </a:p>
        </p:txBody>
      </p:sp>
      <p:sp>
        <p:nvSpPr>
          <p:cNvPr id="6" name="Rectangle 5">
            <a:extLst>
              <a:ext uri="{FF2B5EF4-FFF2-40B4-BE49-F238E27FC236}">
                <a16:creationId xmlns:a16="http://schemas.microsoft.com/office/drawing/2014/main" id="{60553BBB-003B-33BD-6D7E-90CEB8D03FB3}"/>
              </a:ext>
            </a:extLst>
          </p:cNvPr>
          <p:cNvSpPr/>
          <p:nvPr/>
        </p:nvSpPr>
        <p:spPr>
          <a:xfrm>
            <a:off x="269823" y="885667"/>
            <a:ext cx="11437496" cy="10468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The angular displacement (θ) of a body in circular motion is defined as the change in angle ( </a:t>
            </a:r>
            <a:r>
              <a:rPr lang="en-US" b="1" dirty="0" err="1">
                <a:latin typeface="Comic Sans MS" panose="030F0702030302020204" pitchFamily="66" charset="0"/>
              </a:rPr>
              <a:t>θf−θi</a:t>
            </a:r>
            <a:r>
              <a:rPr lang="en-US" b="1" dirty="0">
                <a:latin typeface="Comic Sans MS" panose="030F0702030302020204" pitchFamily="66" charset="0"/>
              </a:rPr>
              <a:t>), in radians, of a body as it rotates around a circle. In mathematical terms, It is the ratio of distance traveled around a circle and the radius of the circle.</a:t>
            </a:r>
          </a:p>
        </p:txBody>
      </p:sp>
      <p:pic>
        <p:nvPicPr>
          <p:cNvPr id="11" name="Picture 10" descr="Diagram, venn diagram&#10;&#10;Description automatically generated">
            <a:extLst>
              <a:ext uri="{FF2B5EF4-FFF2-40B4-BE49-F238E27FC236}">
                <a16:creationId xmlns:a16="http://schemas.microsoft.com/office/drawing/2014/main" id="{E7806C79-CEFA-47BC-A993-4A3F415615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23071" y="2113609"/>
            <a:ext cx="3220679" cy="3352434"/>
          </a:xfrm>
          <a:prstGeom prst="rect">
            <a:avLst/>
          </a:prstGeom>
        </p:spPr>
      </p:pic>
      <p:pic>
        <p:nvPicPr>
          <p:cNvPr id="2" name="Audio 1">
            <a:hlinkClick r:id="" action="ppaction://media"/>
            <a:extLst>
              <a:ext uri="{FF2B5EF4-FFF2-40B4-BE49-F238E27FC236}">
                <a16:creationId xmlns:a16="http://schemas.microsoft.com/office/drawing/2014/main" id="{2DFBB398-07B4-E8F3-7176-EB33EF9333A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414967237"/>
      </p:ext>
    </p:extLst>
  </p:cSld>
  <p:clrMapOvr>
    <a:masterClrMapping/>
  </p:clrMapOvr>
  <mc:AlternateContent xmlns:mc="http://schemas.openxmlformats.org/markup-compatibility/2006">
    <mc:Choice xmlns:p14="http://schemas.microsoft.com/office/powerpoint/2010/main" Requires="p14">
      <p:transition spd="slow" p14:dur="2000" advTm="24658"/>
    </mc:Choice>
    <mc:Fallback>
      <p:transition spd="slow" advTm="246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Velocity</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0553BBB-003B-33BD-6D7E-90CEB8D03FB3}"/>
                  </a:ext>
                </a:extLst>
              </p:cNvPr>
              <p:cNvSpPr/>
              <p:nvPr/>
            </p:nvSpPr>
            <p:spPr>
              <a:xfrm>
                <a:off x="269823" y="885667"/>
                <a:ext cx="11437496" cy="123468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 angular velocity is the time rate at which an object rotates or revolves about an axis. Angular velocity is represented by the Greek letter omega (ω, sometimes Ω). It is measured in angle per unit time; hence, the SI unit of angular velocity is radians per second. The relation of linear and circular motion is </a:t>
                </a:r>
                <a14:m>
                  <m:oMath xmlns:m="http://schemas.openxmlformats.org/officeDocument/2006/math">
                    <m:r>
                      <a:rPr lang="en-US" b="1" i="1" smtClean="0">
                        <a:latin typeface="Cambria Math" panose="02040503050406030204" pitchFamily="18" charset="0"/>
                      </a:rPr>
                      <m:t>𝒗</m:t>
                    </m:r>
                    <m:r>
                      <a:rPr lang="en-US" b="1" i="1" smtClean="0">
                        <a:latin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𝝎</m:t>
                    </m:r>
                    <m:r>
                      <a:rPr lang="en-US" b="1" i="1" smtClean="0">
                        <a:latin typeface="Cambria Math" panose="02040503050406030204" pitchFamily="18" charset="0"/>
                        <a:ea typeface="Cambria Math" panose="02040503050406030204" pitchFamily="18" charset="0"/>
                      </a:rPr>
                      <m:t>𝒓</m:t>
                    </m:r>
                  </m:oMath>
                </a14:m>
                <a:r>
                  <a:rPr lang="en-US" b="1" dirty="0">
                    <a:latin typeface="Comic Sans MS" panose="030F0702030302020204" pitchFamily="66" charset="0"/>
                  </a:rPr>
                  <a:t>. </a:t>
                </a: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885667"/>
                <a:ext cx="11437496" cy="1234681"/>
              </a:xfrm>
              <a:prstGeom prst="rect">
                <a:avLst/>
              </a:prstGeom>
              <a:blipFill>
                <a:blip r:embed="rId4"/>
                <a:stretch>
                  <a:fillRect l="-373" b="-5340"/>
                </a:stretch>
              </a:blipFill>
            </p:spPr>
            <p:txBody>
              <a:bodyPr/>
              <a:lstStyle/>
              <a:p>
                <a:r>
                  <a:rPr lang="en-US">
                    <a:noFill/>
                  </a:rPr>
                  <a:t> </a:t>
                </a:r>
              </a:p>
            </p:txBody>
          </p:sp>
        </mc:Fallback>
      </mc:AlternateContent>
      <p:pic>
        <p:nvPicPr>
          <p:cNvPr id="3" name="Picture 2" descr="Diagram&#10;&#10;Description automatically generated">
            <a:extLst>
              <a:ext uri="{FF2B5EF4-FFF2-40B4-BE49-F238E27FC236}">
                <a16:creationId xmlns:a16="http://schemas.microsoft.com/office/drawing/2014/main" id="{6F5185BE-B9C6-27CD-7864-43787A739E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47897" y="2432563"/>
            <a:ext cx="5311246" cy="2987576"/>
          </a:xfrm>
          <a:prstGeom prst="rect">
            <a:avLst/>
          </a:prstGeom>
        </p:spPr>
      </p:pic>
      <p:pic>
        <p:nvPicPr>
          <p:cNvPr id="2" name="Audio 1">
            <a:hlinkClick r:id="" action="ppaction://media"/>
            <a:extLst>
              <a:ext uri="{FF2B5EF4-FFF2-40B4-BE49-F238E27FC236}">
                <a16:creationId xmlns:a16="http://schemas.microsoft.com/office/drawing/2014/main" id="{9A82617C-479E-9DCE-C2BE-422CCB23E93E}"/>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192765243"/>
      </p:ext>
    </p:extLst>
  </p:cSld>
  <p:clrMapOvr>
    <a:masterClrMapping/>
  </p:clrMapOvr>
  <mc:AlternateContent xmlns:mc="http://schemas.openxmlformats.org/markup-compatibility/2006">
    <mc:Choice xmlns:p14="http://schemas.microsoft.com/office/powerpoint/2010/main" Requires="p14">
      <p:transition spd="slow" p14:dur="2000" advTm="33019"/>
    </mc:Choice>
    <mc:Fallback>
      <p:transition spd="slow" advTm="330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Acceleration</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0553BBB-003B-33BD-6D7E-90CEB8D03FB3}"/>
                  </a:ext>
                </a:extLst>
              </p:cNvPr>
              <p:cNvSpPr/>
              <p:nvPr/>
            </p:nvSpPr>
            <p:spPr>
              <a:xfrm>
                <a:off x="269823" y="704538"/>
                <a:ext cx="11437496" cy="17838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In physics, angular acceleration refers rate of change of angular velocity with respect to time. It is usually expressed in radians per second per second. Linear acceleration and circular acceleration is connected by the equation </a:t>
                </a:r>
                <a14:m>
                  <m:oMath xmlns:m="http://schemas.openxmlformats.org/officeDocument/2006/math">
                    <m:r>
                      <a:rPr lang="en-US" b="1" i="1" smtClean="0">
                        <a:latin typeface="Cambria Math" panose="02040503050406030204" pitchFamily="18" charset="0"/>
                      </a:rPr>
                      <m:t>𝒂</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ea typeface="Cambria Math" panose="02040503050406030204" pitchFamily="18" charset="0"/>
                      </a:rPr>
                      <m:t>𝜶</m:t>
                    </m:r>
                  </m:oMath>
                </a14:m>
                <a:endParaRPr lang="en-US"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704538"/>
                <a:ext cx="11437496" cy="1783829"/>
              </a:xfrm>
              <a:prstGeom prst="rect">
                <a:avLst/>
              </a:prstGeom>
              <a:blipFill>
                <a:blip r:embed="rId4"/>
                <a:stretch>
                  <a:fillRect l="-37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3390D03-8472-4612-F70E-12F0371B2D22}"/>
              </a:ext>
            </a:extLst>
          </p:cNvPr>
          <p:cNvPicPr>
            <a:picLocks/>
          </p:cNvPicPr>
          <p:nvPr/>
        </p:nvPicPr>
        <p:blipFill>
          <a:blip r:embed="rId5"/>
          <a:stretch>
            <a:fillRect/>
          </a:stretch>
        </p:blipFill>
        <p:spPr>
          <a:xfrm>
            <a:off x="4784985" y="3429000"/>
            <a:ext cx="1435934" cy="703291"/>
          </a:xfrm>
          <a:prstGeom prst="rect">
            <a:avLst/>
          </a:prstGeom>
        </p:spPr>
      </p:pic>
      <p:pic>
        <p:nvPicPr>
          <p:cNvPr id="2" name="Audio 1">
            <a:hlinkClick r:id="" action="ppaction://media"/>
            <a:extLst>
              <a:ext uri="{FF2B5EF4-FFF2-40B4-BE49-F238E27FC236}">
                <a16:creationId xmlns:a16="http://schemas.microsoft.com/office/drawing/2014/main" id="{1D806F7C-27D4-FFC9-DD00-64B85B570BEE}"/>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4054279553"/>
      </p:ext>
    </p:extLst>
  </p:cSld>
  <p:clrMapOvr>
    <a:masterClrMapping/>
  </p:clrMapOvr>
  <mc:AlternateContent xmlns:mc="http://schemas.openxmlformats.org/markup-compatibility/2006">
    <mc:Choice xmlns:p14="http://schemas.microsoft.com/office/powerpoint/2010/main" Requires="p14">
      <p:transition spd="slow" p14:dur="2000" advTm="28820"/>
    </mc:Choice>
    <mc:Fallback>
      <p:transition spd="slow" advTm="28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Moment of </a:t>
            </a:r>
            <a:r>
              <a:rPr lang="en-US" b="1" dirty="0" err="1">
                <a:latin typeface="Comic Sans MS" panose="030F0702030302020204" pitchFamily="66" charset="0"/>
              </a:rPr>
              <a:t>Intertia</a:t>
            </a:r>
            <a:r>
              <a:rPr lang="en-US" b="1" dirty="0">
                <a:latin typeface="Comic Sans MS" panose="030F0702030302020204" pitchFamily="66" charset="0"/>
              </a:rPr>
              <a:t>, I</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0553BBB-003B-33BD-6D7E-90CEB8D03FB3}"/>
                  </a:ext>
                </a:extLst>
              </p:cNvPr>
              <p:cNvSpPr/>
              <p:nvPr/>
            </p:nvSpPr>
            <p:spPr>
              <a:xfrm>
                <a:off x="269823" y="966865"/>
                <a:ext cx="11437496" cy="15739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The moment of inertia is defined as the product of mass of section and the square of the distance between the reference axis and the centroid of the section. It’s symbol is I. The unit is </a:t>
                </a:r>
                <a14:m>
                  <m:oMath xmlns:m="http://schemas.openxmlformats.org/officeDocument/2006/math">
                    <m:r>
                      <a:rPr lang="en-US" b="1" i="1" smtClean="0">
                        <a:latin typeface="Cambria Math" panose="02040503050406030204" pitchFamily="18" charset="0"/>
                      </a:rPr>
                      <m:t>𝒌𝒈</m:t>
                    </m:r>
                    <m:r>
                      <a:rPr lang="en-US" b="1" i="1" smtClean="0">
                        <a:latin typeface="Cambria Math" panose="02040503050406030204" pitchFamily="18" charset="0"/>
                      </a:rPr>
                      <m:t> </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𝒎</m:t>
                        </m:r>
                      </m:e>
                      <m:sup>
                        <m:r>
                          <a:rPr lang="en-US" b="1" i="1" smtClean="0">
                            <a:latin typeface="Cambria Math" panose="02040503050406030204" pitchFamily="18" charset="0"/>
                          </a:rPr>
                          <m:t>𝟐</m:t>
                        </m:r>
                      </m:sup>
                    </m:sSup>
                  </m:oMath>
                </a14:m>
                <a:r>
                  <a:rPr lang="en-US" b="1" dirty="0">
                    <a:latin typeface="Comic Sans MS" panose="030F0702030302020204" pitchFamily="66" charset="0"/>
                  </a:rPr>
                  <a:t>.</a:t>
                </a:r>
              </a:p>
              <a:p>
                <a:endParaRPr lang="en-US"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966865"/>
                <a:ext cx="11437496" cy="1573967"/>
              </a:xfrm>
              <a:prstGeom prst="rect">
                <a:avLst/>
              </a:prstGeom>
              <a:blipFill>
                <a:blip r:embed="rId4"/>
                <a:stretch>
                  <a:fillRect l="-373" r="-426"/>
                </a:stretch>
              </a:blipFill>
            </p:spPr>
            <p:txBody>
              <a:bodyPr/>
              <a:lstStyle/>
              <a:p>
                <a:r>
                  <a:rPr lang="en-US">
                    <a:noFill/>
                  </a:rPr>
                  <a:t> </a:t>
                </a:r>
              </a:p>
            </p:txBody>
          </p:sp>
        </mc:Fallback>
      </mc:AlternateContent>
      <p:pic>
        <p:nvPicPr>
          <p:cNvPr id="3" name="Picture 2" descr="Text, letter&#10;&#10;Description automatically generated">
            <a:extLst>
              <a:ext uri="{FF2B5EF4-FFF2-40B4-BE49-F238E27FC236}">
                <a16:creationId xmlns:a16="http://schemas.microsoft.com/office/drawing/2014/main" id="{50FC3777-B2A7-F850-4377-1DAE9D14B0D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08794" y="2658819"/>
            <a:ext cx="5643350" cy="2760143"/>
          </a:xfrm>
          <a:prstGeom prst="rect">
            <a:avLst/>
          </a:prstGeom>
        </p:spPr>
      </p:pic>
      <p:pic>
        <p:nvPicPr>
          <p:cNvPr id="2" name="Audio 1">
            <a:hlinkClick r:id="" action="ppaction://media"/>
            <a:extLst>
              <a:ext uri="{FF2B5EF4-FFF2-40B4-BE49-F238E27FC236}">
                <a16:creationId xmlns:a16="http://schemas.microsoft.com/office/drawing/2014/main" id="{6BEE47EA-E4DD-7B5F-0691-FB8841FCFCF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566375117"/>
      </p:ext>
    </p:extLst>
  </p:cSld>
  <p:clrMapOvr>
    <a:masterClrMapping/>
  </p:clrMapOvr>
  <mc:AlternateContent xmlns:mc="http://schemas.openxmlformats.org/markup-compatibility/2006">
    <mc:Choice xmlns:p14="http://schemas.microsoft.com/office/powerpoint/2010/main" Requires="p14">
      <p:transition spd="slow" p14:dur="2000" advTm="27352"/>
    </mc:Choice>
    <mc:Fallback>
      <p:transition spd="slow" advTm="273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Angular Momentum, L</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0553BBB-003B-33BD-6D7E-90CEB8D03FB3}"/>
                  </a:ext>
                </a:extLst>
              </p:cNvPr>
              <p:cNvSpPr/>
              <p:nvPr/>
            </p:nvSpPr>
            <p:spPr>
              <a:xfrm>
                <a:off x="269823" y="966865"/>
                <a:ext cx="11437496" cy="157396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The angular momentum of a rigid object is defined as the product of the moment of inertia and the angular velocity. So </a:t>
                </a:r>
                <a14:m>
                  <m:oMath xmlns:m="http://schemas.openxmlformats.org/officeDocument/2006/math">
                    <m:r>
                      <a:rPr lang="en-US" b="1" i="1" smtClean="0">
                        <a:latin typeface="Cambria Math" panose="02040503050406030204" pitchFamily="18" charset="0"/>
                      </a:rPr>
                      <m:t>𝑳</m:t>
                    </m:r>
                    <m:r>
                      <a:rPr lang="en-US" b="1" i="1" smtClean="0">
                        <a:latin typeface="Cambria Math" panose="02040503050406030204" pitchFamily="18" charset="0"/>
                      </a:rPr>
                      <m:t>=</m:t>
                    </m:r>
                    <m:r>
                      <a:rPr lang="en-US" b="1" i="1" smtClean="0">
                        <a:latin typeface="Cambria Math" panose="02040503050406030204" pitchFamily="18" charset="0"/>
                      </a:rPr>
                      <m:t>𝑰</m:t>
                    </m:r>
                    <m:r>
                      <a:rPr lang="en-US" b="1" i="1" smtClean="0">
                        <a:latin typeface="Cambria Math" panose="02040503050406030204" pitchFamily="18" charset="0"/>
                      </a:rPr>
                      <m:t> × </m:t>
                    </m:r>
                    <m:r>
                      <a:rPr lang="en-US" b="1" i="1" smtClean="0">
                        <a:latin typeface="Cambria Math" panose="02040503050406030204" pitchFamily="18" charset="0"/>
                        <a:ea typeface="Cambria Math" panose="02040503050406030204" pitchFamily="18" charset="0"/>
                      </a:rPr>
                      <m:t>𝝎</m:t>
                    </m:r>
                  </m:oMath>
                </a14:m>
                <a:r>
                  <a:rPr lang="en-US" b="1" dirty="0">
                    <a:latin typeface="Comic Sans MS" panose="030F0702030302020204" pitchFamily="66" charset="0"/>
                  </a:rPr>
                  <a:t> . Again </a:t>
                </a:r>
                <a14:m>
                  <m:oMath xmlns:m="http://schemas.openxmlformats.org/officeDocument/2006/math">
                    <m:r>
                      <a:rPr lang="en-US" b="1" i="1" smtClean="0">
                        <a:latin typeface="Cambria Math" panose="02040503050406030204" pitchFamily="18" charset="0"/>
                      </a:rPr>
                      <m:t>𝑳</m:t>
                    </m:r>
                    <m:r>
                      <a:rPr lang="en-US" b="1" i="1" smtClean="0">
                        <a:latin typeface="Cambria Math" panose="02040503050406030204" pitchFamily="18" charset="0"/>
                      </a:rPr>
                      <m:t>=</m:t>
                    </m:r>
                    <m:r>
                      <a:rPr lang="en-US" b="1" i="1" smtClean="0">
                        <a:latin typeface="Cambria Math" panose="02040503050406030204" pitchFamily="18" charset="0"/>
                      </a:rPr>
                      <m:t>𝒓</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𝒑</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𝒓𝒎𝒗</m:t>
                    </m:r>
                  </m:oMath>
                </a14:m>
                <a:endParaRPr lang="en-US" b="1" dirty="0">
                  <a:latin typeface="Comic Sans MS" panose="030F0702030302020204" pitchFamily="66" charset="0"/>
                </a:endParaRPr>
              </a:p>
            </p:txBody>
          </p:sp>
        </mc:Choice>
        <mc:Fallback xmlns="">
          <p:sp>
            <p:nvSpPr>
              <p:cNvPr id="6" name="Rectangle 5">
                <a:extLst>
                  <a:ext uri="{FF2B5EF4-FFF2-40B4-BE49-F238E27FC236}">
                    <a16:creationId xmlns:a16="http://schemas.microsoft.com/office/drawing/2014/main" id="{60553BBB-003B-33BD-6D7E-90CEB8D03FB3}"/>
                  </a:ext>
                </a:extLst>
              </p:cNvPr>
              <p:cNvSpPr>
                <a:spLocks noRot="1" noChangeAspect="1" noMove="1" noResize="1" noEditPoints="1" noAdjustHandles="1" noChangeArrowheads="1" noChangeShapeType="1" noTextEdit="1"/>
              </p:cNvSpPr>
              <p:nvPr/>
            </p:nvSpPr>
            <p:spPr>
              <a:xfrm>
                <a:off x="269823" y="966865"/>
                <a:ext cx="11437496" cy="1573967"/>
              </a:xfrm>
              <a:prstGeom prst="rect">
                <a:avLst/>
              </a:prstGeom>
              <a:blipFill>
                <a:blip r:embed="rId4"/>
                <a:stretch>
                  <a:fillRect l="-373" r="-1118"/>
                </a:stretch>
              </a:blipFill>
            </p:spPr>
            <p:txBody>
              <a:bodyPr/>
              <a:lstStyle/>
              <a:p>
                <a:r>
                  <a:rPr lang="en-US">
                    <a:noFill/>
                  </a:rPr>
                  <a:t> </a:t>
                </a:r>
              </a:p>
            </p:txBody>
          </p:sp>
        </mc:Fallback>
      </mc:AlternateContent>
      <p:pic>
        <p:nvPicPr>
          <p:cNvPr id="4" name="Picture 3" descr="Diagram, text&#10;&#10;Description automatically generated">
            <a:extLst>
              <a:ext uri="{FF2B5EF4-FFF2-40B4-BE49-F238E27FC236}">
                <a16:creationId xmlns:a16="http://schemas.microsoft.com/office/drawing/2014/main" id="{FBC8B541-211D-A3FE-8423-7611C65A82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94622" y="2540832"/>
            <a:ext cx="6153957" cy="2999926"/>
          </a:xfrm>
          <a:prstGeom prst="rect">
            <a:avLst/>
          </a:prstGeom>
        </p:spPr>
      </p:pic>
      <p:pic>
        <p:nvPicPr>
          <p:cNvPr id="2" name="Audio 1">
            <a:hlinkClick r:id="" action="ppaction://media"/>
            <a:extLst>
              <a:ext uri="{FF2B5EF4-FFF2-40B4-BE49-F238E27FC236}">
                <a16:creationId xmlns:a16="http://schemas.microsoft.com/office/drawing/2014/main" id="{4F1CE57B-07B4-9A6A-1AED-31D72835067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543808667"/>
      </p:ext>
    </p:extLst>
  </p:cSld>
  <p:clrMapOvr>
    <a:masterClrMapping/>
  </p:clrMapOvr>
  <mc:AlternateContent xmlns:mc="http://schemas.openxmlformats.org/markup-compatibility/2006">
    <mc:Choice xmlns:p14="http://schemas.microsoft.com/office/powerpoint/2010/main" Requires="p14">
      <p:transition spd="slow" p14:dur="2000" advTm="16068"/>
    </mc:Choice>
    <mc:Fallback>
      <p:transition spd="slow" advTm="160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54375E-9D20-A556-C144-C1C7F7B0E1C4}"/>
              </a:ext>
            </a:extLst>
          </p:cNvPr>
          <p:cNvSpPr/>
          <p:nvPr/>
        </p:nvSpPr>
        <p:spPr>
          <a:xfrm>
            <a:off x="269823" y="179882"/>
            <a:ext cx="2848131" cy="5246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Comic Sans MS" panose="030F0702030302020204" pitchFamily="66" charset="0"/>
              </a:rPr>
              <a:t>Torque</a:t>
            </a:r>
          </a:p>
        </p:txBody>
      </p:sp>
      <p:sp>
        <p:nvSpPr>
          <p:cNvPr id="6" name="Rectangle 5">
            <a:extLst>
              <a:ext uri="{FF2B5EF4-FFF2-40B4-BE49-F238E27FC236}">
                <a16:creationId xmlns:a16="http://schemas.microsoft.com/office/drawing/2014/main" id="{60553BBB-003B-33BD-6D7E-90CEB8D03FB3}"/>
              </a:ext>
            </a:extLst>
          </p:cNvPr>
          <p:cNvSpPr/>
          <p:nvPr/>
        </p:nvSpPr>
        <p:spPr>
          <a:xfrm>
            <a:off x="269823" y="966866"/>
            <a:ext cx="11922177" cy="21473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omic Sans MS" panose="030F0702030302020204" pitchFamily="66" charset="0"/>
              </a:rPr>
              <a:t>Torque is a measure of the force that can cause an object to rotate about an axis. Just as force causes an object to accelerate in linear kinematics, torque causes an object to acquire angular acceleration. Torque is a vector quantity.</a:t>
            </a:r>
          </a:p>
        </p:txBody>
      </p:sp>
      <p:pic>
        <p:nvPicPr>
          <p:cNvPr id="4" name="Picture 3" descr="A picture containing diagram&#10;&#10;Description automatically generated">
            <a:extLst>
              <a:ext uri="{FF2B5EF4-FFF2-40B4-BE49-F238E27FC236}">
                <a16:creationId xmlns:a16="http://schemas.microsoft.com/office/drawing/2014/main" id="{4B61AE75-4B23-ECD9-E596-06C402A6C6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1880" y="3270573"/>
            <a:ext cx="4683738" cy="3278617"/>
          </a:xfrm>
          <a:prstGeom prst="rect">
            <a:avLst/>
          </a:prstGeom>
        </p:spPr>
      </p:pic>
      <p:pic>
        <p:nvPicPr>
          <p:cNvPr id="2" name="Audio 1">
            <a:hlinkClick r:id="" action="ppaction://media"/>
            <a:extLst>
              <a:ext uri="{FF2B5EF4-FFF2-40B4-BE49-F238E27FC236}">
                <a16:creationId xmlns:a16="http://schemas.microsoft.com/office/drawing/2014/main" id="{58DA148E-AE35-91B7-211B-02DF23EBBB1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933190979"/>
      </p:ext>
    </p:extLst>
  </p:cSld>
  <p:clrMapOvr>
    <a:masterClrMapping/>
  </p:clrMapOvr>
  <mc:AlternateContent xmlns:mc="http://schemas.openxmlformats.org/markup-compatibility/2006">
    <mc:Choice xmlns:p14="http://schemas.microsoft.com/office/powerpoint/2010/main" Requires="p14">
      <p:transition spd="slow" p14:dur="2000" advTm="28728"/>
    </mc:Choice>
    <mc:Fallback>
      <p:transition spd="slow" advTm="287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text, receipt&#10;&#10;Description automatically generated">
            <a:extLst>
              <a:ext uri="{FF2B5EF4-FFF2-40B4-BE49-F238E27FC236}">
                <a16:creationId xmlns:a16="http://schemas.microsoft.com/office/drawing/2014/main" id="{10C9C3FB-4F52-4B76-3029-30142E9F3A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3870" y="-18721"/>
            <a:ext cx="8589364" cy="6569423"/>
          </a:xfrm>
          <a:prstGeom prst="rect">
            <a:avLst/>
          </a:prstGeom>
        </p:spPr>
      </p:pic>
      <p:pic>
        <p:nvPicPr>
          <p:cNvPr id="2" name="Audio 1">
            <a:hlinkClick r:id="" action="ppaction://media"/>
            <a:extLst>
              <a:ext uri="{FF2B5EF4-FFF2-40B4-BE49-F238E27FC236}">
                <a16:creationId xmlns:a16="http://schemas.microsoft.com/office/drawing/2014/main" id="{9BD93F7A-482F-66C4-8B5F-7A042EA7FA7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036548111"/>
      </p:ext>
    </p:extLst>
  </p:cSld>
  <p:clrMapOvr>
    <a:masterClrMapping/>
  </p:clrMapOvr>
  <mc:AlternateContent xmlns:mc="http://schemas.openxmlformats.org/markup-compatibility/2006">
    <mc:Choice xmlns:p14="http://schemas.microsoft.com/office/powerpoint/2010/main" Requires="p14">
      <p:transition spd="slow" p14:dur="2000" advTm="7271"/>
    </mc:Choice>
    <mc:Fallback>
      <p:transition spd="slow" advTm="72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pic>
        <p:nvPicPr>
          <p:cNvPr id="4" name="Audio 3">
            <a:hlinkClick r:id="" action="ppaction://media"/>
            <a:extLst>
              <a:ext uri="{FF2B5EF4-FFF2-40B4-BE49-F238E27FC236}">
                <a16:creationId xmlns:a16="http://schemas.microsoft.com/office/drawing/2014/main" id="{44656AE5-E905-7CDB-F290-D7256D7C74E8}"/>
              </a:ext>
            </a:extLst>
          </p:cNvPr>
          <p:cNvPicPr>
            <a:picLocks noChangeAspect="1"/>
          </p:cNvPicPr>
          <p:nvPr>
            <a:audioFile r:link="rId3"/>
            <p:extLst>
              <p:ext uri="{DAA4B4D4-6D71-4841-9C94-3DE7FCFB9230}">
                <p14:media xmlns:p14="http://schemas.microsoft.com/office/powerpoint/2010/main" r:embed="rId2"/>
              </p:ext>
            </p:extLst>
          </p:nvPr>
        </p:nvPicPr>
        <p:blipFill>
          <a:blip r:embed="rId7"/>
          <a:srcRect l="-200000" t="-90625" r="-200000" b="-90625"/>
          <a:stretch>
            <a:fillRect/>
          </a:stretch>
        </p:blipFill>
        <p:spPr>
          <a:xfrm>
            <a:off x="9144000" y="5143500"/>
            <a:ext cx="3048000" cy="1714500"/>
          </a:xfrm>
          <a:prstGeom prst="rect">
            <a:avLst/>
          </a:prstGeom>
        </p:spPr>
      </p:pic>
    </p:spTree>
    <p:custDataLst>
      <p:tags r:id="rId1"/>
    </p:custDataLst>
    <p:extLst>
      <p:ext uri="{BB962C8B-B14F-4D97-AF65-F5344CB8AC3E}">
        <p14:creationId xmlns:p14="http://schemas.microsoft.com/office/powerpoint/2010/main" val="62431250"/>
      </p:ext>
    </p:extLst>
  </p:cSld>
  <p:clrMapOvr>
    <a:masterClrMapping/>
  </p:clrMapOvr>
  <mc:AlternateContent xmlns:mc="http://schemas.openxmlformats.org/markup-compatibility/2006">
    <mc:Choice xmlns:p14="http://schemas.microsoft.com/office/powerpoint/2010/main" Requires="p14">
      <p:transition p14:dur="10" advTm="3751"/>
    </mc:Choice>
    <mc:Fallback>
      <p:transition advTm="37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B1287C85-437A-430B-8FE4-3289BF99FFE1}"/>
  <p:tag name="GENSWF_ADVANCE_TIME" val="14.667"/>
</p:tagLst>
</file>

<file path=ppt/tags/tag2.xml><?xml version="1.0" encoding="utf-8"?>
<p:tagLst xmlns:a="http://schemas.openxmlformats.org/drawingml/2006/main" xmlns:r="http://schemas.openxmlformats.org/officeDocument/2006/relationships" xmlns:p="http://schemas.openxmlformats.org/presentationml/2006/main">
  <p:tag name="TIMING" val="|2.2"/>
</p:tagLst>
</file>

<file path=ppt/tags/tag3.xml><?xml version="1.0" encoding="utf-8"?>
<p:tagLst xmlns:a="http://schemas.openxmlformats.org/drawingml/2006/main" xmlns:r="http://schemas.openxmlformats.org/officeDocument/2006/relationships" xmlns:p="http://schemas.openxmlformats.org/presentationml/2006/main">
  <p:tag name="TIMING" val="|1.2"/>
</p:tagLst>
</file>

<file path=ppt/tags/tag4.xml><?xml version="1.0" encoding="utf-8"?>
<p:tagLst xmlns:a="http://schemas.openxmlformats.org/drawingml/2006/main" xmlns:r="http://schemas.openxmlformats.org/officeDocument/2006/relationships" xmlns:p="http://schemas.openxmlformats.org/presentationml/2006/main">
  <p:tag name="TIMING" val="|1.2"/>
</p:tagLst>
</file>

<file path=ppt/tags/tag5.xml><?xml version="1.0" encoding="utf-8"?>
<p:tagLst xmlns:a="http://schemas.openxmlformats.org/drawingml/2006/main" xmlns:r="http://schemas.openxmlformats.org/officeDocument/2006/relationships" xmlns:p="http://schemas.openxmlformats.org/presentationml/2006/main">
  <p:tag name="TIMING" val="|4.4"/>
</p:tagLst>
</file>

<file path=ppt/tags/tag6.xml><?xml version="1.0" encoding="utf-8"?>
<p:tagLst xmlns:a="http://schemas.openxmlformats.org/drawingml/2006/main" xmlns:r="http://schemas.openxmlformats.org/officeDocument/2006/relationships" xmlns:p="http://schemas.openxmlformats.org/presentationml/2006/main">
  <p:tag name="TIMING" val="|1.6|0.7"/>
</p:tagLst>
</file>

<file path=ppt/tags/tag7.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5E75238E-DA07-41AD-9DA8-61EA05A32149}"/>
  <p:tag name="GENSWF_ADVANCE_TIME" val="7.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48F59694-3D03-4CC5-99CE-7B0BFE8919C6}">
  <we:reference id="wa200004052" version="1.0.0.2" store="en-US" storeType="OMEX"/>
  <we:alternateReferences>
    <we:reference id="WA200004052" version="1.0.0.2" store="WA200004052" storeType="OMEX"/>
  </we:alternateReferences>
  <we:properties>
    <we:property name="holatex.main" value="{&quot;pictures&quot;:[{&quot;name&quot;:&quot;Latex&quot;,&quot;code&quot;:&quot;\\begin{document}\n\n$\\frac{\\Delta v}{\\Delta t}$\n\\end{document}&quot;},{&quot;name&quot;:&quot;Latex&quot;,&quot;code&quot;:&quot;\\begin{document}\n\n$\\frac{\\Delta v}{\\Delta t}$\n\\end{document}&quot;},{&quot;name&quot;:&quot;Latex&quot;,&quot;code&quot;:&quot;\\begin{document}\n\n$\\frac{\\Delta v}{\\Delta t}$\n\n\\end{document}&quot;},{&quot;name&quot;:&quot;Latex&quot;,&quot;code&quot;:&quot;\\begin{document}\n\n$\\frac{\\Delta v}{\\Delta t}$\n\n\\end{document}&quot;},{&quot;name&quot;:&quot;Latex&quot;,&quot;code&quot;:&quot;\\begin{document}\n\n$\\lim_{x\\to\\infty} \\frac{dx}{dt}$\n\n\\end{document}&quot;},{&quot;name&quot;:&quot;Latex&quot;,&quot;code&quot;:&quot;\\begin{document}\n\n$\\lim_{x\\to\\infty} \\frac{dx}{dt}$\n\n\\end{document}&quot;},{&quot;name&quot;:&quot;Latex&quot;,&quot;code&quot;:&quot;\\begin{document}\n\n$\\lim_{x\\to\\infty} \\frac{dx}{dt}$\n\n\\end{document}&quot;},{&quot;name&quot;:&quot;Latex&quot;,&quot;code&quot;:&quot;\\begin{document}\n\n$\\lim_{x\\to 0} \\frac{dx}{dt}$\n\n\\end{document}&quot;},{&quot;name&quot;:&quot;Latex&quot;,&quot;code&quot;:&quot;\\begin{document}\n\n\n$ms^-2$\n\n\\end{document}&quot;},{&quot;name&quot;:&quot;Latex&quot;,&quot;code&quot;:&quot;\\begin{document}\n\n\n$\\alpha = \\frac{d\\omega}{dt}$\n\n\\end{document}&quot;},{&quot;name&quot;:&quot;Latex&quot;,&quot;code&quot;:&quot;\\begin{document}\n\n\n\n$\\frac{dx}{dt}\n\\end{document}&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429416C-4A9D-4388-BC14-1F36E5A50E46}">
  <we:reference id="wa104381909" version="3.5.0.0" store="en-US" storeType="OMEX"/>
  <we:alternateReferences>
    <we:reference id="WA104381909" version="3.5.0.0" store="WA104381909" storeType="OMEX"/>
  </we:alternateReferences>
  <we:properties>
    <we:property name="EQUATION_HISTORY" value="&quot;[{\&quot;mathml\&quot;:\&quot;&lt;math style=\\\&quot;font-family:stix;font-size:16px;\\\&quot; xmlns=\\\&quot;http://www.w3.org/1998/Math/MathML\\\&quot;&gt;&lt;mstyle mathsize=\\\&quot;16px\\\&quot;&gt;&lt;mi&gt;f&lt;/mi&gt;&lt;mi&gt;r&lt;/mi&gt;&lt;mi&gt;a&lt;/mi&gt;&lt;mi&gt;c&lt;/mi&gt;&lt;mfenced open=\\\&quot;{\\\&quot; close=\\\&quot;}\\\&quot;&gt;&lt;mrow&gt;&lt;mi&gt;i&lt;/mi&gt;&lt;mi&gt;n&lt;/mi&gt;&lt;mi&gt;c&lt;/mi&gt;&lt;mfenced open=\\\&quot;{\\\&quot; close=\\\&quot;}\\\&quot;&gt;&lt;mi&gt;v&lt;/mi&gt;&lt;/mfenced&gt;&lt;/mrow&gt;&lt;/mfenced&gt;&lt;mfenced open=\\\&quot;{\\\&quot; close=\\\&quot;}\\\&quot;&gt;&lt;mrow&gt;&lt;mi&gt;i&lt;/mi&gt;&lt;mi&gt;n&lt;/mi&gt;&lt;mi&gt;c&lt;/mi&gt;&lt;mfenced open=\\\&quot;{\\\&quot; close=\\\&quot;}\\\&quot;&gt;&lt;mi&gt;t&lt;/mi&gt;&lt;/mfenced&gt;&lt;/mrow&gt;&lt;/mfenced&gt;&lt;mspace linebreak=\\\&quot;newline\\\&quot;/&gt;&lt;mspace linebreak=\\\&quot;newline\\\&quot;/&gt;&lt;/mstyle&gt;&lt;/math&gt;\&quot;,\&quot;base64Image\&quot;:\&quot;iVBORw0KGgoAAAANSUhEUgAAA6oAAAC3CAYAAAAb3KPGAAAACXBIWXMAAA7EAAAOxAGVKw4bAAAABGJhU0UAAAC24iaEJwAAIAJJREFUeNrt3Q/kXeX/APDHzEwSmckkkcxMEklmZkZmZjKRyUwyJkkykSTJxMwkkzEzSTJmZjLzJZNJMjKTJGMmyczIZGYy+t3nu3N/u99P9z7Pufeec+855/N6cfz6ffe59zznnPd5n+c89/kTQvts6m0Hett/etufve1Ob/u7t93qbRd72+e9bVtvWxKgmx7ubdt728e97XhvO9vbrhf3QLwf7jpFiOFF6W5x/uJ5vFE8J+P53d/bXuptK5XfvQBiWC6Ti6sVXzrf6m1Xe9s/JbffihdW6IJlvW1Pb/suEfOXets7vW2N04UYXpTWFOfvUuIcX+htbxTXQ/ndCyCG5bLFmosr8Xxv+3XByblSnJxVAzfMeyNO5HvyCS23pbf9nkgW53vb+oaV+blwrwXudrF93duecSnFcItiuO3WFed11DmP12Oz8rsX5HPkc7lsEebiSsTWmrsLTsiXvW35kL9dmjiJG90ntNSbibiOXd53N7DM20eUN97LO1xSMdyCGO6S3cV5HnUNXlN+94J8jnwuly2iXFyJD4achGOJv9+bOHln3R+00KaQ7t6+tYFljmNV/kqUOY550JVNDDc5hrtoS+Y6rFd+94J8jnwuly2CXFyJt4cc/I/h3q+mo1xJnLjb7g1aJo7LvpyI6QMNLfcbIT9+/JjLK4YbHMNdtT9xLX5RfveCfI58LpctgvJPbXMY3sVkbeZz/3hRpUNeCunuNQ81tNxflKjY3HB5xXCDY7irHgz3fgFr668hbS6/fI58jlzcAXG64+tDDvrTEp9N/aL6tfuCljmRiOfjDS738VBuVm7EMM26P48rv3tBPkc+l8sWQfkndjoMb6l5pMRn3w6jx1CsdU/QMqnWqp0NLvehEpWa311eMez0zMUriWtyS/ndC/I58rlctgjKP5EXRxzwkTG+45MFn/0j3Bv8DW2yOlMxaPKyAJtLVGwOusRi2Cmai6cy1+Vx5XcvyOfI53JZx8s/tjhI+0pFN0A8OS+He32kl7oXaKHtmQSwpOHl/yGkW99XuMRi2Cmai6WZ67JN+d0L8jnyuVzW8fKP7fURB/qTWGYR2hXaPTFYHGs+bHHoOHP34y6vGHZ65iq1Dt4ryu9ekM+Rz+WyRVD+0mJLzG8jDvRdccwitCdx8//VouNYF+4tAB0Xid7osorhFsZwF6XWxXxN+d0L8jkdz+cxfuOcOBvkskVd/tJSA3KfkB9YhN5QyUcMM4fKxV7ldy9Ah2P4sd52syj763LZoi5/ad+POMif5QY8FFRsEMPMrHLxmfK7F6CjMbxkwTvHU3LZoi5/KalZoz6RG/BQULFBDKNy4UUVxPCUjgyU+7pc5kW1jE8SB7lVbsBDQcUGMYzKhRdVEMNTeGdBub+Qy7yo5sSf4K+NOMA4k5SlZfBQULFBDKNy4UUVxHCV5d8hl3lRzXkhcYDfyQt4KKjYIIZRufCiCmJ4QntHlLsJ6//KxQ13JHGAB+UFPBRUbBDDqFx4UQUxPIFRwwsvymXKX8aNxAFulxfwUFCxQQyjcuFFFcTwGB7ubWcSZT4glyl/zsbEwcVtpbyAh4KKDWIYlQsvqiCGS1rX265m3jE2y2XKn5Oa7fe6nICHgooNYhiVCy+qIIZLeDDzbjE4WesSuUz5c1KtHSc7eJMv621bettrve1Yb/umt90c4/NP97bDve334iaLsyXHcbwPz6Dsz/S2d3vbid72a2+7XZQh/t+finI9P+Rza3vbq0Wwftnbvu5tvxWf2zKHa7CmKM/n4V6XkBsDx3Knt/3Z2073to/C/BeBbnvFZlW4130/xs3x3vZLb9tUw36e7G0v9bb9ve1UcW4eHPM7Ypzu623fFp/vx3ZcFPyD0IwJF8RwPR4p4ifm0kvFOXy5ou+Os9Z/WOS8v4tn3v4Z5WyVI5V8+Vw+XywxvLKIzRslXlL/KeqicpnyJz2bCaIPW3xssZXmuXBv2utPimR7fcRxnivxfSuKl7xR5+rXmhJv/M73e9uVkjf+P8WL7GAl7HTibx+f0fVYXTz0ro5xHP3tfPGS7qGQfkBsXdAAc2tIme9OWUFfVlSM+vv5tniQL9zP92N8Z3zwny0RB9dHNMQEMdyqGO5Xgj8u8vKoSk1VDaUnR3x/fHF9TOXCi6p8Lp/L51PFamyQ+LGIx38q3D6Sy7pd/t8qDpjc9vicj3dd0UrXb2Uc54bJvZBvSLzkDm6HK35B3V+06i18MJ0sXsAfDfe7TcQK1zsDlb74YOmvf3t7RHkvzei6/GfIvq8VN0+ssD4ycBzxwbkt3PuFeOFx7/FQ+P9f9L8sGiB+GVGxGLX9MOYDaHtxf5wYM6e8W+L7lxYvK+Pcq38W8TLr3CKGJ7e+iNcLY8bqrQr2vSazj5+L66Vy4UVVPpfP5fPxPFaybjzptl0u6275V834JfVWA4751BTlT3WdeWWMxFtVf/vXiwS+8PuPFi+nucTx+8ALeOpX8zpnW3syDP8lN/7yvLPEeXpkRJlfXeQVm11T3qv7Su7n5Sn3s6ZEjrow4XfPapZAMVyN+MvQmSJHnyr++1bJa/1kBfvO7eNNlQsvqvK5fC6fj+2Vmt8t1spl3S3/jhm/qJ5uwDHHVrItRTKJYylWFwnk8hQvl5M8RNZMcQwx2Z8b8p3xxXPDGN+zcaC18q0w+9nW9g5pFY4v+++P8SK/ekSZb5d4We9yxWZJEd8PhXtd27cUcfpNyfjcWHI/sUtWbOU/UbxY3BzjHric+e6npmyF/XkG51kM1x/Hb5S41tOOU11dYh/fh/lROVrcL6ryuXzehXw+Smqs6qdymfJP2xJyNHTDquJldNRxnh3xuW0TJt3nJizn5hHJ/rsw2RJBl4rP3wizm21txYgX7Xhc6yd4sDRh3a02PRS+zcTm7Smv+eqQXg+tvx3MVJgGewtcKc7xquLfY0PPT5nvv1PjORTDs/XuFLFU1g8l7guVCy+q8rl8Lp9X5+nMdd8mlyl/zuFMEO0I3XE+cZzvDfn758L/juv8tmj9ybUaxha6ScY7jfrVM7aqLp/wmI9lynqm4nMcJxYYNublWvFArPIh/fMMY6dNFZvPM9f8eAX7WJZp+PknUQGI99VgS37strZ0ROVnHhUbMTx7saL9+wQNieNYm3mI35nj8asceVGVz+XzLsbwW5m68lK5TPlzvg/NnhypSqluNOsW/O2qIpH1f3XcOfBv60J+JrhxHUx81/Ipjjn3S8XbFZ7fzSNukvi/PTvB960I6XHBs6xYph4KNxsW57lx2lVN/JBKiDdGfGb1QENPHJ+4LfPy8s+MH8ZieH4+DvX/2rkpjB4X+4fKhRdV+Vw+l89nFr/fymXKn7Mkc9PdCN3yZyjXdSb+92A3sWEzjqV+id4wZrk+C6OXupl2jb8PMw+Hpys6ty+G0S2yk3btyHVLn2VXvTdadJ/k1i57bAa549iQz8Su678NPEjXldhHblmDKonh+Vo/g7gNRdwNe5ifbOg924bKRdvKL5/L5/L5bN4xbod2LX0pFzdM7pfBEx16SV0ayk8CNfjr5jsjvi/+yrmwK3FsUdw5ZrkOJlrEnqjguA/PIJltTTzk9k/xvblJrM7OMH4+S5TjQoPiPDdpzOWK9pPrxrWwcSd2Lftu4GFepjEnN2t5lb+AieFmVGrujBFT09gTJlt6oy6XWl65aFv55XP5XD6v34ZQzSRgctniKX+ph3Vd3ULn7YXEce4d8XdlWthjy9zucG9WyhVjluntGVTKvgj1jm1ZH9Lrs04zycPjId3KO8tFwo8kynGqQXH+duaePlTRflK/1P8d/j3uZHCc1dYxKhupY7lW0bGI4ebEcGp4xr4K9zPs151n5njcXyeO+0gLnq9tK798Lp/L5/V7P9Q3CZhc1s3y/8tXmcSxIXTHByE/Q2/sZvtHuL8UzIoay5NK2p9XuJ/Tif3smvK7Y9Ie1c0gJvMquhUPG2N7p4Kyj+t4aMfM2Ocy9/SLFe0nNaHEwp4Yuyds/Hoz1D/5hhhuVgynfiWosmvuwhfVy3M+7robFJVfPpfP5fMmxe8puUz5y/g1TLauaBudC/kxBYMtVFtqLEtccHrUgOdrYfpxqYOuJq7xNGt+xa4/qS4Ghyo8hvVF4v2qaHCYxwRfqaUtXm1IjC8P6dbeYS3jk3ggs5/BB/bT4X53zi/H3M+Xod5ub2K4eTGcGgNW5Ri2Zxd89wdzPu7doR1dUbtSfvlcPpfP67U0pGeSflsuU/4yySmVNL4N3bE0kYhPDiSe/v/2RY1lWZJJprtmdNzTPhRSv3zEsborFkn8/FM0PDTBS5l7+psZ7OfuQEPLAwONYT+H8Wevzq27d0gMdy6Gc2Oalle0n70LKvyPzPm414R2LeHQ5vLL5/K5fF6/LZnr/ZRcpvw520L9C6w3xYuJ43xzQRL9s+aEtj9Rlh8q3tfGUE9f9U2Z2NkXuuXVxLF+36By5tbMfaei/RwN5ZZmOjpQSRh3vbpcQ9q0C4WL4WbG8LLMddla0X4Gl2U71pBjv5g47p0tiLG2lF8+l8/l8/ql6ro35DLlL+ODMJuxD03waUgvzzL4U/nrNZbjmcw5r3ogfmqh5ZemqEheCenuSCs79lBI/QK+qUHlvBZmsxTR5ZDvzrM9TNdLYHvmWKbp9iaGmxvDUWoduCp6nCxscV7TkONONR5fakGMtaX88rl8Lp/X70Jo71hJubghcotIP9yhm3rUWNw/i+T4+4wuYCq5nJnxNZ70+r6fiZtjoVtSrYIfNaicz4XZrFH3ZGY/TxSVgutTPpAOhfq6vYnhZsZw35lQ7yQhnzW4wnQgcewHWhBrTS+/fC6fy+f1ezCkuya/Kpcpfxk3Q/1rczXBo5lWnbdn1BL1RiaZPlvx/lJrEk76Qh5fbv/KHMe6jsTN8jC661U8B7sbVt4PM9elqnHXqSWt+nF1MtxfF2/SbvS/hnq6vYnh5sZwX2o2+mlnilw5kBfvhuaMRxwUe/XcCqOHbCxveNw1sfzyuXwun89Obnz1Yy0553LxHD2WCaIvQ3ekZsCKF7E/K+7pGssQx2ekuvHUMXHV5sT+Pp3wO3Mtl1c6EC/xBf/VMHy25NiFKP4as6qB5b6QuTY7KtrPyZAeB7Rj4P/fPOE+cgvDTzMRgxhubgz37Utcn1+m/O6PB77rkwafg1VF+YZVMuJ1fS00e1b+ppRfPpfP5fPZ+6xD10QunpOXMzf3q6E7Uon4o3C/Zb3OcUrvZM73CzXsMzVBwiTjj2MgX88cxyctjpNnikrsH+Hfs6SdKxo1mtod/uHMdblbUdmXhNGtc/2Jbvpr2B2eYj+vhXq6vYnhdgzpSC1RM81ai/GBfTvcXwbsoRaci2XF+Yi9fxb+cvR7cb2fUX75XD6Xzxsk9Qv60ZZeD7l4xj7N3NxrO/KSmkrEMQFfnMGNszSTTC/XtM+biYfcsgm+88WQbxXd3OJYiZXYd8O/J5a4XdzYOyc8b/Ou2Mftx4r2k1o6JD5M+102Yyvdg1Ps53iop9ubGG5uDA/KzUg/6TEMNt7task1jS/TcdjIt+HfY75+La73KuWXz+Vz+bwhHslck5daej3k4hn7NhFEt0N3pBLxtYEXtzoXa94dZjPFfNkH3aRTl58I+Vn7lnQkbmJ3p2GzCMZGj4MNTEa5ikBVU/N/lNjHbwP/vWXK/dwM9XR7E8PNjeFBazLXaZJW38EZ19uwRnicW+FQEZPDus7tUH75XD6XzxsYwztC/b0B5OKOl3/JiAL3t5MdelH9KORb3I7UXIbvMzdtHQvNnw/VzvaVi5m2VP7GsayIjaZPXJDrvhW3jRXt67sS99O0+SM32+WkDzox3J7JlHJrqU6y3uLFgYrdEw2/bntCegKMZcovn8vn8nlDY/jLxDW52LJzLhfPybOZm/v9Dt3YuQkJ6l5Db3Vm3+dq2GdurdZJKnmbSpzHo6GbUlPBf9iA8uWuze1QTatybrr5fgv2tL0T3svs40JN50kMN8udUN0vMIPrSb/Z8GuVmu11fwtirenll8/lc/m8XqmJQw+06DzLxXOUG9i+uSM380MlEtl/5hgocXtjxq1Z8cE0yaLa75U4l7tCd10Ms50IaxwHQ70t4n0vlYiBgxXs51yop9ubGG5uDA9zNVHecX45iL+e3ppRvp/WxtDuXyLaUn75XD6Xz+uR+3FmW0vOr1w8Z3W8yDTRjhKJbGPNZfgxzHYtqVySmHR86vES53Jrhx8KuxLH/cOcy/Zz5rrsqWg/x0K+9X3abuxLQ76Vf6MY7lwMD3M2Ud5xZiDtd2+8EeoZZlGlHxLH/EoLYqwt5ZfP5XP5vB57MjHVlvcLuXjOfgrVd8Noos8zSexyzfvP/aJbx1pSuckFDtYQ9P3tidBduQfuk3Mq16MlrktVjSFXM/v5rIJ95GZxnKbbmxhuZgxPkss+L/kdg2ssvtjw6/NEaHcDcpvKL5/L5/L57PP2uZacW7l4zpZlgvtwh27ka5kk9l7N+891rfmy4v3lxqZOU1n7q8R3Lw/dlnowzmvd4ddn1BizOsxmrHdu2awTU3y3GG5mDI9ybMo4eH7gWfdpC67NzlB9Txjll8/lc/l8llLX5YOWnFe5eM62hG6ub7TQ0yE/09yjNZdhX6YMVc/QdrHEMT8w4Xfnuu/8E7ov1dXo8zmV6XSov1U8eiPMZnbFOru9ieFmxvAoHyfK+nXmsyvD/eU1Yi+hNnQ3S/UA+kr55XP5XD5veAznZnhe15LzKhfP2TuZQFrVkRt4b+Y4v5lBGU5lyrClwn31Z7W8HkavWfaTh8JUjiSO/fQcyhMr37np+bfPKJZfq2Afq0K93d7EcPNiOOXVMPkkeOcG8mFbnmmpl5Qjyi+fy+fyecNjOFXvrmq2arms++X/74xxow7gjw7dwP/JJLBZdIu4lClDVYsex7EI/e4Wb9QUoHc8FP7bmt2ksd253hFVTVywJHP9479V0cVqZ6i325sYbl4Mp7ycKOv1xOf63Q1jRXZTi65NqkfMZ8ovn8vn8nnDY/hMojyn5GLlLys1bvOrjty8uZbJv8Nsxi7kFu2uonVp2cAL8ReZyt3LU+znZomHQldmix4l1QhwYw7l+STMZo3e3Hp1VeWN3CyOh6b8fjHcvBhO2ZYo680RnxmccfKtll2bGy2vXLSt/PK5fC6fV2dJpt79ZovOq1w8R4+E2a/pOQ+5meZm1bKTa/GrQr8vemydjAt4p7qC5MbkPpj4t9xaaHF7ahE/FG7OoTy5pY/ezXw+Tt1fZmbAj8NsuqNdm3I/ccz3BjHcqhhO2RzSv/qkXmw/b+G1+avllaO2lV8+l8/l8+rkGkDWJj4bV8g4W+R8uWyRlz83C+1zHbl5D2WOc+eMylF3t5S9A5W2p4v/bdTSQ9dLPBRi1+/VI/79yxLHU8dEXPHlOc5sF1ub5z2DX+qh8NeMyxLPRW6MzjOJzz9ZPMjKLJF0IdTfHe3BMF23t00DD+flYrgVMZyTm5l04fW/Xfzv34V2/pKiciSfy+fyeVtj+KMw2VCNqD+m8lm5TPn3h3QLdVsGOuf8Gubf7TcMVJxGbSum+O4d4d8z5z0QJpsGvt+AcTuRKF4r8VCoegmI+EA4H6qdhbArD4VtmWtxLXNefwnlFn7OrQV8YkbHk+r29ni439UlNYukGG7Xi+oDmWu1rPi7dQMP5qtT5lWVCy+q8rl8Lp+P73yYrDv5e8XffCyXKX90Nkw+i2Jb5BbMnuVMaL9nyrJtwu99MdwfC3B4wf8+al/vjPiuLQPflWp9fKLEQ+FqhecuTjT1fcMqn21pvYzb0RJ54OSYDSJ19k7IzdL9QaLi8HPJSpYYbteL6tLMtYrXPq6V2h+rdr24xm2lciSfy+fyeRtjOObquxPE1dbi32NDyzK5TPmj1JjJfR15Ud0d5j/bb19uCvhJJhMYbEWMrZKDv4Knxp5sHfJdG8P9X33LLMR8ocSDYWsF5y2Ope7PWvZnSI9tWKwVm5NhsvE/Rwcq9WUetKn1uO6G6mauzk28MWrsSn+Wwdjl7SEx3KkX1ZC5TruKc9sve9uHrqgcyefyuXzexhjOzVg9bH6Up4oyxrh7Wi5T/n5Q1PHrXtOcnFEiLuP9zDm/VSTAsi1Wnw589uKQRJ56MV44UdKGgWD+omQZctPN91vGphnjEn8h+SPc74q8QcVmqKuZ6/DAkM8Mzir5Qsn9pCbEqLLrU24ikWGtrUcG4uRpMdzJF9Xc7O39YSubQ/upHMnn8rl83sYY/iCMN6nTqoFzulcuU/4yN/Td0I1pvJeE9JIw52dcnmdKJNHzIT3bbrQ+3O8OE7c4BnflkL9LdTUe/OX1pXD/l9RzY177n0sc09EpXuzvNrjy2aSKzTgzSi8J91vexxkLsiazj7crPJ7ceO6F4+cPh8m7q4nh9ryollkr8cXQDSpH8rl8Lp+3MYbPjNEAsircn0fmjFym/IOOJQr+Q0ce9BsyyWoeLTcXQ7lxFHGNqccHPhf/O3Zt+27B314a8ZKae9jFX01j96HBrj8XS7wkL/RsyM9O2B9f8lDJ74zl+mVBgt2kYpOUuwY7Bu6JwRj8Zox9vJXZxxMzPJ7+0gxPhf+dtOHABPsSw+15Uf0rNGcoh8qFF1X5XD4Xw+M1TMR66eqiceLlcP9X/di9+2G5TPkHpbpi7O/Igz43IcE8Jtp4oUQCLbudy9zY43zXL4kX3pzdJfcRx83sKx6ug7/axv3GruYfh393efotNG+8QhMrNn9NED+XxnhQR6cz8VOlmxMczzQzVIrh9r+ovhu6ReVIPpfP5fO2xfDKCa71jdDsie/k4jnIzcjVhfE90YVMUp+XoxW8pJZpTLhT8rt+muIlte/1Cl/AB2dkXtng+GpSxeb0mOf21zHPbWz9TI0PPFDx8Zwc83jOhumHK4jh9r6odqVxVeXIvSCfy+dtjuHnxzyncTKq5+Qy5V9oU6LQt0M31k/NrQ82zzWalob00kCpLY6/WFfBi/rgmNiqulvEWYOvhukfBnFs7SstiLEmVWx2jXF+v5vgYZvrCbCx4uPZPMbxfBGqG1Mvhtv3ono4dJPKkXwun8vnbYvhpSE/Jnnw1+m1cpnyD/NmotDHO/KQz60Ptq4BZYwzo/09xgvqa2M2IqTGoMRf1PfV0CgRZ+/bWySgSV7C3wztmciraZX8XOPH7SLmJrnm+0N6tuo6HMkcTzzHe2rYrxhuz4vqsdBdKkfyuXwun7cxht8scW5j7n64JedVLp6DE6H+BZ4pJy5HE8dWfVME053iARSn6j5VPIieneL748x9lwe+Nybeg2E24wGeL8p/sijDraIcd4r/vlQ0jLzdkla1NlTy4wPi++Ja3ynKcbZ4UK9o4TmOrdjnB44njnX6uoiZh8TwontRvTRQvk86/mxQOXIvyOfyeVtjOI7xPTNQr43nN/76H3szrpGLlT9nVMtS/HXvwQB0sZIPbY/h+EtQ7Mq3YxFcG5Uj9wKIYbls0ZX/4USBvxaP4KGAGBbDKhdeVN0LyOfIxbO2Pej2Cx4KIIZVLpTfvYB8jlzcIPsTQbxUPIKHAmJYDKtceFF1LyCfIxfP2vkRhT0kFsFDATEshhtfuXhX+d0LIIblsq6VP/5iendEYdeKRRjLbg8FxDBzqFzsVn73Aohhuaxr5R81PvWcOISx7Uzc/HecHsQwU0itsb1T+d0LIIblsq6V/+iIgm4UhzC2bSG9oPUSpwgxzASWZq7LNuV3L4AYlsu6VP4YoDeGFPIHcQgTeTyTAJ5xihDDTOCpzHV5UvndCyCG5bKmlv/BYhvH5hGFXC8OYWKpvv+We0IMM4lXEtfktvK7F0AMy2VNLH98qfxlYCe/F4Uo48SQQp4UgzCVrxJJ4LjTgxhmAsdbfk3aWn73AvI5cvGE1hZvv5P0MV4V/j3bb2x1eVQMwlQ2J5JAHMC+wilCDDOGh0J68ovtyu9eADEslzWt/F8ndvZt5rMHQjunVIY2+Dlxbx5wehDDjOFA4lpcVn73AohhuayJ5b+d2OGfic/FX03vLPj7U+IPKvNcSA9Wf9EpQgxTwtbMddio/O4FEMNyWRPLn3pR/SrxuZML/vZSGH8iJiBtV0h3t9njFCGGSdgT0t209ii/ewHEsFzW1PJ/k9jpcyM+8/qCv7vS2x4Rg1CLF3rb1cR9ej6YZRsxzP9aX5zXUef8SnFdlN+9AGJYLmts+V9I7HzpkL9/bcHf/OglFWoX1yveXSSLuyPu19ir4Z3e9rTThRhelNYW5+/SiPMbz3uce+LV4noov3sBxLBc1vjy7xtRkEO9bXlRiNjv+NSCfz9a/DswO7GLfRwL8n641z0/TogWWzdvhntd+e84RYjhRelOcf7iebxSnNcvetu74d4s/suV370AYlgua2P5Y7/zayE9SLa//dDbNrk3AQAAqNuycO9n3LhY62/hfktIXBs1jmWNUxI/6zQ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fg/+7VtgRXBO/QAAAHEdEVYdE1hdGhNTAA8bWF0aCB4bWxucz0iaHR0cDovL3d3dy53My5vcmcvMTk5OC9NYXRoL01hdGhNTCI+PG1zdHlsZSBtYXRoc2l6ZT0iMTZweCI+PG1pPmY8L21pPjxtaT5yPC9taT48bWk+YTwvbWk+PG1pPmM8L21pPjxtZmVuY2VkIGNsb3NlPSJ9IiBvcGVuPSJ7Ij48bXJvdz48bWk+aTwvbWk+PG1pPm48L21pPjxtaT5jPC9taT48bWZlbmNlZCBjbG9zZT0ifSIgb3Blbj0ieyI+PG1pPnY8L21pPjwvbWZlbmNlZD48L21yb3c+PC9tZmVuY2VkPjxtZmVuY2VkIGNsb3NlPSJ9IiBvcGVuPSJ7Ij48bXJvdz48bWk+aTwvbWk+PG1pPm48L21pPjxtaT5jPC9taT48bWZlbmNlZCBjbG9zZT0ifSIgb3Blbj0ieyI+PG1pPnQ8L21pPjwvbWZlbmNlZD48L21yb3c+PC9tZmVuY2VkPjxtc3BhY2UgbGluZWJyZWFrPSJuZXdsaW5lIi8+PG1zcGFjZSBsaW5lYnJlYWs9Im5ld2xpbmUiLz48L21zdHlsZT48L21hdGg+XxG5HQAAAABJRU5ErkJggg==\&quot;,\&quot;slideId\&quot;:261,\&quot;accessibleText\&quot;:\&quot;f r a c open curly brackets i n c open curly brackets v close curly brackets close curly brackets open curly brackets i n c open curly brackets t close curly brackets close curly brackets\\n\\n\&quot;,\&quot;imageHeight\&quot;:19.78378378378378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2217</TotalTime>
  <Words>899</Words>
  <Application>Microsoft Office PowerPoint</Application>
  <PresentationFormat>Widescreen</PresentationFormat>
  <Paragraphs>88</Paragraphs>
  <Slides>21</Slides>
  <Notes>2</Notes>
  <HiddenSlides>0</HiddenSlides>
  <MMClips>21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Cambria Math</vt:lpstr>
      <vt:lpstr>Comic Sans MS</vt:lpstr>
      <vt:lpstr>Lato</vt:lpstr>
      <vt:lpstr>Office Theme</vt:lpstr>
      <vt:lpstr>Physics (PHY 102) Mechanics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Mechanics</dc:title>
  <dc:creator>Mohammad Rashik Zaman</dc:creator>
  <cp:lastModifiedBy>PROVA</cp:lastModifiedBy>
  <cp:revision>54</cp:revision>
  <dcterms:created xsi:type="dcterms:W3CDTF">2023-02-09T16:01:12Z</dcterms:created>
  <dcterms:modified xsi:type="dcterms:W3CDTF">2024-05-26T09:40:21Z</dcterms:modified>
</cp:coreProperties>
</file>