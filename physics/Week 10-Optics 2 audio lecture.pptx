
<file path=[Content_Types].xml><?xml version="1.0" encoding="utf-8"?>
<Types xmlns="http://schemas.openxmlformats.org/package/2006/content-types">
  <Default Extension="gif" ContentType="image/gif"/>
  <Default Extension="jpeg" ContentType="image/jpeg"/>
  <Default Extension="jpg" ContentType="image/jpeg"/>
  <Default Extension="m4a" ContentType="audi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7"/>
  </p:notesMasterIdLst>
  <p:sldIdLst>
    <p:sldId id="256" r:id="rId5"/>
    <p:sldId id="280" r:id="rId6"/>
    <p:sldId id="298" r:id="rId7"/>
    <p:sldId id="285" r:id="rId8"/>
    <p:sldId id="292" r:id="rId9"/>
    <p:sldId id="295" r:id="rId10"/>
    <p:sldId id="290" r:id="rId11"/>
    <p:sldId id="296" r:id="rId12"/>
    <p:sldId id="294" r:id="rId13"/>
    <p:sldId id="288" r:id="rId14"/>
    <p:sldId id="297" r:id="rId15"/>
    <p:sldId id="284" r:id="rId16"/>
  </p:sldIdLst>
  <p:sldSz cx="12192000" cy="6858000"/>
  <p:notesSz cx="6858000" cy="9144000"/>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E75E278A-FF0E-49A4-B170-79828D63BBAD}">
          <p14:sldIdLst>
            <p14:sldId id="256"/>
          </p14:sldIdLst>
        </p14:section>
        <p14:section name="Design, Impress, Work Together" id="{B9B51309-D148-4332-87C2-07BE32FBCA3B}">
          <p14:sldIdLst>
            <p14:sldId id="280"/>
            <p14:sldId id="298"/>
            <p14:sldId id="285"/>
            <p14:sldId id="292"/>
            <p14:sldId id="295"/>
            <p14:sldId id="290"/>
            <p14:sldId id="296"/>
            <p14:sldId id="294"/>
            <p14:sldId id="288"/>
            <p14:sldId id="297"/>
            <p14:sldId id="284"/>
          </p14:sldIdLst>
        </p14:section>
        <p14:section name="Learn More" id="{2CC34DB2-6590-42C0-AD4B-A04C6060184E}">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462F"/>
    <a:srgbClr val="D24726"/>
    <a:srgbClr val="734F29"/>
    <a:srgbClr val="D2B4A6"/>
    <a:srgbClr val="AEB785"/>
    <a:srgbClr val="EFD5A2"/>
    <a:srgbClr val="3B3026"/>
    <a:srgbClr val="ECE1CA"/>
    <a:srgbClr val="795531"/>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80" autoAdjust="0"/>
  </p:normalViewPr>
  <p:slideViewPr>
    <p:cSldViewPr snapToGrid="0">
      <p:cViewPr varScale="1">
        <p:scale>
          <a:sx n="68" d="100"/>
          <a:sy n="68" d="100"/>
        </p:scale>
        <p:origin x="816"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5/26/2024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a:t>
            </a:fld>
            <a:endParaRPr lang="en-US"/>
          </a:p>
        </p:txBody>
      </p:sp>
    </p:spTree>
    <p:extLst>
      <p:ext uri="{BB962C8B-B14F-4D97-AF65-F5344CB8AC3E}">
        <p14:creationId xmlns:p14="http://schemas.microsoft.com/office/powerpoint/2010/main" val="1011769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2</a:t>
            </a:fld>
            <a:endParaRPr lang="en-US"/>
          </a:p>
        </p:txBody>
      </p:sp>
    </p:spTree>
    <p:extLst>
      <p:ext uri="{BB962C8B-B14F-4D97-AF65-F5344CB8AC3E}">
        <p14:creationId xmlns:p14="http://schemas.microsoft.com/office/powerpoint/2010/main" val="11036503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4</a:t>
            </a:fld>
            <a:endParaRPr lang="en-US"/>
          </a:p>
        </p:txBody>
      </p:sp>
    </p:spTree>
    <p:extLst>
      <p:ext uri="{BB962C8B-B14F-4D97-AF65-F5344CB8AC3E}">
        <p14:creationId xmlns:p14="http://schemas.microsoft.com/office/powerpoint/2010/main" val="12533838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5</a:t>
            </a:fld>
            <a:endParaRPr lang="en-US"/>
          </a:p>
        </p:txBody>
      </p:sp>
    </p:spTree>
    <p:extLst>
      <p:ext uri="{BB962C8B-B14F-4D97-AF65-F5344CB8AC3E}">
        <p14:creationId xmlns:p14="http://schemas.microsoft.com/office/powerpoint/2010/main" val="34028438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6</a:t>
            </a:fld>
            <a:endParaRPr lang="en-US"/>
          </a:p>
        </p:txBody>
      </p:sp>
    </p:spTree>
    <p:extLst>
      <p:ext uri="{BB962C8B-B14F-4D97-AF65-F5344CB8AC3E}">
        <p14:creationId xmlns:p14="http://schemas.microsoft.com/office/powerpoint/2010/main" val="1062720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7</a:t>
            </a:fld>
            <a:endParaRPr lang="en-US"/>
          </a:p>
        </p:txBody>
      </p:sp>
    </p:spTree>
    <p:extLst>
      <p:ext uri="{BB962C8B-B14F-4D97-AF65-F5344CB8AC3E}">
        <p14:creationId xmlns:p14="http://schemas.microsoft.com/office/powerpoint/2010/main" val="37829102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8</a:t>
            </a:fld>
            <a:endParaRPr lang="en-US"/>
          </a:p>
        </p:txBody>
      </p:sp>
    </p:spTree>
    <p:extLst>
      <p:ext uri="{BB962C8B-B14F-4D97-AF65-F5344CB8AC3E}">
        <p14:creationId xmlns:p14="http://schemas.microsoft.com/office/powerpoint/2010/main" val="15234924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9</a:t>
            </a:fld>
            <a:endParaRPr lang="en-US"/>
          </a:p>
        </p:txBody>
      </p:sp>
    </p:spTree>
    <p:extLst>
      <p:ext uri="{BB962C8B-B14F-4D97-AF65-F5344CB8AC3E}">
        <p14:creationId xmlns:p14="http://schemas.microsoft.com/office/powerpoint/2010/main" val="1309144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10</a:t>
            </a:fld>
            <a:endParaRPr lang="en-US"/>
          </a:p>
        </p:txBody>
      </p:sp>
    </p:spTree>
    <p:extLst>
      <p:ext uri="{BB962C8B-B14F-4D97-AF65-F5344CB8AC3E}">
        <p14:creationId xmlns:p14="http://schemas.microsoft.com/office/powerpoint/2010/main" val="9556837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11</a:t>
            </a:fld>
            <a:endParaRPr lang="en-US"/>
          </a:p>
        </p:txBody>
      </p:sp>
    </p:spTree>
    <p:extLst>
      <p:ext uri="{BB962C8B-B14F-4D97-AF65-F5344CB8AC3E}">
        <p14:creationId xmlns:p14="http://schemas.microsoft.com/office/powerpoint/2010/main" val="23806888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12</a:t>
            </a:fld>
            <a:endParaRPr lang="en-US"/>
          </a:p>
        </p:txBody>
      </p:sp>
    </p:spTree>
    <p:extLst>
      <p:ext uri="{BB962C8B-B14F-4D97-AF65-F5344CB8AC3E}">
        <p14:creationId xmlns:p14="http://schemas.microsoft.com/office/powerpoint/2010/main" val="16612469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0" y="0"/>
            <a:ext cx="12192000" cy="486646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ctrTitle"/>
          </p:nvPr>
        </p:nvSpPr>
        <p:spPr>
          <a:xfrm>
            <a:off x="838200" y="2061006"/>
            <a:ext cx="10515600" cy="2387600"/>
          </a:xfrm>
        </p:spPr>
        <p:txBody>
          <a:bodyPr anchor="b">
            <a:normAutofit/>
          </a:bodyPr>
          <a:lstStyle>
            <a:lvl1pPr algn="l">
              <a:defRPr sz="54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838202" y="5110609"/>
            <a:ext cx="6705599" cy="1137793"/>
          </a:xfrm>
        </p:spPr>
        <p:txBody>
          <a:bodyPr>
            <a:normAutofit/>
          </a:bodyPr>
          <a:lstStyle>
            <a:lvl1pPr marL="0" indent="0" algn="l">
              <a:lnSpc>
                <a:spcPct val="150000"/>
              </a:lnSpc>
              <a:spcBef>
                <a:spcPts val="600"/>
              </a:spcBef>
              <a:buNone/>
              <a:defRPr sz="2800">
                <a:solidFill>
                  <a:srgbClr val="D24726"/>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BEEBAAA-29B5-4AF5-BC5F-7E580C29002D}" type="datetimeFigureOut">
              <a:rPr lang="en-US" smtClean="0"/>
              <a:t>5/26/2024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a:p>
        </p:txBody>
      </p:sp>
      <p:sp>
        <p:nvSpPr>
          <p:cNvPr id="8" name="Rectangle 7"/>
          <p:cNvSpPr/>
          <p:nvPr userDrawn="1"/>
        </p:nvSpPr>
        <p:spPr>
          <a:xfrm>
            <a:off x="0" y="0"/>
            <a:ext cx="12192000" cy="486646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4434" y="0"/>
            <a:ext cx="10749367" cy="1208868"/>
          </a:xfrm>
        </p:spPr>
        <p:txBody>
          <a:bodyPr anchor="b">
            <a:normAutofit/>
          </a:bodyPr>
          <a:lstStyle>
            <a:lvl1pPr>
              <a:defRPr sz="36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838201" y="1825625"/>
            <a:ext cx="4167753" cy="4351338"/>
          </a:xfrm>
        </p:spPr>
        <p:txBody>
          <a:bodyPr>
            <a:normAutofit/>
          </a:bodyPr>
          <a:lstStyle>
            <a:lvl1pPr marL="0" indent="0">
              <a:lnSpc>
                <a:spcPct val="150000"/>
              </a:lnSpc>
              <a:spcAft>
                <a:spcPts val="1200"/>
              </a:spcAft>
              <a:buNone/>
              <a:defRPr sz="1600">
                <a:solidFill>
                  <a:schemeClr val="bg1">
                    <a:lumMod val="50000"/>
                  </a:schemeClr>
                </a:solidFill>
              </a:defRPr>
            </a:lvl1pPr>
            <a:lvl2pPr>
              <a:lnSpc>
                <a:spcPct val="150000"/>
              </a:lnSpc>
              <a:spcAft>
                <a:spcPts val="1200"/>
              </a:spcAft>
              <a:defRPr sz="1400">
                <a:solidFill>
                  <a:schemeClr val="bg1">
                    <a:lumMod val="50000"/>
                  </a:schemeClr>
                </a:solidFill>
              </a:defRPr>
            </a:lvl2pPr>
            <a:lvl3pPr>
              <a:lnSpc>
                <a:spcPct val="150000"/>
              </a:lnSpc>
              <a:spcAft>
                <a:spcPts val="1200"/>
              </a:spcAft>
              <a:defRPr sz="1200">
                <a:solidFill>
                  <a:schemeClr val="bg1">
                    <a:lumMod val="50000"/>
                  </a:schemeClr>
                </a:solidFill>
              </a:defRPr>
            </a:lvl3pPr>
            <a:lvl4pPr>
              <a:lnSpc>
                <a:spcPct val="150000"/>
              </a:lnSpc>
              <a:spcAft>
                <a:spcPts val="1200"/>
              </a:spcAft>
              <a:defRPr sz="1100">
                <a:solidFill>
                  <a:schemeClr val="bg1">
                    <a:lumMod val="50000"/>
                  </a:schemeClr>
                </a:solidFill>
              </a:defRPr>
            </a:lvl4pPr>
            <a:lvl5pPr>
              <a:lnSpc>
                <a:spcPct val="150000"/>
              </a:lnSpc>
              <a:spcAft>
                <a:spcPts val="1200"/>
              </a:spcAft>
              <a:defRPr sz="1100">
                <a:solidFill>
                  <a:schemeClr val="bg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EEBAAA-29B5-4AF5-BC5F-7E580C29002D}" type="datetimeFigureOut">
              <a:rPr lang="en-US" smtClean="0"/>
              <a:t>5/26/2024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a:p>
        </p:txBody>
      </p:sp>
      <p:sp>
        <p:nvSpPr>
          <p:cNvPr id="8" name="Rectangle 7"/>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5656882" y="1709738"/>
            <a:ext cx="6535119" cy="357518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838201" y="2402238"/>
            <a:ext cx="4508715" cy="2187227"/>
          </a:xfrm>
        </p:spPr>
        <p:txBody>
          <a:bodyPr anchor="ctr">
            <a:noAutofit/>
          </a:bodyPr>
          <a:lstStyle>
            <a:lvl1pPr algn="l">
              <a:defRPr sz="4800">
                <a:solidFill>
                  <a:srgbClr val="D247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6323308" y="2402237"/>
            <a:ext cx="5269424" cy="2187226"/>
          </a:xfrm>
        </p:spPr>
        <p:txBody>
          <a:bodyPr anchor="ctr">
            <a:normAutofit/>
          </a:bodyPr>
          <a:lstStyle>
            <a:lvl1pPr marL="0" indent="0">
              <a:lnSpc>
                <a:spcPct val="150000"/>
              </a:lnSpc>
              <a:buNone/>
              <a:defRPr sz="2800">
                <a:solidFill>
                  <a:schemeClr val="bg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fld id="{8BEEBAAA-29B5-4AF5-BC5F-7E580C29002D}" type="datetimeFigureOut">
              <a:rPr lang="en-US" smtClean="0"/>
              <a:t>5/26/2024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a:p>
        </p:txBody>
      </p:sp>
      <p:sp>
        <p:nvSpPr>
          <p:cNvPr id="8" name="Rectangle 7"/>
          <p:cNvSpPr/>
          <p:nvPr userDrawn="1"/>
        </p:nvSpPr>
        <p:spPr>
          <a:xfrm>
            <a:off x="5656882" y="1709738"/>
            <a:ext cx="6535119" cy="357518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335655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9600" y="1"/>
            <a:ext cx="10744200" cy="1228436"/>
          </a:xfrm>
        </p:spPr>
        <p:txBody>
          <a:bodyPr anchor="b">
            <a:normAutofit/>
          </a:bodyPr>
          <a:lstStyle>
            <a:lvl1pPr>
              <a:defRPr sz="3600">
                <a:solidFill>
                  <a:schemeClr val="bg1"/>
                </a:solidFill>
              </a:defRPr>
            </a:lvl1p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a:t>Click to edit Master text styles</a:t>
            </a:r>
          </a:p>
          <a:p>
            <a:pPr marL="0" lvl="1" indent="0">
              <a:lnSpc>
                <a:spcPct val="150000"/>
              </a:lnSpc>
              <a:spcAft>
                <a:spcPts val="1200"/>
              </a:spcAft>
              <a:buNone/>
            </a:pPr>
            <a:r>
              <a:rPr lang="en-US"/>
              <a:t>Second level</a:t>
            </a:r>
          </a:p>
          <a:p>
            <a:pPr marL="0" lvl="2" indent="0">
              <a:lnSpc>
                <a:spcPct val="150000"/>
              </a:lnSpc>
              <a:spcAft>
                <a:spcPts val="1200"/>
              </a:spcAft>
              <a:buNone/>
            </a:pPr>
            <a:r>
              <a:rPr lang="en-US"/>
              <a:t>Third level</a:t>
            </a:r>
          </a:p>
          <a:p>
            <a:pPr marL="0" lvl="3" indent="0">
              <a:lnSpc>
                <a:spcPct val="150000"/>
              </a:lnSpc>
              <a:spcAft>
                <a:spcPts val="1200"/>
              </a:spcAft>
              <a:buNone/>
            </a:pPr>
            <a:r>
              <a:rPr lang="en-US"/>
              <a:t>Fourth level</a:t>
            </a:r>
          </a:p>
          <a:p>
            <a:pPr marL="0" lvl="4" indent="0">
              <a:lnSpc>
                <a:spcPct val="150000"/>
              </a:lnSpc>
              <a:spcAft>
                <a:spcPts val="1200"/>
              </a:spcAft>
              <a:buNone/>
            </a:pPr>
            <a:r>
              <a:rPr lang="en-US"/>
              <a:t>Fifth level</a:t>
            </a:r>
          </a:p>
        </p:txBody>
      </p:sp>
      <p:sp>
        <p:nvSpPr>
          <p:cNvPr id="4" name="Content Placeholder 3"/>
          <p:cNvSpPr>
            <a:spLocks noGrp="1"/>
          </p:cNvSpPr>
          <p:nvPr>
            <p:ph sz="half" idx="2"/>
          </p:nvPr>
        </p:nvSpPr>
        <p:spPr>
          <a:xfrm>
            <a:off x="6172200" y="1825625"/>
            <a:ext cx="5181600" cy="4351338"/>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a:t>Click to edit Master text styles</a:t>
            </a:r>
          </a:p>
          <a:p>
            <a:pPr marL="0" lvl="1" indent="0">
              <a:lnSpc>
                <a:spcPct val="150000"/>
              </a:lnSpc>
              <a:spcAft>
                <a:spcPts val="1200"/>
              </a:spcAft>
              <a:buNone/>
            </a:pPr>
            <a:r>
              <a:rPr lang="en-US"/>
              <a:t>Second level</a:t>
            </a:r>
          </a:p>
          <a:p>
            <a:pPr marL="0" lvl="2" indent="0">
              <a:lnSpc>
                <a:spcPct val="150000"/>
              </a:lnSpc>
              <a:spcAft>
                <a:spcPts val="1200"/>
              </a:spcAft>
              <a:buNone/>
            </a:pPr>
            <a:r>
              <a:rPr lang="en-US"/>
              <a:t>Third level</a:t>
            </a:r>
          </a:p>
          <a:p>
            <a:pPr marL="0" lvl="3" indent="0">
              <a:lnSpc>
                <a:spcPct val="150000"/>
              </a:lnSpc>
              <a:spcAft>
                <a:spcPts val="1200"/>
              </a:spcAft>
              <a:buNone/>
            </a:pPr>
            <a:r>
              <a:rPr lang="en-US"/>
              <a:t>Fourth level</a:t>
            </a:r>
          </a:p>
          <a:p>
            <a:pPr marL="0" lvl="4" indent="0">
              <a:lnSpc>
                <a:spcPct val="150000"/>
              </a:lnSpc>
              <a:spcAft>
                <a:spcPts val="1200"/>
              </a:spcAft>
              <a:buNone/>
            </a:pPr>
            <a:r>
              <a:rPr lang="en-US"/>
              <a:t>Fifth level</a:t>
            </a:r>
          </a:p>
        </p:txBody>
      </p:sp>
      <p:sp>
        <p:nvSpPr>
          <p:cNvPr id="5" name="Date Placeholder 4"/>
          <p:cNvSpPr>
            <a:spLocks noGrp="1"/>
          </p:cNvSpPr>
          <p:nvPr>
            <p:ph type="dt" sz="half" idx="10"/>
          </p:nvPr>
        </p:nvSpPr>
        <p:spPr/>
        <p:txBody>
          <a:bodyPr/>
          <a:lstStyle/>
          <a:p>
            <a:fld id="{8BEEBAAA-29B5-4AF5-BC5F-7E580C29002D}" type="datetimeFigureOut">
              <a:rPr lang="en-US" smtClean="0"/>
              <a:t>5/26/2024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60EDB8-5305-433F-BE41-D7A86D811DB3}" type="slidenum">
              <a:rPr lang="en-US" smtClean="0"/>
              <a:t>‹#›</a:t>
            </a:fld>
            <a:endParaRPr lang="en-US"/>
          </a:p>
        </p:txBody>
      </p:sp>
      <p:sp>
        <p:nvSpPr>
          <p:cNvPr id="9" name="Rectangle 8"/>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328223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9600" y="0"/>
            <a:ext cx="10737851" cy="1228436"/>
          </a:xfrm>
        </p:spPr>
        <p:txBody>
          <a:bodyPr anchor="b">
            <a:normAutofit/>
          </a:bodyPr>
          <a:lstStyle>
            <a:lvl1pPr>
              <a:defRPr sz="36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1" y="1489075"/>
            <a:ext cx="5156200" cy="6413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1851" y="2193927"/>
            <a:ext cx="5156200" cy="3978275"/>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a:t>Click to edit Master text styles</a:t>
            </a:r>
          </a:p>
          <a:p>
            <a:pPr marL="0" lvl="1" indent="0">
              <a:lnSpc>
                <a:spcPct val="150000"/>
              </a:lnSpc>
              <a:spcAft>
                <a:spcPts val="1200"/>
              </a:spcAft>
              <a:buNone/>
            </a:pPr>
            <a:r>
              <a:rPr lang="en-US"/>
              <a:t>Second level</a:t>
            </a:r>
          </a:p>
          <a:p>
            <a:pPr marL="0" lvl="2" indent="0">
              <a:lnSpc>
                <a:spcPct val="150000"/>
              </a:lnSpc>
              <a:spcAft>
                <a:spcPts val="1200"/>
              </a:spcAft>
              <a:buNone/>
            </a:pPr>
            <a:r>
              <a:rPr lang="en-US"/>
              <a:t>Third level</a:t>
            </a:r>
          </a:p>
          <a:p>
            <a:pPr marL="0" lvl="3" indent="0">
              <a:lnSpc>
                <a:spcPct val="150000"/>
              </a:lnSpc>
              <a:spcAft>
                <a:spcPts val="1200"/>
              </a:spcAft>
              <a:buNone/>
            </a:pPr>
            <a:r>
              <a:rPr lang="en-US"/>
              <a:t>Fourth level</a:t>
            </a:r>
          </a:p>
          <a:p>
            <a:pPr marL="0" lvl="4" indent="0">
              <a:lnSpc>
                <a:spcPct val="150000"/>
              </a:lnSpc>
              <a:spcAft>
                <a:spcPts val="1200"/>
              </a:spcAft>
              <a:buNone/>
            </a:pPr>
            <a:r>
              <a:rPr lang="en-US"/>
              <a:t>Fifth level</a:t>
            </a:r>
            <a:endParaRPr lang="en-US" dirty="0"/>
          </a:p>
        </p:txBody>
      </p:sp>
      <p:sp>
        <p:nvSpPr>
          <p:cNvPr id="5" name="Text Placeholder 4"/>
          <p:cNvSpPr>
            <a:spLocks noGrp="1"/>
          </p:cNvSpPr>
          <p:nvPr>
            <p:ph type="body" sz="quarter" idx="3"/>
          </p:nvPr>
        </p:nvSpPr>
        <p:spPr>
          <a:xfrm>
            <a:off x="6189664" y="1489075"/>
            <a:ext cx="5157787" cy="6413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9664" y="2193927"/>
            <a:ext cx="5157787" cy="3978275"/>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a:t>Click to edit Master text styles</a:t>
            </a:r>
          </a:p>
          <a:p>
            <a:pPr marL="0" lvl="1" indent="0">
              <a:lnSpc>
                <a:spcPct val="150000"/>
              </a:lnSpc>
              <a:spcAft>
                <a:spcPts val="1200"/>
              </a:spcAft>
              <a:buNone/>
            </a:pPr>
            <a:r>
              <a:rPr lang="en-US"/>
              <a:t>Second level</a:t>
            </a:r>
          </a:p>
          <a:p>
            <a:pPr marL="0" lvl="2" indent="0">
              <a:lnSpc>
                <a:spcPct val="150000"/>
              </a:lnSpc>
              <a:spcAft>
                <a:spcPts val="1200"/>
              </a:spcAft>
              <a:buNone/>
            </a:pPr>
            <a:r>
              <a:rPr lang="en-US"/>
              <a:t>Third level</a:t>
            </a:r>
          </a:p>
          <a:p>
            <a:pPr marL="0" lvl="3" indent="0">
              <a:lnSpc>
                <a:spcPct val="150000"/>
              </a:lnSpc>
              <a:spcAft>
                <a:spcPts val="1200"/>
              </a:spcAft>
              <a:buNone/>
            </a:pPr>
            <a:r>
              <a:rPr lang="en-US"/>
              <a:t>Fourth level</a:t>
            </a:r>
          </a:p>
          <a:p>
            <a:pPr marL="0" lvl="4" indent="0">
              <a:lnSpc>
                <a:spcPct val="150000"/>
              </a:lnSpc>
              <a:spcAft>
                <a:spcPts val="1200"/>
              </a:spcAft>
              <a:buNone/>
            </a:pPr>
            <a:r>
              <a:rPr lang="en-US"/>
              <a:t>Fifth level</a:t>
            </a:r>
          </a:p>
        </p:txBody>
      </p:sp>
      <p:sp>
        <p:nvSpPr>
          <p:cNvPr id="7" name="Date Placeholder 6"/>
          <p:cNvSpPr>
            <a:spLocks noGrp="1"/>
          </p:cNvSpPr>
          <p:nvPr>
            <p:ph type="dt" sz="half" idx="10"/>
          </p:nvPr>
        </p:nvSpPr>
        <p:spPr/>
        <p:txBody>
          <a:bodyPr/>
          <a:lstStyle/>
          <a:p>
            <a:fld id="{8BEEBAAA-29B5-4AF5-BC5F-7E580C29002D}" type="datetimeFigureOut">
              <a:rPr lang="en-US" smtClean="0"/>
              <a:t>5/26/2024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860EDB8-5305-433F-BE41-D7A86D811DB3}" type="slidenum">
              <a:rPr lang="en-US" smtClean="0"/>
              <a:t>‹#›</a:t>
            </a:fld>
            <a:endParaRPr lang="en-US"/>
          </a:p>
        </p:txBody>
      </p:sp>
      <p:sp>
        <p:nvSpPr>
          <p:cNvPr id="11" name="Rectangle 10"/>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606029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9600" y="1"/>
            <a:ext cx="10744200" cy="1228436"/>
          </a:xfrm>
        </p:spPr>
        <p:txBody>
          <a:bodyPr anchor="b">
            <a:normAutofit/>
          </a:bodyPr>
          <a:lstStyle>
            <a:lvl1pPr>
              <a:defRPr sz="3600">
                <a:solidFill>
                  <a:schemeClr val="bg1"/>
                </a:solidFill>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BEEBAAA-29B5-4AF5-BC5F-7E580C29002D}" type="datetimeFigureOut">
              <a:rPr lang="en-US" smtClean="0"/>
              <a:t>5/26/2024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860EDB8-5305-433F-BE41-D7A86D811DB3}" type="slidenum">
              <a:rPr lang="en-US" smtClean="0"/>
              <a:t>‹#›</a:t>
            </a:fld>
            <a:endParaRPr lang="en-US"/>
          </a:p>
        </p:txBody>
      </p:sp>
      <p:sp>
        <p:nvSpPr>
          <p:cNvPr id="7" name="Rectangle 6"/>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00814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EEBAAA-29B5-4AF5-BC5F-7E580C29002D}" type="datetimeFigureOut">
              <a:rPr lang="en-US" smtClean="0"/>
              <a:t>5/26/2024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860EDB8-5305-433F-BE41-D7A86D811DB3}" type="slidenum">
              <a:rPr lang="en-US" smtClean="0"/>
              <a:t>‹#›</a:t>
            </a:fld>
            <a:endParaRPr lang="en-US"/>
          </a:p>
        </p:txBody>
      </p:sp>
    </p:spTree>
    <p:extLst>
      <p:ext uri="{BB962C8B-B14F-4D97-AF65-F5344CB8AC3E}">
        <p14:creationId xmlns:p14="http://schemas.microsoft.com/office/powerpoint/2010/main" val="4037432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a:t>Click to edit Master text styles</a:t>
            </a:r>
          </a:p>
          <a:p>
            <a:pPr marL="0" lvl="1" indent="0">
              <a:lnSpc>
                <a:spcPct val="150000"/>
              </a:lnSpc>
              <a:spcAft>
                <a:spcPts val="1200"/>
              </a:spcAft>
              <a:buNone/>
            </a:pPr>
            <a:r>
              <a:rPr lang="en-US"/>
              <a:t>Second level</a:t>
            </a:r>
          </a:p>
          <a:p>
            <a:pPr marL="0" lvl="2" indent="0">
              <a:lnSpc>
                <a:spcPct val="150000"/>
              </a:lnSpc>
              <a:spcAft>
                <a:spcPts val="1200"/>
              </a:spcAft>
              <a:buNone/>
            </a:pPr>
            <a:r>
              <a:rPr lang="en-US"/>
              <a:t>Third level</a:t>
            </a:r>
          </a:p>
          <a:p>
            <a:pPr marL="0" lvl="3" indent="0">
              <a:lnSpc>
                <a:spcPct val="150000"/>
              </a:lnSpc>
              <a:spcAft>
                <a:spcPts val="1200"/>
              </a:spcAft>
              <a:buNone/>
            </a:pPr>
            <a:r>
              <a:rPr lang="en-US"/>
              <a:t>Fourth level</a:t>
            </a:r>
          </a:p>
          <a:p>
            <a:pPr marL="0" lvl="4" indent="0">
              <a:lnSpc>
                <a:spcPct val="150000"/>
              </a:lnSpc>
              <a:spcAft>
                <a:spcPts val="1200"/>
              </a:spcAft>
              <a:buNone/>
            </a:pPr>
            <a:r>
              <a:rPr lang="en-US"/>
              <a:t>Fifth level</a:t>
            </a:r>
          </a:p>
        </p:txBody>
      </p:sp>
      <p:sp>
        <p:nvSpPr>
          <p:cNvPr id="4" name="Text Placeholder 3"/>
          <p:cNvSpPr>
            <a:spLocks noGrp="1"/>
          </p:cNvSpPr>
          <p:nvPr>
            <p:ph type="body" sz="half" idx="2"/>
          </p:nvPr>
        </p:nvSpPr>
        <p:spPr>
          <a:xfrm>
            <a:off x="839788" y="2101850"/>
            <a:ext cx="3932237" cy="3759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EEBAAA-29B5-4AF5-BC5F-7E580C29002D}" type="datetimeFigureOut">
              <a:rPr lang="en-US" smtClean="0"/>
              <a:t>5/26/2024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60EDB8-5305-433F-BE41-D7A86D811DB3}" type="slidenum">
              <a:rPr lang="en-US" smtClean="0"/>
              <a:t>‹#›</a:t>
            </a:fld>
            <a:endParaRPr lang="en-US"/>
          </a:p>
        </p:txBody>
      </p:sp>
    </p:spTree>
    <p:extLst>
      <p:ext uri="{BB962C8B-B14F-4D97-AF65-F5344CB8AC3E}">
        <p14:creationId xmlns:p14="http://schemas.microsoft.com/office/powerpoint/2010/main" val="1784193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101850"/>
            <a:ext cx="3932237" cy="3759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EEBAAA-29B5-4AF5-BC5F-7E580C29002D}" type="datetimeFigureOut">
              <a:rPr lang="en-US" smtClean="0"/>
              <a:t>5/26/2024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60EDB8-5305-433F-BE41-D7A86D811DB3}" type="slidenum">
              <a:rPr lang="en-US" smtClean="0"/>
              <a:t>‹#›</a:t>
            </a:fld>
            <a:endParaRPr lang="en-US"/>
          </a:p>
        </p:txBody>
      </p:sp>
    </p:spTree>
    <p:extLst>
      <p:ext uri="{BB962C8B-B14F-4D97-AF65-F5344CB8AC3E}">
        <p14:creationId xmlns:p14="http://schemas.microsoft.com/office/powerpoint/2010/main" val="3161095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9600" y="1"/>
            <a:ext cx="10744200" cy="1228436"/>
          </a:xfrm>
        </p:spPr>
        <p:txBody>
          <a:bodyPr anchor="b">
            <a:normAutofit/>
          </a:bodyPr>
          <a:lstStyle>
            <a:lvl1pPr>
              <a:defRPr sz="3600">
                <a:solidFill>
                  <a:schemeClr val="bg1"/>
                </a:solidFill>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EEBAAA-29B5-4AF5-BC5F-7E580C29002D}" type="datetimeFigureOut">
              <a:rPr lang="en-US" smtClean="0"/>
              <a:t>5/26/2024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a:p>
        </p:txBody>
      </p:sp>
      <p:sp>
        <p:nvSpPr>
          <p:cNvPr id="8" name="Rectangle 7"/>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596921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0095346" y="0"/>
            <a:ext cx="2096655" cy="685800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Vertical Title 1"/>
          <p:cNvSpPr>
            <a:spLocks noGrp="1"/>
          </p:cNvSpPr>
          <p:nvPr>
            <p:ph type="title" orient="vert"/>
          </p:nvPr>
        </p:nvSpPr>
        <p:spPr>
          <a:xfrm>
            <a:off x="10215419" y="365125"/>
            <a:ext cx="1819564" cy="5811838"/>
          </a:xfrm>
        </p:spPr>
        <p:txBody>
          <a:bodyPr vert="eaVert" anchor="b">
            <a:normAutofit/>
          </a:bodyPr>
          <a:lstStyle>
            <a:lvl1pPr>
              <a:defRPr sz="3600">
                <a:solidFill>
                  <a:schemeClr val="bg1"/>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EEBAAA-29B5-4AF5-BC5F-7E580C29002D}" type="datetimeFigureOut">
              <a:rPr lang="en-US" smtClean="0"/>
              <a:t>5/26/2024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a:p>
        </p:txBody>
      </p:sp>
      <p:sp>
        <p:nvSpPr>
          <p:cNvPr id="8" name="Rectangle 7"/>
          <p:cNvSpPr/>
          <p:nvPr userDrawn="1"/>
        </p:nvSpPr>
        <p:spPr>
          <a:xfrm>
            <a:off x="10095346" y="0"/>
            <a:ext cx="2096655" cy="685800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3022666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3276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EEBAAA-29B5-4AF5-BC5F-7E580C29002D}" type="datetimeFigureOut">
              <a:rPr lang="en-US" smtClean="0"/>
              <a:t>5/26/2024</a:t>
            </a:fld>
            <a:endParaRPr lang="en-US"/>
          </a:p>
        </p:txBody>
      </p:sp>
      <p:sp>
        <p:nvSpPr>
          <p:cNvPr id="5" name="Footer Placeholder 4"/>
          <p:cNvSpPr>
            <a:spLocks noGrp="1"/>
          </p:cNvSpPr>
          <p:nvPr>
            <p:ph type="ftr" sz="quarter" idx="3"/>
          </p:nvPr>
        </p:nvSpPr>
        <p:spPr>
          <a:xfrm>
            <a:off x="4648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077200" y="6356352"/>
            <a:ext cx="3276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60EDB8-5305-433F-BE41-D7A86D811DB3}" type="slidenum">
              <a:rPr lang="en-US" smtClean="0"/>
              <a:t>‹#›</a:t>
            </a:fld>
            <a:endParaRPr lang="en-US"/>
          </a:p>
        </p:txBody>
      </p: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media1.m4a"/><Relationship Id="rId7" Type="http://schemas.openxmlformats.org/officeDocument/2006/relationships/image" Target="../media/image2.png"/><Relationship Id="rId2" Type="http://schemas.microsoft.com/office/2007/relationships/media" Target="../media/media1.m4a"/><Relationship Id="rId1" Type="http://schemas.openxmlformats.org/officeDocument/2006/relationships/tags" Target="../tags/tag2.xml"/><Relationship Id="rId6" Type="http://schemas.openxmlformats.org/officeDocument/2006/relationships/image" Target="../media/image1.png"/><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audio" Target="../media/media2.m4a"/><Relationship Id="rId7" Type="http://schemas.openxmlformats.org/officeDocument/2006/relationships/image" Target="../media/image3.jpeg"/><Relationship Id="rId2" Type="http://schemas.microsoft.com/office/2007/relationships/media" Target="../media/media2.m4a"/><Relationship Id="rId1" Type="http://schemas.openxmlformats.org/officeDocument/2006/relationships/tags" Target="../tags/tag3.xml"/><Relationship Id="rId6" Type="http://schemas.openxmlformats.org/officeDocument/2006/relationships/image" Target="../media/image1.png"/><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2.png"/><Relationship Id="rId4" Type="http://schemas.openxmlformats.org/officeDocument/2006/relationships/hyperlink" Target="https://openstax.org/books/university-physics-volume-3/pages/1-introduction" TargetMode="External"/></Relationships>
</file>

<file path=ppt/slides/_rels/slide4.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audio" Target="../media/media4.m4a"/><Relationship Id="rId7" Type="http://schemas.openxmlformats.org/officeDocument/2006/relationships/image" Target="../media/image4.png"/><Relationship Id="rId2" Type="http://schemas.microsoft.com/office/2007/relationships/media" Target="../media/media4.m4a"/><Relationship Id="rId1" Type="http://schemas.openxmlformats.org/officeDocument/2006/relationships/tags" Target="../tags/tag4.xml"/><Relationship Id="rId6" Type="http://schemas.openxmlformats.org/officeDocument/2006/relationships/image" Target="../media/image1.png"/><Relationship Id="rId11" Type="http://schemas.openxmlformats.org/officeDocument/2006/relationships/image" Target="../media/image2.png"/><Relationship Id="rId5" Type="http://schemas.openxmlformats.org/officeDocument/2006/relationships/notesSlide" Target="../notesSlides/notesSlide3.xml"/><Relationship Id="rId10" Type="http://schemas.microsoft.com/office/2007/relationships/hdphoto" Target="../media/hdphoto2.wdp"/><Relationship Id="rId4" Type="http://schemas.openxmlformats.org/officeDocument/2006/relationships/slideLayout" Target="../slideLayouts/slideLayout2.xml"/><Relationship Id="rId9"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7.gif"/><Relationship Id="rId3" Type="http://schemas.openxmlformats.org/officeDocument/2006/relationships/audio" Target="../media/media5.m4a"/><Relationship Id="rId7" Type="http://schemas.openxmlformats.org/officeDocument/2006/relationships/image" Target="../media/image6.gif"/><Relationship Id="rId2" Type="http://schemas.microsoft.com/office/2007/relationships/media" Target="../media/media5.m4a"/><Relationship Id="rId1" Type="http://schemas.openxmlformats.org/officeDocument/2006/relationships/tags" Target="../tags/tag5.xml"/><Relationship Id="rId6" Type="http://schemas.openxmlformats.org/officeDocument/2006/relationships/image" Target="../media/image1.png"/><Relationship Id="rId5" Type="http://schemas.openxmlformats.org/officeDocument/2006/relationships/notesSlide" Target="../notesSlides/notesSlide4.xml"/><Relationship Id="rId4" Type="http://schemas.openxmlformats.org/officeDocument/2006/relationships/slideLayout" Target="../slideLayouts/slideLayout2.xml"/><Relationship Id="rId9"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audio" Target="../media/media6.m4a"/><Relationship Id="rId7" Type="http://schemas.openxmlformats.org/officeDocument/2006/relationships/image" Target="../media/image2.png"/><Relationship Id="rId2" Type="http://schemas.microsoft.com/office/2007/relationships/media" Target="../media/media6.m4a"/><Relationship Id="rId1" Type="http://schemas.openxmlformats.org/officeDocument/2006/relationships/tags" Target="../tags/tag6.xml"/><Relationship Id="rId6" Type="http://schemas.openxmlformats.org/officeDocument/2006/relationships/image" Target="../media/image1.png"/><Relationship Id="rId5" Type="http://schemas.openxmlformats.org/officeDocument/2006/relationships/notesSlide" Target="../notesSlides/notesSlide5.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9.gif"/><Relationship Id="rId3" Type="http://schemas.openxmlformats.org/officeDocument/2006/relationships/audio" Target="../media/media7.m4a"/><Relationship Id="rId7" Type="http://schemas.openxmlformats.org/officeDocument/2006/relationships/image" Target="../media/image8.gif"/><Relationship Id="rId2" Type="http://schemas.microsoft.com/office/2007/relationships/media" Target="../media/media7.m4a"/><Relationship Id="rId1" Type="http://schemas.openxmlformats.org/officeDocument/2006/relationships/tags" Target="../tags/tag7.xml"/><Relationship Id="rId6" Type="http://schemas.openxmlformats.org/officeDocument/2006/relationships/image" Target="../media/image1.png"/><Relationship Id="rId5" Type="http://schemas.openxmlformats.org/officeDocument/2006/relationships/notesSlide" Target="../notesSlides/notesSlide6.xml"/><Relationship Id="rId10" Type="http://schemas.openxmlformats.org/officeDocument/2006/relationships/image" Target="../media/image2.png"/><Relationship Id="rId4" Type="http://schemas.openxmlformats.org/officeDocument/2006/relationships/slideLayout" Target="../slideLayouts/slideLayout2.xml"/><Relationship Id="rId9" Type="http://schemas.openxmlformats.org/officeDocument/2006/relationships/image" Target="../media/image10.jpg"/></Relationships>
</file>

<file path=ppt/slides/_rels/slide8.xml.rels><?xml version="1.0" encoding="UTF-8" standalone="yes"?>
<Relationships xmlns="http://schemas.openxmlformats.org/package/2006/relationships"><Relationship Id="rId8" Type="http://schemas.microsoft.com/office/2007/relationships/hdphoto" Target="../media/hdphoto3.wdp"/><Relationship Id="rId13" Type="http://schemas.openxmlformats.org/officeDocument/2006/relationships/image" Target="../media/image15.gif"/><Relationship Id="rId3" Type="http://schemas.openxmlformats.org/officeDocument/2006/relationships/audio" Target="../media/media8.m4a"/><Relationship Id="rId7" Type="http://schemas.openxmlformats.org/officeDocument/2006/relationships/image" Target="../media/image11.png"/><Relationship Id="rId12" Type="http://schemas.openxmlformats.org/officeDocument/2006/relationships/image" Target="../media/image14.gif"/><Relationship Id="rId2" Type="http://schemas.microsoft.com/office/2007/relationships/media" Target="../media/media8.m4a"/><Relationship Id="rId1" Type="http://schemas.openxmlformats.org/officeDocument/2006/relationships/tags" Target="../tags/tag8.xml"/><Relationship Id="rId6" Type="http://schemas.openxmlformats.org/officeDocument/2006/relationships/image" Target="../media/image1.png"/><Relationship Id="rId11" Type="http://schemas.openxmlformats.org/officeDocument/2006/relationships/image" Target="../media/image13.gif"/><Relationship Id="rId5" Type="http://schemas.openxmlformats.org/officeDocument/2006/relationships/notesSlide" Target="../notesSlides/notesSlide7.xml"/><Relationship Id="rId10" Type="http://schemas.microsoft.com/office/2007/relationships/hdphoto" Target="../media/hdphoto4.wdp"/><Relationship Id="rId4" Type="http://schemas.openxmlformats.org/officeDocument/2006/relationships/slideLayout" Target="../slideLayouts/slideLayout2.xml"/><Relationship Id="rId9" Type="http://schemas.openxmlformats.org/officeDocument/2006/relationships/image" Target="../media/image12.png"/><Relationship Id="rId14" Type="http://schemas.openxmlformats.org/officeDocument/2006/relationships/image" Target="../media/image2.png"/></Relationships>
</file>

<file path=ppt/slides/_rels/slide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audio" Target="../media/media9.m4a"/><Relationship Id="rId7" Type="http://schemas.openxmlformats.org/officeDocument/2006/relationships/image" Target="../media/image14.png"/><Relationship Id="rId2" Type="http://schemas.microsoft.com/office/2007/relationships/media" Target="../media/media9.m4a"/><Relationship Id="rId1" Type="http://schemas.openxmlformats.org/officeDocument/2006/relationships/tags" Target="../tags/tag9.xml"/><Relationship Id="rId6" Type="http://schemas.openxmlformats.org/officeDocument/2006/relationships/image" Target="../media/image1.png"/><Relationship Id="rId5" Type="http://schemas.openxmlformats.org/officeDocument/2006/relationships/notesSlide" Target="../notesSlides/notesSlide8.xml"/><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microsoft.com/office/2007/relationships/hdphoto" Target="../media/hdphoto5.wdp"/><Relationship Id="rId3" Type="http://schemas.openxmlformats.org/officeDocument/2006/relationships/audio" Target="../media/media10.m4a"/><Relationship Id="rId7" Type="http://schemas.openxmlformats.org/officeDocument/2006/relationships/image" Target="../media/image16.png"/><Relationship Id="rId2" Type="http://schemas.microsoft.com/office/2007/relationships/media" Target="../media/media10.m4a"/><Relationship Id="rId1" Type="http://schemas.openxmlformats.org/officeDocument/2006/relationships/tags" Target="../tags/tag10.xml"/><Relationship Id="rId6" Type="http://schemas.openxmlformats.org/officeDocument/2006/relationships/image" Target="../media/image1.png"/><Relationship Id="rId5" Type="http://schemas.openxmlformats.org/officeDocument/2006/relationships/notesSlide" Target="../notesSlides/notesSlide9.xml"/><Relationship Id="rId4" Type="http://schemas.openxmlformats.org/officeDocument/2006/relationships/slideLayout" Target="../slideLayouts/slideLayout2.xml"/><Relationship Id="rId9" Type="http://schemas.openxmlformats.org/officeDocument/2006/relationships/image" Target="../media/image2.png"/></Relationships>
</file>

<file path=ppt/slides/_rels/slide11.xml.rels><?xml version="1.0" encoding="UTF-8" standalone="yes"?>
<Relationships xmlns="http://schemas.openxmlformats.org/package/2006/relationships"><Relationship Id="rId8" Type="http://schemas.microsoft.com/office/2007/relationships/hdphoto" Target="../media/hdphoto6.wdp"/><Relationship Id="rId3" Type="http://schemas.openxmlformats.org/officeDocument/2006/relationships/audio" Target="../media/media11.m4a"/><Relationship Id="rId7" Type="http://schemas.openxmlformats.org/officeDocument/2006/relationships/image" Target="../media/image17.png"/><Relationship Id="rId2" Type="http://schemas.microsoft.com/office/2007/relationships/media" Target="../media/media11.m4a"/><Relationship Id="rId1" Type="http://schemas.openxmlformats.org/officeDocument/2006/relationships/tags" Target="../tags/tag11.xml"/><Relationship Id="rId6" Type="http://schemas.openxmlformats.org/officeDocument/2006/relationships/image" Target="../media/image1.png"/><Relationship Id="rId5" Type="http://schemas.openxmlformats.org/officeDocument/2006/relationships/notesSlide" Target="../notesSlides/notesSlide10.xml"/><Relationship Id="rId4" Type="http://schemas.openxmlformats.org/officeDocument/2006/relationships/slideLayout" Target="../slideLayouts/slideLayout2.xml"/><Relationship Id="rId9"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audio" Target="../media/media12.m4a"/><Relationship Id="rId7" Type="http://schemas.openxmlformats.org/officeDocument/2006/relationships/image" Target="../media/image2.png"/><Relationship Id="rId2" Type="http://schemas.microsoft.com/office/2007/relationships/media" Target="../media/media12.m4a"/><Relationship Id="rId1" Type="http://schemas.openxmlformats.org/officeDocument/2006/relationships/tags" Target="../tags/tag12.xml"/><Relationship Id="rId6" Type="http://schemas.openxmlformats.org/officeDocument/2006/relationships/image" Target="../media/image1.png"/><Relationship Id="rId5" Type="http://schemas.openxmlformats.org/officeDocument/2006/relationships/notesSlide" Target="../notesSlides/notesSlide11.xml"/><Relationship Id="rId4"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7227" y="2235200"/>
            <a:ext cx="10515600" cy="2387600"/>
          </a:xfrm>
        </p:spPr>
        <p:txBody>
          <a:bodyPr/>
          <a:lstStyle/>
          <a:p>
            <a:r>
              <a:rPr lang="en-US" b="1" dirty="0"/>
              <a:t>Physics (PHY 102)</a:t>
            </a:r>
            <a:r>
              <a:rPr lang="en-US" sz="2400" b="1" dirty="0">
                <a:solidFill>
                  <a:schemeClr val="accent4"/>
                </a:solidFill>
              </a:rPr>
              <a:t> Physical Optics</a:t>
            </a:r>
            <a:endParaRPr lang="en-US" b="1" dirty="0">
              <a:solidFill>
                <a:schemeClr val="accent4"/>
              </a:solidFill>
            </a:endParaRPr>
          </a:p>
        </p:txBody>
      </p:sp>
      <p:pic>
        <p:nvPicPr>
          <p:cNvPr id="4" name="Picture 5" descr="World University of Bangladesh (WUB) | Ranking and Admission"/>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832827" y="0"/>
            <a:ext cx="1359173" cy="1161198"/>
          </a:xfrm>
          <a:prstGeom prst="rect">
            <a:avLst/>
          </a:prstGeom>
          <a:noFill/>
          <a:extLst>
            <a:ext uri="{909E8E84-426E-40DD-AFC4-6F175D3DCCD1}">
              <a14:hiddenFill xmlns:a14="http://schemas.microsoft.com/office/drawing/2010/main">
                <a:solidFill>
                  <a:srgbClr val="FFFFFF"/>
                </a:solidFill>
              </a14:hiddenFill>
            </a:ext>
          </a:extLst>
        </p:spPr>
      </p:pic>
      <p:sp>
        <p:nvSpPr>
          <p:cNvPr id="7" name="Subtitle 6">
            <a:extLst>
              <a:ext uri="{FF2B5EF4-FFF2-40B4-BE49-F238E27FC236}">
                <a16:creationId xmlns:a16="http://schemas.microsoft.com/office/drawing/2014/main" id="{C54560AC-844B-3CB4-E240-8931BB0BB695}"/>
              </a:ext>
            </a:extLst>
          </p:cNvPr>
          <p:cNvSpPr>
            <a:spLocks noGrp="1"/>
          </p:cNvSpPr>
          <p:nvPr>
            <p:ph type="subTitle" idx="1"/>
          </p:nvPr>
        </p:nvSpPr>
        <p:spPr/>
        <p:txBody>
          <a:bodyPr>
            <a:normAutofit fontScale="55000" lnSpcReduction="20000"/>
          </a:bodyPr>
          <a:lstStyle/>
          <a:p>
            <a:r>
              <a:rPr lang="en-US" dirty="0" err="1">
                <a:ln w="0"/>
                <a:solidFill>
                  <a:schemeClr val="tx1"/>
                </a:solidFill>
                <a:effectLst>
                  <a:outerShdw blurRad="38100" dist="19050" dir="2700000" algn="tl" rotWithShape="0">
                    <a:schemeClr val="dk1">
                      <a:alpha val="40000"/>
                    </a:schemeClr>
                  </a:outerShdw>
                </a:effectLst>
              </a:rPr>
              <a:t>Farjana</a:t>
            </a:r>
            <a:r>
              <a:rPr lang="en-US" dirty="0">
                <a:ln w="0"/>
                <a:solidFill>
                  <a:schemeClr val="tx1"/>
                </a:solidFill>
                <a:effectLst>
                  <a:outerShdw blurRad="38100" dist="19050" dir="2700000" algn="tl" rotWithShape="0">
                    <a:schemeClr val="dk1">
                      <a:alpha val="40000"/>
                    </a:schemeClr>
                  </a:outerShdw>
                </a:effectLst>
              </a:rPr>
              <a:t> </a:t>
            </a:r>
            <a:r>
              <a:rPr lang="en-US" dirty="0" err="1">
                <a:ln w="0"/>
                <a:solidFill>
                  <a:schemeClr val="tx1"/>
                </a:solidFill>
                <a:effectLst>
                  <a:outerShdw blurRad="38100" dist="19050" dir="2700000" algn="tl" rotWithShape="0">
                    <a:schemeClr val="dk1">
                      <a:alpha val="40000"/>
                    </a:schemeClr>
                  </a:outerShdw>
                </a:effectLst>
              </a:rPr>
              <a:t>Yeasmin</a:t>
            </a:r>
            <a:endParaRPr lang="en-US" dirty="0">
              <a:ln w="0"/>
              <a:solidFill>
                <a:schemeClr val="tx1"/>
              </a:solidFill>
              <a:effectLst>
                <a:outerShdw blurRad="38100" dist="19050" dir="2700000" algn="tl" rotWithShape="0">
                  <a:schemeClr val="dk1">
                    <a:alpha val="40000"/>
                  </a:schemeClr>
                </a:outerShdw>
              </a:effectLst>
            </a:endParaRPr>
          </a:p>
          <a:p>
            <a:r>
              <a:rPr lang="en-US" dirty="0">
                <a:ln w="0"/>
                <a:solidFill>
                  <a:schemeClr val="tx1"/>
                </a:solidFill>
                <a:effectLst>
                  <a:outerShdw blurRad="38100" dist="19050" dir="2700000" algn="tl" rotWithShape="0">
                    <a:schemeClr val="dk1">
                      <a:alpha val="40000"/>
                    </a:schemeClr>
                  </a:outerShdw>
                </a:effectLst>
              </a:rPr>
              <a:t>Lecturer in Physics, Basic Science Division</a:t>
            </a:r>
          </a:p>
          <a:p>
            <a:r>
              <a:rPr lang="en-US" dirty="0">
                <a:ln w="0"/>
                <a:solidFill>
                  <a:schemeClr val="tx1"/>
                </a:solidFill>
                <a:effectLst>
                  <a:outerShdw blurRad="38100" dist="19050" dir="2700000" algn="tl" rotWithShape="0">
                    <a:schemeClr val="dk1">
                      <a:alpha val="40000"/>
                    </a:schemeClr>
                  </a:outerShdw>
                </a:effectLst>
              </a:rPr>
              <a:t>World University of Bangladesh</a:t>
            </a:r>
          </a:p>
          <a:p>
            <a:endParaRPr lang="en-US" dirty="0"/>
          </a:p>
        </p:txBody>
      </p:sp>
      <p:pic>
        <p:nvPicPr>
          <p:cNvPr id="3" name="Audio 2">
            <a:hlinkClick r:id="" action="ppaction://media"/>
            <a:extLst>
              <a:ext uri="{FF2B5EF4-FFF2-40B4-BE49-F238E27FC236}">
                <a16:creationId xmlns:a16="http://schemas.microsoft.com/office/drawing/2014/main" id="{367654E0-65BF-5965-94D6-383BF0183F16}"/>
              </a:ext>
            </a:extLst>
          </p:cNvPr>
          <p:cNvPicPr>
            <a:picLocks noChangeAspect="1"/>
          </p:cNvPicPr>
          <p:nvPr>
            <a:audioFile r:link="rId3"/>
            <p:extLst>
              <p:ext uri="{DAA4B4D4-6D71-4841-9C94-3DE7FCFB9230}">
                <p14:media xmlns:p14="http://schemas.microsoft.com/office/powerpoint/2010/main" r:embed="rId2"/>
              </p:ext>
            </p:extLst>
          </p:nvPr>
        </p:nvPicPr>
        <p:blipFill>
          <a:blip r:embed="rId7"/>
          <a:srcRect l="-200000" t="-90625" r="-200000" b="-90625"/>
          <a:stretch>
            <a:fillRect/>
          </a:stretch>
        </p:blipFill>
        <p:spPr>
          <a:xfrm>
            <a:off x="9144000" y="5143500"/>
            <a:ext cx="3048000" cy="1714500"/>
          </a:xfrm>
          <a:prstGeom prst="rect">
            <a:avLst/>
          </a:prstGeom>
        </p:spPr>
      </p:pic>
    </p:spTree>
    <p:custDataLst>
      <p:tags r:id="rId1"/>
    </p:custDataLst>
    <p:extLst>
      <p:ext uri="{BB962C8B-B14F-4D97-AF65-F5344CB8AC3E}">
        <p14:creationId xmlns:p14="http://schemas.microsoft.com/office/powerpoint/2010/main" val="2471807738"/>
      </p:ext>
    </p:extLst>
  </p:cSld>
  <p:clrMapOvr>
    <a:masterClrMapping/>
  </p:clrMapOvr>
  <mc:AlternateContent xmlns:mc="http://schemas.openxmlformats.org/markup-compatibility/2006">
    <mc:Choice xmlns:p14="http://schemas.microsoft.com/office/powerpoint/2010/main" Requires="p14">
      <p:transition spd="slow" p14:dur="2000" advTm="7376"/>
    </mc:Choice>
    <mc:Fallback>
      <p:transition spd="slow" advTm="737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Objectives</a:t>
            </a:r>
          </a:p>
        </p:txBody>
      </p:sp>
      <p:pic>
        <p:nvPicPr>
          <p:cNvPr id="1029" name="Picture 5" descr="World University of Bangladesh (WUB) | Ranking and Admission"/>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591599" y="0"/>
            <a:ext cx="1600401" cy="136728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9775BF7-2548-4421-B6D6-D3074714DEBC}"/>
              </a:ext>
            </a:extLst>
          </p:cNvPr>
          <p:cNvSpPr txBox="1"/>
          <p:nvPr/>
        </p:nvSpPr>
        <p:spPr>
          <a:xfrm>
            <a:off x="3300993" y="3103982"/>
            <a:ext cx="5240537" cy="923330"/>
          </a:xfrm>
          <a:prstGeom prst="rect">
            <a:avLst/>
          </a:prstGeom>
          <a:noFill/>
        </p:spPr>
        <p:txBody>
          <a:bodyPr wrap="none" rtlCol="0">
            <a:spAutoFit/>
          </a:bodyPr>
          <a:lstStyle/>
          <a:p>
            <a:r>
              <a:rPr lang="en-US" sz="5400" b="1" dirty="0">
                <a:cs typeface="Times New Roman" panose="02020603050405020304" pitchFamily="18" charset="0"/>
              </a:rPr>
              <a:t> Physical Optics</a:t>
            </a:r>
          </a:p>
        </p:txBody>
      </p:sp>
      <p:pic>
        <p:nvPicPr>
          <p:cNvPr id="16" name="Picture 4" descr="Writing Hand | Free Vectors, Stock Photos &amp; PSD">
            <a:extLst>
              <a:ext uri="{FF2B5EF4-FFF2-40B4-BE49-F238E27FC236}">
                <a16:creationId xmlns:a16="http://schemas.microsoft.com/office/drawing/2014/main" id="{5A50438D-3358-4F16-9C98-383C91F5E31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57203" t="17225" r="6215"/>
          <a:stretch/>
        </p:blipFill>
        <p:spPr bwMode="auto">
          <a:xfrm rot="21042646">
            <a:off x="10104816" y="4705761"/>
            <a:ext cx="1736153" cy="2154202"/>
          </a:xfrm>
          <a:prstGeom prst="rect">
            <a:avLst/>
          </a:prstGeom>
          <a:noFill/>
          <a:extLst>
            <a:ext uri="{909E8E84-426E-40DD-AFC4-6F175D3DCCD1}">
              <a14:hiddenFill xmlns:a14="http://schemas.microsoft.com/office/drawing/2010/main">
                <a:solidFill>
                  <a:srgbClr val="FFFFFF"/>
                </a:solidFill>
              </a14:hiddenFill>
            </a:ext>
          </a:extLst>
        </p:spPr>
      </p:pic>
      <p:pic>
        <p:nvPicPr>
          <p:cNvPr id="4" name="Audio 3">
            <a:hlinkClick r:id="" action="ppaction://media"/>
            <a:extLst>
              <a:ext uri="{FF2B5EF4-FFF2-40B4-BE49-F238E27FC236}">
                <a16:creationId xmlns:a16="http://schemas.microsoft.com/office/drawing/2014/main" id="{FC71699C-F61C-BCEF-CF0B-84052D828851}"/>
              </a:ext>
            </a:extLst>
          </p:cNvPr>
          <p:cNvPicPr>
            <a:picLocks noChangeAspect="1"/>
          </p:cNvPicPr>
          <p:nvPr>
            <a:audioFile r:link="rId3"/>
            <p:extLst>
              <p:ext uri="{DAA4B4D4-6D71-4841-9C94-3DE7FCFB9230}">
                <p14:media xmlns:p14="http://schemas.microsoft.com/office/powerpoint/2010/main" r:embed="rId2"/>
              </p:ext>
            </p:extLst>
          </p:nvPr>
        </p:nvPicPr>
        <p:blipFill>
          <a:blip r:embed="rId8"/>
          <a:srcRect l="-200000" t="-90625" r="-200000" b="-90625"/>
          <a:stretch>
            <a:fillRect/>
          </a:stretch>
        </p:blipFill>
        <p:spPr>
          <a:xfrm>
            <a:off x="9144000" y="5143500"/>
            <a:ext cx="3048000" cy="1714500"/>
          </a:xfrm>
          <a:prstGeom prst="rect">
            <a:avLst/>
          </a:prstGeom>
        </p:spPr>
      </p:pic>
    </p:spTree>
    <p:custDataLst>
      <p:tags r:id="rId1"/>
    </p:custDataLst>
    <p:extLst>
      <p:ext uri="{BB962C8B-B14F-4D97-AF65-F5344CB8AC3E}">
        <p14:creationId xmlns:p14="http://schemas.microsoft.com/office/powerpoint/2010/main" val="1554033091"/>
      </p:ext>
    </p:extLst>
  </p:cSld>
  <p:clrMapOvr>
    <a:masterClrMapping/>
  </p:clrMapOvr>
  <mc:AlternateContent xmlns:mc="http://schemas.openxmlformats.org/markup-compatibility/2006">
    <mc:Choice xmlns:p14="http://schemas.microsoft.com/office/powerpoint/2010/main" Requires="p14">
      <p:transition p14:dur="10" advTm="6683"/>
    </mc:Choice>
    <mc:Fallback>
      <p:transition advTm="668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iterate type="lt">
                                    <p:tmPct val="45000"/>
                                  </p:iterate>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par>
                                <p:cTn id="12" presetID="0" presetClass="path" presetSubtype="0" fill="hold" nodeType="withEffect">
                                  <p:stCondLst>
                                    <p:cond delay="0"/>
                                  </p:stCondLst>
                                  <p:childTnLst>
                                    <p:animMotion origin="layout" path="M -0.51263 -0.29838 L -0.51263 -0.29815 C -0.51146 -0.29237 -0.50937 -0.28681 -0.50885 -0.28033 C -0.50768 -0.26621 -0.50924 -0.22338 -0.50755 -0.2375 C -0.50521 -0.25903 -0.50677 -0.28125 -0.50638 -0.30301 C -0.50469 -0.30278 -0.49115 -0.30093 -0.48724 -0.29838 C -0.48581 -0.29746 -0.48477 -0.29537 -0.48346 -0.29399 C -0.48307 -0.29167 -0.48216 -0.28959 -0.48216 -0.28727 C -0.48216 -0.28334 -0.48229 -0.27917 -0.48346 -0.27593 C -0.48424 -0.27385 -0.48594 -0.27408 -0.48724 -0.27362 C -0.49102 -0.27246 -0.49492 -0.27223 -0.4987 -0.2713 C -0.5 -0.27061 -0.50352 -0.27084 -0.50247 -0.26922 C -0.50065 -0.26575 -0.49492 -0.26459 -0.49492 -0.26436 C -0.49362 -0.2632 -0.49245 -0.26135 -0.49115 -0.26019 C -0.48984 -0.25903 -0.48828 -0.2595 -0.48724 -0.25787 C -0.48633 -0.25625 -0.48659 -0.25325 -0.48594 -0.25116 C -0.48372 -0.24306 -0.48268 -0.24306 -0.47839 -0.2375 C -0.47904 -0.25625 -0.48112 -0.28912 -0.47839 -0.30741 C -0.47799 -0.30973 -0.47578 -0.30602 -0.47461 -0.30533 C -0.47409 -0.29098 -0.47474 -0.27639 -0.47331 -0.26227 C -0.47305 -0.25973 -0.47187 -0.26737 -0.4707 -0.26922 C -0.46849 -0.27269 -0.46315 -0.27825 -0.46315 -0.27801 C -0.45794 -0.27593 -0.4569 -0.27778 -0.45547 -0.2669 C -0.45417 -0.25649 -0.45299 -0.23519 -0.45299 -0.23496 C -0.45039 -0.24213 -0.44974 -0.24306 -0.44792 -0.25116 C -0.4474 -0.25325 -0.44701 -0.25556 -0.44661 -0.25787 C -0.44622 -0.26829 -0.44687 -0.27917 -0.44531 -0.28936 C -0.44492 -0.29213 -0.44336 -0.28519 -0.44284 -0.28264 C -0.44206 -0.27987 -0.44206 -0.27662 -0.44154 -0.27362 C -0.44076 -0.26899 -0.44154 -0.26158 -0.43893 -0.26019 L -0.43138 -0.25556 C -0.43008 -0.25625 -0.42865 -0.25649 -0.42747 -0.25787 C -0.42461 -0.26135 -0.42305 -0.26644 -0.42122 -0.2713 C -0.4207 -0.27524 -0.41927 -0.27894 -0.41992 -0.28264 C -0.42148 -0.2926 -0.4319 -0.28311 -0.43255 -0.28264 C -0.43685 -0.25996 -0.43047 -0.29584 -0.43516 -0.23519 C -0.43542 -0.23195 -0.43672 -0.22917 -0.43763 -0.22616 C -0.44036 -0.21806 -0.43971 -0.22014 -0.44401 -0.21482 C -0.44492 -0.21713 -0.44648 -0.21899 -0.44661 -0.22176 C -0.44687 -0.22917 -0.44701 -0.23727 -0.44531 -0.24422 C -0.44453 -0.24746 -0.44193 -0.24723 -0.44023 -0.24885 C -0.43893 -0.25024 -0.43776 -0.25209 -0.43646 -0.25325 C -0.43529 -0.2544 -0.43385 -0.25487 -0.43255 -0.25556 C -0.42474 -0.2595 -0.42448 -0.25834 -0.41354 -0.26019 C -0.41042 -0.26181 -0.40833 -0.2625 -0.40586 -0.2669 C -0.40482 -0.26875 -0.40417 -0.2713 -0.40339 -0.27362 C -0.40299 -0.27593 -0.40156 -0.27825 -0.40208 -0.28033 C -0.40417 -0.28936 -0.41484 -0.28287 -0.41615 -0.28264 C -0.41562 -0.27894 -0.41628 -0.27408 -0.41484 -0.2713 C -0.41289 -0.26806 -0.40977 -0.26829 -0.40716 -0.2669 L -0.40339 -0.26459 C -0.40247 -0.26227 -0.40078 -0.26065 -0.40078 -0.25787 C -0.40078 -0.23959 -0.40208 -0.24306 -0.40846 -0.23982 C -0.40977 -0.23912 -0.41094 -0.2382 -0.41224 -0.2375 C -0.40833 -0.24792 -0.41068 -0.24607 -0.40078 -0.24213 C -0.39818 -0.24098 -0.39323 -0.2375 -0.39323 -0.23727 C -0.38984 -0.23912 -0.38503 -0.23704 -0.38307 -0.24213 C -0.3819 -0.24491 -0.38477 -0.26366 -0.38555 -0.26922 C -0.38594 -0.27593 -0.38516 -0.28334 -0.38685 -0.28936 C -0.3875 -0.2919 -0.38945 -0.28542 -0.38945 -0.28264 C -0.38945 -0.27061 -0.38763 -0.25857 -0.38685 -0.24653 C -0.38138 -0.24723 -0.37565 -0.24653 -0.37031 -0.24885 C -0.36862 -0.24954 -0.3681 -0.25394 -0.36654 -0.25556 C -0.36419 -0.25787 -0.35885 -0.26019 -0.35885 -0.25996 C -0.35755 -0.26227 -0.35625 -0.26436 -0.35508 -0.2669 C -0.35312 -0.27084 -0.35078 -0.27524 -0.35378 -0.28033 C -0.35469 -0.28218 -0.35638 -0.28195 -0.35755 -0.28264 C -0.36146 -0.28195 -0.36719 -0.28635 -0.36901 -0.28033 C -0.37201 -0.2713 -0.36849 -0.25487 -0.36654 -0.24422 C -0.35664 -0.2463 -0.35625 -0.24213 -0.3513 -0.25325 C -0.34935 -0.25764 -0.34622 -0.2669 -0.34622 -0.26667 C -0.34557 -0.27223 -0.34596 -0.2845 -0.33984 -0.28264 C -0.33828 -0.28218 -0.33815 -0.27825 -0.33724 -0.27593 C -0.33685 -0.27362 -0.33581 -0.27153 -0.33594 -0.26922 C -0.3362 -0.26644 -0.3375 -0.26436 -0.33854 -0.26227 C -0.34219 -0.25463 -0.34141 -0.25602 -0.34622 -0.25325 C -0.34701 -0.25116 -0.3487 -0.24931 -0.3487 -0.24653 C -0.3487 -0.23797 -0.34232 -0.23843 -0.33984 -0.2375 C -0.33672 -0.23473 -0.33086 -0.22732 -0.32708 -0.23519 C -0.32578 -0.2382 -0.3293 -0.24306 -0.32839 -0.24653 C -0.32773 -0.24908 -0.32669 -0.24213 -0.32578 -0.23982 C -0.32539 -0.2375 -0.32565 -0.2345 -0.32461 -0.23311 C -0.32318 -0.23102 -0.32109 -0.23149 -0.31953 -0.23079 C -0.31823 -0.2301 -0.31693 -0.22917 -0.31562 -0.22848 C -0.31523 -0.23612 -0.3151 -0.24352 -0.31445 -0.25116 C -0.3138 -0.25718 -0.31432 -0.27362 -0.31185 -0.26922 C -0.30859 -0.2632 -0.31094 -0.25255 -0.31055 -0.24422 C -0.29961 -0.24514 -0.28854 -0.24514 -0.27747 -0.24653 C -0.27578 -0.24676 -0.27409 -0.24815 -0.2724 -0.24885 C -0.26328 -0.25232 -0.26914 -0.24931 -0.26224 -0.25325 C -0.26029 -0.25556 -0.25612 -0.25926 -0.25586 -0.26459 C -0.2556 -0.27223 -0.25651 -0.27963 -0.25716 -0.28727 C -0.25742 -0.28959 -0.25755 -0.29237 -0.25846 -0.29399 C -0.25937 -0.29561 -0.26094 -0.29537 -0.26224 -0.2963 C -0.26523 -0.29537 -0.26862 -0.29676 -0.27122 -0.29399 C -0.27266 -0.29237 -0.27187 -0.28797 -0.2724 -0.28496 C -0.27318 -0.28033 -0.27409 -0.27593 -0.275 -0.2713 L -0.2763 -0.26459 C -0.27539 -0.25787 -0.27617 -0.24977 -0.2737 -0.24422 C -0.27214 -0.24075 -0.26862 -0.24213 -0.26615 -0.24213 C -0.25885 -0.24213 -0.25169 -0.24352 -0.24453 -0.24422 C -0.24362 -0.24885 -0.24258 -0.25325 -0.24193 -0.25787 C -0.24036 -0.26922 -0.24115 -0.26389 -0.23932 -0.27362 C -0.23893 -0.26389 -0.2431 -0.24862 -0.23815 -0.24422 C -0.23359 -0.24028 -0.23828 -0.26274 -0.23685 -0.2713 C -0.23633 -0.27454 -0.2306 -0.27732 -0.22917 -0.27825 C -0.22708 -0.27732 -0.225 -0.27686 -0.22292 -0.27593 C -0.22161 -0.27524 -0.2194 -0.27593 -0.21901 -0.27362 C -0.21758 -0.26297 -0.22214 -0.24769 -0.22799 -0.24422 C -0.23906 -0.23774 -0.23307 -0.2419 -0.20885 -0.24422 C -0.20755 -0.24514 -0.20612 -0.24514 -0.20508 -0.24653 C -0.20286 -0.24977 -0.20208 -0.25556 -0.2013 -0.26019 C -0.19844 -0.3095 -0.20156 -0.26621 -0.1987 -0.23982 C -0.19844 -0.23704 -0.19622 -0.23681 -0.19492 -0.23519 C -0.19193 -0.23612 -0.18854 -0.23473 -0.18594 -0.2375 C -0.18451 -0.23912 -0.18542 -0.24375 -0.18477 -0.24653 C -0.18411 -0.24908 -0.18307 -0.25116 -0.18216 -0.25325 C -0.17852 -0.27269 -0.1793 -0.26204 -0.18086 -0.28496 C -0.18451 -0.2595 -0.18411 -0.27292 -0.18086 -0.24422 C -0.16615 -0.24862 -0.17891 -0.24213 -0.16953 -0.25325 C -0.16836 -0.25463 -0.1668 -0.2544 -0.16562 -0.25556 C -0.16432 -0.25672 -0.16315 -0.2588 -0.16185 -0.26019 C -0.16068 -0.26112 -0.15924 -0.26135 -0.15807 -0.26227 C -0.15664 -0.26366 -0.1556 -0.26551 -0.15417 -0.2669 C -0.1526 -0.26852 -0.15078 -0.26991 -0.14909 -0.2713 C -0.1487 -0.27362 -0.1474 -0.27593 -0.14792 -0.27825 C -0.14935 -0.28635 -0.15456 -0.28588 -0.15807 -0.28727 C -0.16042 -0.28612 -0.16536 -0.28496 -0.16693 -0.28033 C -0.16836 -0.27639 -0.16953 -0.2669 -0.16953 -0.26667 C -0.16901 -0.26019 -0.16953 -0.25301 -0.16823 -0.24653 C -0.16771 -0.24399 -0.16562 -0.24375 -0.16432 -0.24213 C -0.15807 -0.23264 -0.16341 -0.23704 -0.15677 -0.23311 C -0.15547 -0.2338 -0.15378 -0.23334 -0.15299 -0.23519 C -0.15013 -0.24237 -0.15182 -0.25 -0.14792 -0.25556 C -0.14687 -0.25695 -0.14544 -0.25764 -0.14401 -0.25787 C -0.13815 -0.25903 -0.13216 -0.25926 -0.1263 -0.26019 C -0.125 -0.26158 -0.12279 -0.26204 -0.1224 -0.26459 C -0.12083 -0.27801 -0.12357 -0.2801 -0.12747 -0.28727 C -0.13086 -0.28635 -0.1349 -0.2882 -0.13763 -0.28496 C -0.13945 -0.28287 -0.13919 -0.27755 -0.13893 -0.27362 C -0.13841 -0.26274 -0.13724 -0.25973 -0.13255 -0.25556 C -0.13138 -0.2544 -0.13008 -0.25417 -0.12878 -0.25325 C -0.12917 -0.24815 -0.12852 -0.2419 -0.13008 -0.2375 C -0.13164 -0.23287 -0.13763 -0.22848 -0.13763 -0.22825 C -0.13984 -0.22917 -0.14284 -0.22755 -0.14401 -0.23079 C -0.14583 -0.23565 -0.14154 -0.24514 -0.14023 -0.24885 C -0.12461 -0.24561 -0.13268 -0.24653 -0.11602 -0.24653 L -0.11602 -0.2463 " pathEditMode="relative" rAng="0" ptsTypes="AAAAAAAAAAAAAAAAAAAAAAAAAAAAAAAAAAAAAAAAAAAAAAAAAAAAAAAAAAAAAAAAAAAAAAAAAAAAAAAAAAAAAAAAAAAAAAAAAAAAAAAAAAAAAAAAAAAAAAAAAAAAAAAAAAAAAAAAAAAAAAAAAAAA">
                                      <p:cBhvr>
                                        <p:cTn id="13" dur="4000" fill="hold"/>
                                        <p:tgtEl>
                                          <p:spTgt spid="16"/>
                                        </p:tgtEl>
                                        <p:attrNameLst>
                                          <p:attrName>ppt_x</p:attrName>
                                          <p:attrName>ppt_y</p:attrName>
                                        </p:attrNameLst>
                                      </p:cBhvr>
                                      <p:rCtr x="19831" y="3681"/>
                                    </p:animMotion>
                                  </p:childTnLst>
                                </p:cTn>
                              </p:par>
                            </p:childTnLst>
                          </p:cTn>
                        </p:par>
                        <p:par>
                          <p:cTn id="14" fill="hold">
                            <p:stCondLst>
                              <p:cond delay="4000"/>
                            </p:stCondLst>
                            <p:childTnLst>
                              <p:par>
                                <p:cTn id="15" presetID="2" presetClass="exit" presetSubtype="4" fill="hold" nodeType="afterEffect">
                                  <p:stCondLst>
                                    <p:cond delay="0"/>
                                  </p:stCondLst>
                                  <p:childTnLst>
                                    <p:anim calcmode="lin" valueType="num">
                                      <p:cBhvr additive="base">
                                        <p:cTn id="16" dur="500"/>
                                        <p:tgtEl>
                                          <p:spTgt spid="16"/>
                                        </p:tgtEl>
                                        <p:attrNameLst>
                                          <p:attrName>ppt_x</p:attrName>
                                        </p:attrNameLst>
                                      </p:cBhvr>
                                      <p:tavLst>
                                        <p:tav tm="0">
                                          <p:val>
                                            <p:strVal val="ppt_x"/>
                                          </p:val>
                                        </p:tav>
                                        <p:tav tm="100000">
                                          <p:val>
                                            <p:strVal val="ppt_x"/>
                                          </p:val>
                                        </p:tav>
                                      </p:tavLst>
                                    </p:anim>
                                    <p:anim calcmode="lin" valueType="num">
                                      <p:cBhvr additive="base">
                                        <p:cTn id="17" dur="500"/>
                                        <p:tgtEl>
                                          <p:spTgt spid="16"/>
                                        </p:tgtEl>
                                        <p:attrNameLst>
                                          <p:attrName>ppt_y</p:attrName>
                                        </p:attrNameLst>
                                      </p:cBhvr>
                                      <p:tavLst>
                                        <p:tav tm="0">
                                          <p:val>
                                            <p:strVal val="ppt_y"/>
                                          </p:val>
                                        </p:tav>
                                        <p:tav tm="100000">
                                          <p:val>
                                            <p:strVal val="1+ppt_h/2"/>
                                          </p:val>
                                        </p:tav>
                                      </p:tavLst>
                                    </p:anim>
                                    <p:set>
                                      <p:cBhvr>
                                        <p:cTn id="18"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9" fill="hold" display="0">
                  <p:stCondLst>
                    <p:cond delay="indefinite"/>
                  </p:stCondLst>
                  <p:endCondLst>
                    <p:cond evt="onStopAudio" delay="0">
                      <p:tgtEl>
                        <p:sldTgt/>
                      </p:tgtEl>
                    </p:cond>
                  </p:endCondLst>
                </p:cTn>
                <p:tgtEl>
                  <p:spTgt spid="4"/>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F8D1F-A713-109A-608F-6BAE35077899}"/>
              </a:ext>
            </a:extLst>
          </p:cNvPr>
          <p:cNvSpPr>
            <a:spLocks noGrp="1"/>
          </p:cNvSpPr>
          <p:nvPr>
            <p:ph type="title"/>
          </p:nvPr>
        </p:nvSpPr>
        <p:spPr/>
        <p:txBody>
          <a:bodyPr/>
          <a:lstStyle/>
          <a:p>
            <a:r>
              <a:rPr lang="en-US" dirty="0"/>
              <a:t>Diffraction of Light</a:t>
            </a:r>
          </a:p>
        </p:txBody>
      </p:sp>
      <p:sp>
        <p:nvSpPr>
          <p:cNvPr id="3" name="Content Placeholder 2">
            <a:extLst>
              <a:ext uri="{FF2B5EF4-FFF2-40B4-BE49-F238E27FC236}">
                <a16:creationId xmlns:a16="http://schemas.microsoft.com/office/drawing/2014/main" id="{4F3040C0-6136-BCF4-5BC8-66EFA4606E3B}"/>
              </a:ext>
            </a:extLst>
          </p:cNvPr>
          <p:cNvSpPr>
            <a:spLocks noGrp="1"/>
          </p:cNvSpPr>
          <p:nvPr>
            <p:ph idx="1"/>
          </p:nvPr>
        </p:nvSpPr>
        <p:spPr>
          <a:xfrm>
            <a:off x="838201" y="1825625"/>
            <a:ext cx="10749367" cy="4351338"/>
          </a:xfrm>
        </p:spPr>
        <p:txBody>
          <a:bodyPr>
            <a:normAutofit fontScale="85000" lnSpcReduction="10000"/>
          </a:bodyPr>
          <a:lstStyle/>
          <a:p>
            <a:pPr algn="l"/>
            <a:r>
              <a:rPr lang="en-US" b="0" i="0" dirty="0">
                <a:solidFill>
                  <a:srgbClr val="424242"/>
                </a:solidFill>
                <a:effectLst/>
                <a:latin typeface="Neue Helvetica W01"/>
              </a:rPr>
              <a:t>Imagine passing a monochromatic light beam through a narrow opening—a slit just a little wider than the wavelength of the light. Instead of a simple shadow of the slit on the screen, you will see that an interference pattern appears, even though there is only one slit.</a:t>
            </a:r>
          </a:p>
          <a:p>
            <a:pPr algn="l"/>
            <a:r>
              <a:rPr lang="en-US" b="0" i="0" dirty="0">
                <a:solidFill>
                  <a:srgbClr val="424242"/>
                </a:solidFill>
                <a:effectLst/>
                <a:latin typeface="Neue Helvetica W01"/>
              </a:rPr>
              <a:t>In the chapter on interference, we saw that you need two sources of waves for interference to occur. How can there be an interference pattern when we have only one slit? In </a:t>
            </a:r>
            <a:r>
              <a:rPr lang="en-US" b="0" i="0" u="sng" dirty="0">
                <a:solidFill>
                  <a:srgbClr val="027EB5"/>
                </a:solidFill>
                <a:effectLst/>
                <a:latin typeface="Neue Helvetica W01"/>
                <a:hlinkClick r:id="rId4"/>
              </a:rPr>
              <a:t>The Nature of Light</a:t>
            </a:r>
            <a:r>
              <a:rPr lang="en-US" b="0" i="0" dirty="0">
                <a:solidFill>
                  <a:srgbClr val="424242"/>
                </a:solidFill>
                <a:effectLst/>
                <a:latin typeface="Neue Helvetica W01"/>
              </a:rPr>
              <a:t>, we learned that, due to Huygens’s principle, we can imagine a wave front as equivalent to inﬁnitely many point sources of waves. Thus, a wave from a slit can behave not as one wave but as an infinite number of point sources. These waves can interfere with each other, resulting in an interference pattern without the presence of a second slit. This phenomenon is called </a:t>
            </a:r>
            <a:r>
              <a:rPr lang="en-US" b="0" i="1" dirty="0">
                <a:solidFill>
                  <a:srgbClr val="424242"/>
                </a:solidFill>
                <a:effectLst/>
                <a:latin typeface="Neue Helvetica W01"/>
              </a:rPr>
              <a:t>diffraction</a:t>
            </a:r>
            <a:r>
              <a:rPr lang="en-US" b="0" i="0" dirty="0">
                <a:solidFill>
                  <a:srgbClr val="424242"/>
                </a:solidFill>
                <a:effectLst/>
                <a:latin typeface="Neue Helvetica W01"/>
              </a:rPr>
              <a:t>.</a:t>
            </a:r>
          </a:p>
          <a:p>
            <a:pPr algn="l"/>
            <a:r>
              <a:rPr lang="en-US" b="0" i="0" dirty="0">
                <a:solidFill>
                  <a:srgbClr val="424242"/>
                </a:solidFill>
                <a:effectLst/>
                <a:latin typeface="Neue Helvetica W01"/>
              </a:rPr>
              <a:t>Another way to view this is to recognize that a slit has a small but finite width. In the preceding chapter, we implicitly regarded slits as objects with positions but no size. The widths of the slits were considered negligible. When the slits have finite widths, each point along the opening can be considered a point source of light—a foundation of Huygens’s principle. Because real-world optical instruments must have finite apertures (otherwise, no light can enter), diffraction plays a major role in the way we interpret the output of these optical instruments. For example, diffraction places limits on our ability to resolve images or objects. This is a problem that we will study later in this chapter.</a:t>
            </a:r>
          </a:p>
          <a:p>
            <a:endParaRPr lang="en-US" dirty="0"/>
          </a:p>
        </p:txBody>
      </p:sp>
      <p:pic>
        <p:nvPicPr>
          <p:cNvPr id="4" name="Audio 3">
            <a:hlinkClick r:id="" action="ppaction://media"/>
            <a:extLst>
              <a:ext uri="{FF2B5EF4-FFF2-40B4-BE49-F238E27FC236}">
                <a16:creationId xmlns:a16="http://schemas.microsoft.com/office/drawing/2014/main" id="{A0691F07-3DC3-A668-BB71-C29FB2024914}"/>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0000" t="-90625" r="-200000" b="-90625"/>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3322936130"/>
      </p:ext>
    </p:extLst>
  </p:cSld>
  <p:clrMapOvr>
    <a:masterClrMapping/>
  </p:clrMapOvr>
  <mc:AlternateContent xmlns:mc="http://schemas.openxmlformats.org/markup-compatibility/2006">
    <mc:Choice xmlns:p14="http://schemas.microsoft.com/office/powerpoint/2010/main" Requires="p14">
      <p:transition spd="slow" p14:dur="2000" advTm="81194"/>
    </mc:Choice>
    <mc:Fallback>
      <p:transition spd="slow" advTm="8119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Diffraction of light</a:t>
            </a:r>
          </a:p>
        </p:txBody>
      </p:sp>
      <p:pic>
        <p:nvPicPr>
          <p:cNvPr id="1029" name="Picture 5" descr="World University of Bangladesh (WUB) | Ranking and Admission"/>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591599" y="0"/>
            <a:ext cx="1600401" cy="136728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D242B7CB-A175-4217-BB9D-CB4F39AC70B8}"/>
              </a:ext>
            </a:extLst>
          </p:cNvPr>
          <p:cNvSpPr txBox="1"/>
          <p:nvPr/>
        </p:nvSpPr>
        <p:spPr>
          <a:xfrm>
            <a:off x="444754" y="1583379"/>
            <a:ext cx="10908407" cy="923330"/>
          </a:xfrm>
          <a:prstGeom prst="rect">
            <a:avLst/>
          </a:prstGeom>
          <a:noFill/>
        </p:spPr>
        <p:txBody>
          <a:bodyPr wrap="square">
            <a:spAutoFit/>
          </a:bodyPr>
          <a:lstStyle/>
          <a:p>
            <a:pPr marL="285750" indent="-285750" algn="just">
              <a:buFont typeface="Wingdings" panose="05000000000000000000" pitchFamily="2" charset="2"/>
              <a:buChar char="ü"/>
            </a:pPr>
            <a:r>
              <a:rPr lang="en-US" b="0" i="0" dirty="0">
                <a:effectLst/>
                <a:latin typeface="Times New Roman" panose="02020603050405020304" pitchFamily="18" charset="0"/>
                <a:cs typeface="Times New Roman" panose="02020603050405020304" pitchFamily="18" charset="0"/>
              </a:rPr>
              <a:t>Diffraction of light is defined as the bending of light around corners such that it spreads out and illuminates areas where a shadow is expected. In general, it is hard to separate diffraction from interference since both occur simultaneously. </a:t>
            </a:r>
            <a:endParaRPr lang="en-US"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E9959FE6-01DB-43E6-AC69-7FDD2652DF69}"/>
              </a:ext>
            </a:extLst>
          </p:cNvPr>
          <p:cNvSpPr txBox="1"/>
          <p:nvPr/>
        </p:nvSpPr>
        <p:spPr>
          <a:xfrm>
            <a:off x="444754" y="2722799"/>
            <a:ext cx="10908407" cy="369332"/>
          </a:xfrm>
          <a:prstGeom prst="rect">
            <a:avLst/>
          </a:prstGeom>
          <a:noFill/>
        </p:spPr>
        <p:txBody>
          <a:bodyPr wrap="square">
            <a:spAutoFit/>
          </a:bodyPr>
          <a:lstStyle/>
          <a:p>
            <a:pPr marL="285750" indent="-285750" algn="just">
              <a:buFont typeface="Wingdings" panose="05000000000000000000" pitchFamily="2" charset="2"/>
              <a:buChar char="ü"/>
            </a:pPr>
            <a:r>
              <a:rPr lang="en-US" b="0" i="0" dirty="0">
                <a:solidFill>
                  <a:srgbClr val="0070C0"/>
                </a:solidFill>
                <a:effectLst/>
                <a:latin typeface="Times New Roman" panose="02020603050405020304" pitchFamily="18" charset="0"/>
                <a:cs typeface="Times New Roman" panose="02020603050405020304" pitchFamily="18" charset="0"/>
              </a:rPr>
              <a:t>When the sunlight passes through or encounters the cloud, a rainbow is seen in the sky.</a:t>
            </a:r>
            <a:endParaRPr lang="en-US" dirty="0">
              <a:solidFill>
                <a:srgbClr val="0070C0"/>
              </a:solidFill>
            </a:endParaRPr>
          </a:p>
        </p:txBody>
      </p:sp>
      <p:pic>
        <p:nvPicPr>
          <p:cNvPr id="1026" name="Picture 2">
            <a:extLst>
              <a:ext uri="{FF2B5EF4-FFF2-40B4-BE49-F238E27FC236}">
                <a16:creationId xmlns:a16="http://schemas.microsoft.com/office/drawing/2014/main" id="{334E541A-475A-4FE9-82E5-F25F0100D22E}"/>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2169935" y="4328825"/>
            <a:ext cx="3729023" cy="197697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5E37DAD0-A522-4DFF-8844-68799D45FFC6}"/>
              </a:ext>
            </a:extLst>
          </p:cNvPr>
          <p:cNvPicPr>
            <a:picLocks noChangeAspect="1" noChangeArrowheads="1"/>
          </p:cNvPicPr>
          <p:nvPr/>
        </p:nvPicPr>
        <p:blipFill>
          <a:blip r:embed="rId9">
            <a:extLst>
              <a:ext uri="{BEBA8EAE-BF5A-486C-A8C5-ECC9F3942E4B}">
                <a14:imgProps xmlns:a14="http://schemas.microsoft.com/office/drawing/2010/main">
                  <a14:imgLayer r:embed="rId10">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7070502" y="3538582"/>
            <a:ext cx="3165117" cy="276721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3" name="Audio 2">
            <a:hlinkClick r:id="" action="ppaction://media"/>
            <a:extLst>
              <a:ext uri="{FF2B5EF4-FFF2-40B4-BE49-F238E27FC236}">
                <a16:creationId xmlns:a16="http://schemas.microsoft.com/office/drawing/2014/main" id="{068C2F22-074A-0ABB-9F04-F5E07935A5E0}"/>
              </a:ext>
            </a:extLst>
          </p:cNvPr>
          <p:cNvPicPr>
            <a:picLocks noChangeAspect="1"/>
          </p:cNvPicPr>
          <p:nvPr>
            <a:audioFile r:link="rId3"/>
            <p:extLst>
              <p:ext uri="{DAA4B4D4-6D71-4841-9C94-3DE7FCFB9230}">
                <p14:media xmlns:p14="http://schemas.microsoft.com/office/powerpoint/2010/main" r:embed="rId2"/>
              </p:ext>
            </p:extLst>
          </p:nvPr>
        </p:nvPicPr>
        <p:blipFill>
          <a:blip r:embed="rId11"/>
          <a:srcRect l="-200000" t="-90625" r="-200000" b="-90625"/>
          <a:stretch>
            <a:fillRect/>
          </a:stretch>
        </p:blipFill>
        <p:spPr>
          <a:xfrm>
            <a:off x="9144000" y="5143500"/>
            <a:ext cx="3048000" cy="1714500"/>
          </a:xfrm>
          <a:prstGeom prst="rect">
            <a:avLst/>
          </a:prstGeom>
        </p:spPr>
      </p:pic>
    </p:spTree>
    <p:custDataLst>
      <p:tags r:id="rId1"/>
    </p:custDataLst>
    <p:extLst>
      <p:ext uri="{BB962C8B-B14F-4D97-AF65-F5344CB8AC3E}">
        <p14:creationId xmlns:p14="http://schemas.microsoft.com/office/powerpoint/2010/main" val="3314531937"/>
      </p:ext>
    </p:extLst>
  </p:cSld>
  <p:clrMapOvr>
    <a:masterClrMapping/>
  </p:clrMapOvr>
  <mc:AlternateContent xmlns:mc="http://schemas.openxmlformats.org/markup-compatibility/2006">
    <mc:Choice xmlns:p14="http://schemas.microsoft.com/office/powerpoint/2010/main" Requires="p14">
      <p:transition p14:dur="10" advTm="32194"/>
    </mc:Choice>
    <mc:Fallback>
      <p:transition advTm="3219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26"/>
                                        </p:tgtEl>
                                        <p:attrNameLst>
                                          <p:attrName>style.visibility</p:attrName>
                                        </p:attrNameLst>
                                      </p:cBhvr>
                                      <p:to>
                                        <p:strVal val="visible"/>
                                      </p:to>
                                    </p:set>
                                    <p:animEffect transition="in" filter="fade">
                                      <p:cBhvr>
                                        <p:cTn id="21" dur="500"/>
                                        <p:tgtEl>
                                          <p:spTgt spid="102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028"/>
                                        </p:tgtEl>
                                        <p:attrNameLst>
                                          <p:attrName>style.visibility</p:attrName>
                                        </p:attrNameLst>
                                      </p:cBhvr>
                                      <p:to>
                                        <p:strVal val="visible"/>
                                      </p:to>
                                    </p:set>
                                    <p:animEffect transition="in" filter="fade">
                                      <p:cBhvr>
                                        <p:cTn id="26" dur="5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27" fill="hold" display="0">
                  <p:stCondLst>
                    <p:cond delay="indefinite"/>
                  </p:stCondLst>
                  <p:endCondLst>
                    <p:cond evt="onStopAudio" delay="0">
                      <p:tgtEl>
                        <p:sldTgt/>
                      </p:tgtEl>
                    </p:cond>
                  </p:endCondLst>
                </p:cTn>
                <p:tgtEl>
                  <p:spTgt spid="3"/>
                </p:tgtEl>
              </p:cMediaNode>
            </p:audio>
          </p:childTnLst>
        </p:cTn>
      </p:par>
    </p:tnLst>
    <p:bldLst>
      <p:bldP spid="10" grpId="0"/>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Diffraction of light</a:t>
            </a:r>
          </a:p>
        </p:txBody>
      </p:sp>
      <p:pic>
        <p:nvPicPr>
          <p:cNvPr id="1029" name="Picture 5" descr="World University of Bangladesh (WUB) | Ranking and Admission"/>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591599" y="0"/>
            <a:ext cx="1600401" cy="136728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25809C7-665B-488D-B428-68594BE1D005}"/>
              </a:ext>
            </a:extLst>
          </p:cNvPr>
          <p:cNvSpPr txBox="1"/>
          <p:nvPr/>
        </p:nvSpPr>
        <p:spPr>
          <a:xfrm>
            <a:off x="115037" y="1566499"/>
            <a:ext cx="3053166" cy="369332"/>
          </a:xfrm>
          <a:prstGeom prst="rect">
            <a:avLst/>
          </a:prstGeom>
          <a:noFill/>
        </p:spPr>
        <p:txBody>
          <a:bodyPr wrap="square">
            <a:spAutoFit/>
          </a:bodyPr>
          <a:lstStyle/>
          <a:p>
            <a:pPr marL="285750" indent="-285750" algn="l">
              <a:buFont typeface="Courier New" panose="02070309020205020404" pitchFamily="49" charset="0"/>
              <a:buChar char="o"/>
            </a:pPr>
            <a:r>
              <a:rPr lang="en-US" b="0" i="0" dirty="0">
                <a:solidFill>
                  <a:srgbClr val="813588"/>
                </a:solidFill>
                <a:effectLst/>
                <a:latin typeface="Times New Roman" panose="02020603050405020304" pitchFamily="18" charset="0"/>
                <a:cs typeface="Times New Roman" panose="02020603050405020304" pitchFamily="18" charset="0"/>
              </a:rPr>
              <a:t>What is Diffraction?</a:t>
            </a:r>
          </a:p>
        </p:txBody>
      </p:sp>
      <p:sp>
        <p:nvSpPr>
          <p:cNvPr id="10" name="TextBox 9">
            <a:extLst>
              <a:ext uri="{FF2B5EF4-FFF2-40B4-BE49-F238E27FC236}">
                <a16:creationId xmlns:a16="http://schemas.microsoft.com/office/drawing/2014/main" id="{D242B7CB-A175-4217-BB9D-CB4F39AC70B8}"/>
              </a:ext>
            </a:extLst>
          </p:cNvPr>
          <p:cNvSpPr txBox="1"/>
          <p:nvPr/>
        </p:nvSpPr>
        <p:spPr>
          <a:xfrm>
            <a:off x="444756" y="1946861"/>
            <a:ext cx="10908407" cy="646331"/>
          </a:xfrm>
          <a:prstGeom prst="rect">
            <a:avLst/>
          </a:prstGeom>
          <a:noFill/>
        </p:spPr>
        <p:txBody>
          <a:bodyPr wrap="square">
            <a:spAutoFit/>
          </a:bodyPr>
          <a:lstStyle/>
          <a:p>
            <a:pPr marL="285750" indent="-285750" algn="just">
              <a:buFont typeface="Wingdings" panose="05000000000000000000" pitchFamily="2" charset="2"/>
              <a:buChar char="ü"/>
            </a:pPr>
            <a:r>
              <a:rPr lang="en-US" b="0" i="0" dirty="0">
                <a:effectLst/>
                <a:latin typeface="Times New Roman" panose="02020603050405020304" pitchFamily="18" charset="0"/>
                <a:cs typeface="Times New Roman" panose="02020603050405020304" pitchFamily="18" charset="0"/>
              </a:rPr>
              <a:t>The phenomenon of flaring out of light along the sides or edges of a body is called </a:t>
            </a:r>
            <a:r>
              <a:rPr lang="en-US" b="0" i="0" dirty="0">
                <a:solidFill>
                  <a:srgbClr val="FF0000"/>
                </a:solidFill>
                <a:effectLst/>
                <a:latin typeface="Times New Roman" panose="02020603050405020304" pitchFamily="18" charset="0"/>
                <a:cs typeface="Times New Roman" panose="02020603050405020304" pitchFamily="18" charset="0"/>
              </a:rPr>
              <a:t>diffraction of light</a:t>
            </a:r>
            <a:r>
              <a:rPr lang="en-US" b="0" i="0" dirty="0">
                <a:effectLst/>
                <a:latin typeface="Times New Roman" panose="02020603050405020304" pitchFamily="18" charset="0"/>
                <a:cs typeface="Times New Roman" panose="02020603050405020304" pitchFamily="18" charset="0"/>
              </a:rPr>
              <a:t>. As the wavelength increases this power of flaring out increases.</a:t>
            </a:r>
            <a:endParaRPr lang="en-US" dirty="0">
              <a:latin typeface="Times New Roman" panose="02020603050405020304" pitchFamily="18" charset="0"/>
              <a:cs typeface="Times New Roman" panose="02020603050405020304" pitchFamily="18" charset="0"/>
            </a:endParaRPr>
          </a:p>
        </p:txBody>
      </p:sp>
      <p:pic>
        <p:nvPicPr>
          <p:cNvPr id="2050" name="Picture 2" descr="Wave Phenomena - StickMan Physics">
            <a:extLst>
              <a:ext uri="{FF2B5EF4-FFF2-40B4-BE49-F238E27FC236}">
                <a16:creationId xmlns:a16="http://schemas.microsoft.com/office/drawing/2014/main" id="{38C5CFB6-4618-4232-96E3-6FDF80077283}"/>
              </a:ext>
            </a:extLst>
          </p:cNvPr>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a:off x="7037936" y="2852290"/>
            <a:ext cx="3252282" cy="243921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2052" name="Picture 4" descr="Top 30 Diffraction GIFs | Find the best GIF on Gfycat">
            <a:extLst>
              <a:ext uri="{FF2B5EF4-FFF2-40B4-BE49-F238E27FC236}">
                <a16:creationId xmlns:a16="http://schemas.microsoft.com/office/drawing/2014/main" id="{C6F8EEA2-17F4-4ED5-A33F-21859B071E43}"/>
              </a:ext>
            </a:extLst>
          </p:cNvPr>
          <p:cNvPicPr>
            <a:picLocks noChangeAspect="1" noChangeArrowheads="1" noCrop="1"/>
          </p:cNvPicPr>
          <p:nvPr/>
        </p:nvPicPr>
        <p:blipFill>
          <a:blip r:embed="rId8">
            <a:extLst>
              <a:ext uri="{28A0092B-C50C-407E-A947-70E740481C1C}">
                <a14:useLocalDpi xmlns:a14="http://schemas.microsoft.com/office/drawing/2010/main" val="0"/>
              </a:ext>
            </a:extLst>
          </a:blip>
          <a:srcRect/>
          <a:stretch>
            <a:fillRect/>
          </a:stretch>
        </p:blipFill>
        <p:spPr bwMode="auto">
          <a:xfrm>
            <a:off x="1441852" y="3011912"/>
            <a:ext cx="4047868" cy="227958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3" name="Audio 2">
            <a:hlinkClick r:id="" action="ppaction://media"/>
            <a:extLst>
              <a:ext uri="{FF2B5EF4-FFF2-40B4-BE49-F238E27FC236}">
                <a16:creationId xmlns:a16="http://schemas.microsoft.com/office/drawing/2014/main" id="{CC2A6A0F-9D75-08DC-141D-808D118D0E51}"/>
              </a:ext>
            </a:extLst>
          </p:cNvPr>
          <p:cNvPicPr>
            <a:picLocks noChangeAspect="1"/>
          </p:cNvPicPr>
          <p:nvPr>
            <a:audioFile r:link="rId3"/>
            <p:extLst>
              <p:ext uri="{DAA4B4D4-6D71-4841-9C94-3DE7FCFB9230}">
                <p14:media xmlns:p14="http://schemas.microsoft.com/office/powerpoint/2010/main" r:embed="rId2"/>
              </p:ext>
            </p:extLst>
          </p:nvPr>
        </p:nvPicPr>
        <p:blipFill>
          <a:blip r:embed="rId9"/>
          <a:srcRect l="-200000" t="-90625" r="-200000" b="-90625"/>
          <a:stretch>
            <a:fillRect/>
          </a:stretch>
        </p:blipFill>
        <p:spPr>
          <a:xfrm>
            <a:off x="9144000" y="5143500"/>
            <a:ext cx="3048000" cy="1714500"/>
          </a:xfrm>
          <a:prstGeom prst="rect">
            <a:avLst/>
          </a:prstGeom>
        </p:spPr>
      </p:pic>
    </p:spTree>
    <p:custDataLst>
      <p:tags r:id="rId1"/>
    </p:custDataLst>
    <p:extLst>
      <p:ext uri="{BB962C8B-B14F-4D97-AF65-F5344CB8AC3E}">
        <p14:creationId xmlns:p14="http://schemas.microsoft.com/office/powerpoint/2010/main" val="3957465539"/>
      </p:ext>
    </p:extLst>
  </p:cSld>
  <p:clrMapOvr>
    <a:masterClrMapping/>
  </p:clrMapOvr>
  <mc:AlternateContent xmlns:mc="http://schemas.openxmlformats.org/markup-compatibility/2006">
    <mc:Choice xmlns:p14="http://schemas.microsoft.com/office/powerpoint/2010/main" Requires="p14">
      <p:transition p14:dur="10" advTm="23383"/>
    </mc:Choice>
    <mc:Fallback>
      <p:transition advTm="2338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Diffraction of light-conditions</a:t>
            </a:r>
          </a:p>
        </p:txBody>
      </p:sp>
      <p:pic>
        <p:nvPicPr>
          <p:cNvPr id="1029" name="Picture 5" descr="World University of Bangladesh (WUB) | Ranking and Admission"/>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591599" y="0"/>
            <a:ext cx="1600401" cy="136728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25809C7-665B-488D-B428-68594BE1D005}"/>
              </a:ext>
            </a:extLst>
          </p:cNvPr>
          <p:cNvSpPr txBox="1"/>
          <p:nvPr/>
        </p:nvSpPr>
        <p:spPr>
          <a:xfrm>
            <a:off x="115037" y="1566499"/>
            <a:ext cx="3053166" cy="369332"/>
          </a:xfrm>
          <a:prstGeom prst="rect">
            <a:avLst/>
          </a:prstGeom>
          <a:noFill/>
        </p:spPr>
        <p:txBody>
          <a:bodyPr wrap="square">
            <a:spAutoFit/>
          </a:bodyPr>
          <a:lstStyle/>
          <a:p>
            <a:pPr marL="285750" indent="-285750" algn="l">
              <a:buFont typeface="Courier New" panose="02070309020205020404" pitchFamily="49" charset="0"/>
              <a:buChar char="o"/>
            </a:pPr>
            <a:r>
              <a:rPr lang="en-US" b="0" i="0" dirty="0">
                <a:solidFill>
                  <a:srgbClr val="813588"/>
                </a:solidFill>
                <a:effectLst/>
                <a:latin typeface="Times New Roman" panose="02020603050405020304" pitchFamily="18" charset="0"/>
                <a:cs typeface="Times New Roman" panose="02020603050405020304" pitchFamily="18" charset="0"/>
              </a:rPr>
              <a:t>Conditions of diffraction:</a:t>
            </a:r>
          </a:p>
        </p:txBody>
      </p:sp>
      <p:sp>
        <p:nvSpPr>
          <p:cNvPr id="10" name="TextBox 9">
            <a:extLst>
              <a:ext uri="{FF2B5EF4-FFF2-40B4-BE49-F238E27FC236}">
                <a16:creationId xmlns:a16="http://schemas.microsoft.com/office/drawing/2014/main" id="{D242B7CB-A175-4217-BB9D-CB4F39AC70B8}"/>
              </a:ext>
            </a:extLst>
          </p:cNvPr>
          <p:cNvSpPr txBox="1"/>
          <p:nvPr/>
        </p:nvSpPr>
        <p:spPr>
          <a:xfrm>
            <a:off x="444756" y="1946861"/>
            <a:ext cx="10908407" cy="2223942"/>
          </a:xfrm>
          <a:prstGeom prst="rect">
            <a:avLst/>
          </a:prstGeom>
          <a:noFill/>
        </p:spPr>
        <p:txBody>
          <a:bodyPr wrap="square">
            <a:spAutoFit/>
          </a:bodyPr>
          <a:lstStyle/>
          <a:p>
            <a:pPr marL="342900" indent="-342900" algn="just">
              <a:lnSpc>
                <a:spcPct val="200000"/>
              </a:lnSpc>
              <a:buFont typeface="+mj-lt"/>
              <a:buAutoNum type="arabicPeriod"/>
            </a:pPr>
            <a:r>
              <a:rPr lang="en-US" b="0" i="0" dirty="0">
                <a:effectLst/>
                <a:latin typeface="Times New Roman" panose="02020603050405020304" pitchFamily="18" charset="0"/>
                <a:cs typeface="Times New Roman" panose="02020603050405020304" pitchFamily="18" charset="0"/>
              </a:rPr>
              <a:t>In case of straight edge: The edge should be very sharp and its width is to be equal to or is of the order of the wavelength of light.</a:t>
            </a:r>
          </a:p>
          <a:p>
            <a:pPr marL="342900" indent="-342900" algn="just">
              <a:lnSpc>
                <a:spcPct val="200000"/>
              </a:lnSpc>
              <a:buFont typeface="+mj-lt"/>
              <a:buAutoNum type="arabicPeriod"/>
            </a:pPr>
            <a:r>
              <a:rPr lang="en-US" b="0" i="0" dirty="0">
                <a:effectLst/>
                <a:latin typeface="Times New Roman" panose="02020603050405020304" pitchFamily="18" charset="0"/>
                <a:cs typeface="Times New Roman" panose="02020603050405020304" pitchFamily="18" charset="0"/>
              </a:rPr>
              <a:t>In case of thin hole: The diameter of the hole should be extremely small such that it is equal to or is of the order of the wavelength of light.</a:t>
            </a:r>
            <a:endParaRPr lang="en-US" dirty="0">
              <a:latin typeface="Times New Roman" panose="02020603050405020304" pitchFamily="18" charset="0"/>
              <a:cs typeface="Times New Roman" panose="02020603050405020304" pitchFamily="18" charset="0"/>
            </a:endParaRPr>
          </a:p>
        </p:txBody>
      </p:sp>
      <p:pic>
        <p:nvPicPr>
          <p:cNvPr id="3" name="Audio 2">
            <a:hlinkClick r:id="" action="ppaction://media"/>
            <a:extLst>
              <a:ext uri="{FF2B5EF4-FFF2-40B4-BE49-F238E27FC236}">
                <a16:creationId xmlns:a16="http://schemas.microsoft.com/office/drawing/2014/main" id="{5EDDC55F-AB28-FB3E-AC28-D15DA06570D8}"/>
              </a:ext>
            </a:extLst>
          </p:cNvPr>
          <p:cNvPicPr>
            <a:picLocks noChangeAspect="1"/>
          </p:cNvPicPr>
          <p:nvPr>
            <a:audioFile r:link="rId3"/>
            <p:extLst>
              <p:ext uri="{DAA4B4D4-6D71-4841-9C94-3DE7FCFB9230}">
                <p14:media xmlns:p14="http://schemas.microsoft.com/office/powerpoint/2010/main" r:embed="rId2"/>
              </p:ext>
            </p:extLst>
          </p:nvPr>
        </p:nvPicPr>
        <p:blipFill>
          <a:blip r:embed="rId7"/>
          <a:srcRect l="-200000" t="-90625" r="-200000" b="-90625"/>
          <a:stretch>
            <a:fillRect/>
          </a:stretch>
        </p:blipFill>
        <p:spPr>
          <a:xfrm>
            <a:off x="9144000" y="5143500"/>
            <a:ext cx="3048000" cy="1714500"/>
          </a:xfrm>
          <a:prstGeom prst="rect">
            <a:avLst/>
          </a:prstGeom>
        </p:spPr>
      </p:pic>
    </p:spTree>
    <p:custDataLst>
      <p:tags r:id="rId1"/>
    </p:custDataLst>
    <p:extLst>
      <p:ext uri="{BB962C8B-B14F-4D97-AF65-F5344CB8AC3E}">
        <p14:creationId xmlns:p14="http://schemas.microsoft.com/office/powerpoint/2010/main" val="2120930745"/>
      </p:ext>
    </p:extLst>
  </p:cSld>
  <p:clrMapOvr>
    <a:masterClrMapping/>
  </p:clrMapOvr>
  <mc:AlternateContent xmlns:mc="http://schemas.openxmlformats.org/markup-compatibility/2006">
    <mc:Choice xmlns:p14="http://schemas.microsoft.com/office/powerpoint/2010/main" Requires="p14">
      <p:transition p14:dur="10" advTm="28019"/>
    </mc:Choice>
    <mc:Fallback>
      <p:transition advTm="2801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2" fill="hold" display="0">
                  <p:stCondLst>
                    <p:cond delay="indefinite"/>
                  </p:stCondLst>
                  <p:endCondLst>
                    <p:cond evt="onStopAudio" delay="0">
                      <p:tgtEl>
                        <p:sldTgt/>
                      </p:tgtEl>
                    </p:cond>
                  </p:endCondLst>
                </p:cTn>
                <p:tgtEl>
                  <p:spTgt spid="3"/>
                </p:tgtEl>
              </p:cMediaNode>
            </p:audio>
          </p:childTnLst>
        </p:cTn>
      </p:par>
    </p:tnLst>
    <p:bldLst>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Difference-interference and diffraction</a:t>
            </a:r>
          </a:p>
        </p:txBody>
      </p:sp>
      <p:pic>
        <p:nvPicPr>
          <p:cNvPr id="1029" name="Picture 5" descr="World University of Bangladesh (WUB) | Ranking and Admission"/>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591599" y="0"/>
            <a:ext cx="1600401" cy="136728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5AF73E0-0C75-4230-A37D-A9F26AFBE7BF}"/>
              </a:ext>
            </a:extLst>
          </p:cNvPr>
          <p:cNvSpPr txBox="1"/>
          <p:nvPr/>
        </p:nvSpPr>
        <p:spPr>
          <a:xfrm>
            <a:off x="115037" y="1374936"/>
            <a:ext cx="6136782" cy="369332"/>
          </a:xfrm>
          <a:prstGeom prst="rect">
            <a:avLst/>
          </a:prstGeom>
          <a:noFill/>
        </p:spPr>
        <p:txBody>
          <a:bodyPr wrap="square">
            <a:spAutoFit/>
          </a:bodyPr>
          <a:lstStyle/>
          <a:p>
            <a:pPr marL="285750" indent="-285750">
              <a:buFont typeface="Courier New" panose="02070309020205020404" pitchFamily="49" charset="0"/>
              <a:buChar char="o"/>
            </a:pPr>
            <a:r>
              <a:rPr lang="en-US" i="0" dirty="0">
                <a:effectLst/>
                <a:latin typeface="Times New Roman" panose="02020603050405020304" pitchFamily="18" charset="0"/>
                <a:cs typeface="Times New Roman" panose="02020603050405020304" pitchFamily="18" charset="0"/>
              </a:rPr>
              <a:t>Difference between interference and diffraction</a:t>
            </a:r>
            <a:endParaRPr lang="en-US" dirty="0">
              <a:latin typeface="Times New Roman" panose="02020603050405020304" pitchFamily="18" charset="0"/>
              <a:cs typeface="Times New Roman" panose="02020603050405020304" pitchFamily="18" charset="0"/>
            </a:endParaRPr>
          </a:p>
        </p:txBody>
      </p:sp>
      <p:pic>
        <p:nvPicPr>
          <p:cNvPr id="3074" name="Picture 2" descr="Diffraction formalism - Wikipedia, the free encyclopedia | Physics teaching  ideas, Diffraction of light, General physics">
            <a:extLst>
              <a:ext uri="{FF2B5EF4-FFF2-40B4-BE49-F238E27FC236}">
                <a16:creationId xmlns:a16="http://schemas.microsoft.com/office/drawing/2014/main" id="{DAA3E924-68AD-4E47-9744-EED00689A1C4}"/>
              </a:ext>
            </a:extLst>
          </p:cNvPr>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a:off x="8371268" y="1855247"/>
            <a:ext cx="2698560" cy="21747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3076" name="Picture 4" descr="Light">
            <a:extLst>
              <a:ext uri="{FF2B5EF4-FFF2-40B4-BE49-F238E27FC236}">
                <a16:creationId xmlns:a16="http://schemas.microsoft.com/office/drawing/2014/main" id="{EC273C17-43ED-4343-8E10-DFC15DCD2145}"/>
              </a:ext>
            </a:extLst>
          </p:cNvPr>
          <p:cNvPicPr>
            <a:picLocks noChangeAspect="1" noChangeArrowheads="1" noCrop="1"/>
          </p:cNvPicPr>
          <p:nvPr/>
        </p:nvPicPr>
        <p:blipFill>
          <a:blip r:embed="rId8">
            <a:extLst>
              <a:ext uri="{28A0092B-C50C-407E-A947-70E740481C1C}">
                <a14:useLocalDpi xmlns:a14="http://schemas.microsoft.com/office/drawing/2010/main" val="0"/>
              </a:ext>
            </a:extLst>
          </a:blip>
          <a:srcRect/>
          <a:stretch>
            <a:fillRect/>
          </a:stretch>
        </p:blipFill>
        <p:spPr bwMode="auto">
          <a:xfrm>
            <a:off x="8371268" y="4188443"/>
            <a:ext cx="2698560" cy="217477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5" name="Picture 4" descr="Table&#10;&#10;Description automatically generated">
            <a:extLst>
              <a:ext uri="{FF2B5EF4-FFF2-40B4-BE49-F238E27FC236}">
                <a16:creationId xmlns:a16="http://schemas.microsoft.com/office/drawing/2014/main" id="{E312046A-063D-D970-E2B2-5CD13AFFFC8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53906" y="1855247"/>
            <a:ext cx="7020320" cy="5265240"/>
          </a:xfrm>
          <a:prstGeom prst="rect">
            <a:avLst/>
          </a:prstGeom>
        </p:spPr>
      </p:pic>
      <p:pic>
        <p:nvPicPr>
          <p:cNvPr id="3" name="Audio 2">
            <a:hlinkClick r:id="" action="ppaction://media"/>
            <a:extLst>
              <a:ext uri="{FF2B5EF4-FFF2-40B4-BE49-F238E27FC236}">
                <a16:creationId xmlns:a16="http://schemas.microsoft.com/office/drawing/2014/main" id="{360CF1C2-4481-CB04-8B9E-1275093F3FF3}"/>
              </a:ext>
            </a:extLst>
          </p:cNvPr>
          <p:cNvPicPr>
            <a:picLocks noChangeAspect="1"/>
          </p:cNvPicPr>
          <p:nvPr>
            <a:audioFile r:link="rId3"/>
            <p:extLst>
              <p:ext uri="{DAA4B4D4-6D71-4841-9C94-3DE7FCFB9230}">
                <p14:media xmlns:p14="http://schemas.microsoft.com/office/powerpoint/2010/main" r:embed="rId2"/>
              </p:ext>
            </p:extLst>
          </p:nvPr>
        </p:nvPicPr>
        <p:blipFill>
          <a:blip r:embed="rId10"/>
          <a:srcRect l="-200000" t="-90625" r="-200000" b="-90625"/>
          <a:stretch>
            <a:fillRect/>
          </a:stretch>
        </p:blipFill>
        <p:spPr>
          <a:xfrm>
            <a:off x="9144000" y="5143500"/>
            <a:ext cx="3048000" cy="1714500"/>
          </a:xfrm>
          <a:prstGeom prst="rect">
            <a:avLst/>
          </a:prstGeom>
        </p:spPr>
      </p:pic>
    </p:spTree>
    <p:custDataLst>
      <p:tags r:id="rId1"/>
    </p:custDataLst>
    <p:extLst>
      <p:ext uri="{BB962C8B-B14F-4D97-AF65-F5344CB8AC3E}">
        <p14:creationId xmlns:p14="http://schemas.microsoft.com/office/powerpoint/2010/main" val="12427213"/>
      </p:ext>
    </p:extLst>
  </p:cSld>
  <p:clrMapOvr>
    <a:masterClrMapping/>
  </p:clrMapOvr>
  <mc:AlternateContent xmlns:mc="http://schemas.openxmlformats.org/markup-compatibility/2006">
    <mc:Choice xmlns:p14="http://schemas.microsoft.com/office/powerpoint/2010/main" Requires="p14">
      <p:transition p14:dur="10" advTm="74570"/>
    </mc:Choice>
    <mc:Fallback>
      <p:transition advTm="745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Young’s double slit experiment</a:t>
            </a:r>
          </a:p>
        </p:txBody>
      </p:sp>
      <p:pic>
        <p:nvPicPr>
          <p:cNvPr id="1029" name="Picture 5" descr="World University of Bangladesh (WUB) | Ranking and Admission"/>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591599" y="0"/>
            <a:ext cx="1600401" cy="1367289"/>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Double-slit experiment - Wikipedia">
            <a:extLst>
              <a:ext uri="{FF2B5EF4-FFF2-40B4-BE49-F238E27FC236}">
                <a16:creationId xmlns:a16="http://schemas.microsoft.com/office/drawing/2014/main" id="{3A6B8C79-BB86-4B00-B91D-F19229ED93CB}"/>
              </a:ext>
            </a:extLst>
          </p:cNvPr>
          <p:cNvPicPr>
            <a:picLocks noChangeAspect="1" noChangeArrowheads="1"/>
          </p:cNvPicPr>
          <p:nvPr/>
        </p:nvPicPr>
        <p:blipFill>
          <a:blip r:embed="rId7" cstate="print">
            <a:extLst>
              <a:ext uri="{BEBA8EAE-BF5A-486C-A8C5-ECC9F3942E4B}">
                <a14:imgProps xmlns:a14="http://schemas.microsoft.com/office/drawing/2010/main">
                  <a14:imgLayer r:embed="rId8">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3744050" y="1526805"/>
            <a:ext cx="3755467" cy="179949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5124" name="Picture 4" descr="What is bright and dark fringe in Young's double slit experiment? - Quora">
            <a:extLst>
              <a:ext uri="{FF2B5EF4-FFF2-40B4-BE49-F238E27FC236}">
                <a16:creationId xmlns:a16="http://schemas.microsoft.com/office/drawing/2014/main" id="{55378FFA-FDAF-414B-94F3-DAB0AD786196}"/>
              </a:ext>
            </a:extLst>
          </p:cNvPr>
          <p:cNvPicPr>
            <a:picLocks noChangeAspect="1" noChangeArrowheads="1"/>
          </p:cNvPicPr>
          <p:nvPr/>
        </p:nvPicPr>
        <p:blipFill>
          <a:blip r:embed="rId9">
            <a:extLst>
              <a:ext uri="{BEBA8EAE-BF5A-486C-A8C5-ECC9F3942E4B}">
                <a14:imgProps xmlns:a14="http://schemas.microsoft.com/office/drawing/2010/main">
                  <a14:imgLayer r:embed="rId10">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7701024" y="1526805"/>
            <a:ext cx="3570310" cy="179949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5126" name="Picture 6" descr="Quantum Laser Pointer">
            <a:extLst>
              <a:ext uri="{FF2B5EF4-FFF2-40B4-BE49-F238E27FC236}">
                <a16:creationId xmlns:a16="http://schemas.microsoft.com/office/drawing/2014/main" id="{474F4A2B-AC25-44DB-AFE6-711512014E1E}"/>
              </a:ext>
            </a:extLst>
          </p:cNvPr>
          <p:cNvPicPr>
            <a:picLocks noChangeAspect="1" noChangeArrowheads="1" noCrop="1"/>
          </p:cNvPicPr>
          <p:nvPr/>
        </p:nvPicPr>
        <p:blipFill>
          <a:blip r:embed="rId11">
            <a:extLst>
              <a:ext uri="{28A0092B-C50C-407E-A947-70E740481C1C}">
                <a14:useLocalDpi xmlns:a14="http://schemas.microsoft.com/office/drawing/2010/main" val="0"/>
              </a:ext>
            </a:extLst>
          </a:blip>
          <a:srcRect/>
          <a:stretch>
            <a:fillRect/>
          </a:stretch>
        </p:blipFill>
        <p:spPr bwMode="auto">
          <a:xfrm>
            <a:off x="1567262" y="3644238"/>
            <a:ext cx="3755467" cy="29306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5128" name="Picture 8" descr="Speed of light GIF on GIFER - by Niran">
            <a:extLst>
              <a:ext uri="{FF2B5EF4-FFF2-40B4-BE49-F238E27FC236}">
                <a16:creationId xmlns:a16="http://schemas.microsoft.com/office/drawing/2014/main" id="{13F2B4A0-A866-40B6-8C0A-8719CE703B9A}"/>
              </a:ext>
            </a:extLst>
          </p:cNvPr>
          <p:cNvPicPr>
            <a:picLocks noChangeAspect="1" noChangeArrowheads="1" noCrop="1"/>
          </p:cNvPicPr>
          <p:nvPr/>
        </p:nvPicPr>
        <p:blipFill>
          <a:blip r:embed="rId12">
            <a:extLst>
              <a:ext uri="{28A0092B-C50C-407E-A947-70E740481C1C}">
                <a14:useLocalDpi xmlns:a14="http://schemas.microsoft.com/office/drawing/2010/main" val="0"/>
              </a:ext>
            </a:extLst>
          </a:blip>
          <a:srcRect/>
          <a:stretch>
            <a:fillRect/>
          </a:stretch>
        </p:blipFill>
        <p:spPr bwMode="auto">
          <a:xfrm>
            <a:off x="456422" y="1526805"/>
            <a:ext cx="3086121" cy="179949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5130" name="Picture 10" descr="Light and Optics - Double Slit Interference - Physics 299">
            <a:extLst>
              <a:ext uri="{FF2B5EF4-FFF2-40B4-BE49-F238E27FC236}">
                <a16:creationId xmlns:a16="http://schemas.microsoft.com/office/drawing/2014/main" id="{259CBCFB-7AB4-44FE-8CD8-90BD3AC80887}"/>
              </a:ext>
            </a:extLst>
          </p:cNvPr>
          <p:cNvPicPr>
            <a:picLocks noChangeAspect="1" noChangeArrowheads="1" noCrop="1"/>
          </p:cNvPicPr>
          <p:nvPr/>
        </p:nvPicPr>
        <p:blipFill>
          <a:blip r:embed="rId13">
            <a:extLst>
              <a:ext uri="{28A0092B-C50C-407E-A947-70E740481C1C}">
                <a14:useLocalDpi xmlns:a14="http://schemas.microsoft.com/office/drawing/2010/main" val="0"/>
              </a:ext>
            </a:extLst>
          </a:blip>
          <a:srcRect/>
          <a:stretch>
            <a:fillRect/>
          </a:stretch>
        </p:blipFill>
        <p:spPr bwMode="auto">
          <a:xfrm>
            <a:off x="6126591" y="3644238"/>
            <a:ext cx="4012047" cy="29306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3" name="Audio 2">
            <a:hlinkClick r:id="" action="ppaction://media"/>
            <a:extLst>
              <a:ext uri="{FF2B5EF4-FFF2-40B4-BE49-F238E27FC236}">
                <a16:creationId xmlns:a16="http://schemas.microsoft.com/office/drawing/2014/main" id="{9761DF80-8C42-0495-9216-B0E70B5C5B17}"/>
              </a:ext>
            </a:extLst>
          </p:cNvPr>
          <p:cNvPicPr>
            <a:picLocks noChangeAspect="1"/>
          </p:cNvPicPr>
          <p:nvPr>
            <a:audioFile r:link="rId3"/>
            <p:extLst>
              <p:ext uri="{DAA4B4D4-6D71-4841-9C94-3DE7FCFB9230}">
                <p14:media xmlns:p14="http://schemas.microsoft.com/office/powerpoint/2010/main" r:embed="rId2"/>
              </p:ext>
            </p:extLst>
          </p:nvPr>
        </p:nvPicPr>
        <p:blipFill>
          <a:blip r:embed="rId14"/>
          <a:srcRect l="-200000" t="-90625" r="-200000" b="-90625"/>
          <a:stretch>
            <a:fillRect/>
          </a:stretch>
        </p:blipFill>
        <p:spPr>
          <a:xfrm>
            <a:off x="9144000" y="5143500"/>
            <a:ext cx="3048000" cy="1714500"/>
          </a:xfrm>
          <a:prstGeom prst="rect">
            <a:avLst/>
          </a:prstGeom>
        </p:spPr>
      </p:pic>
    </p:spTree>
    <p:custDataLst>
      <p:tags r:id="rId1"/>
    </p:custDataLst>
    <p:extLst>
      <p:ext uri="{BB962C8B-B14F-4D97-AF65-F5344CB8AC3E}">
        <p14:creationId xmlns:p14="http://schemas.microsoft.com/office/powerpoint/2010/main" val="3703294938"/>
      </p:ext>
    </p:extLst>
  </p:cSld>
  <p:clrMapOvr>
    <a:masterClrMapping/>
  </p:clrMapOvr>
  <mc:AlternateContent xmlns:mc="http://schemas.openxmlformats.org/markup-compatibility/2006">
    <mc:Choice xmlns:p14="http://schemas.microsoft.com/office/powerpoint/2010/main" Requires="p14">
      <p:transition p14:dur="10" advTm="35457"/>
    </mc:Choice>
    <mc:Fallback>
      <p:transition advTm="3545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128"/>
                                        </p:tgtEl>
                                        <p:attrNameLst>
                                          <p:attrName>style.visibility</p:attrName>
                                        </p:attrNameLst>
                                      </p:cBhvr>
                                      <p:to>
                                        <p:strVal val="visible"/>
                                      </p:to>
                                    </p:set>
                                    <p:animEffect transition="in" filter="fade">
                                      <p:cBhvr>
                                        <p:cTn id="11" dur="500"/>
                                        <p:tgtEl>
                                          <p:spTgt spid="5128"/>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122"/>
                                        </p:tgtEl>
                                        <p:attrNameLst>
                                          <p:attrName>style.visibility</p:attrName>
                                        </p:attrNameLst>
                                      </p:cBhvr>
                                      <p:to>
                                        <p:strVal val="visible"/>
                                      </p:to>
                                    </p:set>
                                    <p:animEffect transition="in" filter="fade">
                                      <p:cBhvr>
                                        <p:cTn id="16" dur="500"/>
                                        <p:tgtEl>
                                          <p:spTgt spid="512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124"/>
                                        </p:tgtEl>
                                        <p:attrNameLst>
                                          <p:attrName>style.visibility</p:attrName>
                                        </p:attrNameLst>
                                      </p:cBhvr>
                                      <p:to>
                                        <p:strVal val="visible"/>
                                      </p:to>
                                    </p:set>
                                    <p:animEffect transition="in" filter="fade">
                                      <p:cBhvr>
                                        <p:cTn id="21" dur="500"/>
                                        <p:tgtEl>
                                          <p:spTgt spid="512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126"/>
                                        </p:tgtEl>
                                        <p:attrNameLst>
                                          <p:attrName>style.visibility</p:attrName>
                                        </p:attrNameLst>
                                      </p:cBhvr>
                                      <p:to>
                                        <p:strVal val="visible"/>
                                      </p:to>
                                    </p:set>
                                    <p:animEffect transition="in" filter="fade">
                                      <p:cBhvr>
                                        <p:cTn id="26" dur="500"/>
                                        <p:tgtEl>
                                          <p:spTgt spid="512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5130"/>
                                        </p:tgtEl>
                                        <p:attrNameLst>
                                          <p:attrName>style.visibility</p:attrName>
                                        </p:attrNameLst>
                                      </p:cBhvr>
                                      <p:to>
                                        <p:strVal val="visible"/>
                                      </p:to>
                                    </p:set>
                                    <p:animEffect transition="in" filter="fade">
                                      <p:cBhvr>
                                        <p:cTn id="31" dur="500"/>
                                        <p:tgtEl>
                                          <p:spTgt spid="5130"/>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32" fill="hold" display="0">
                  <p:stCondLst>
                    <p:cond delay="indefinite"/>
                  </p:stCondLst>
                  <p:endCondLst>
                    <p:cond evt="onStopAudio" delay="0">
                      <p:tgtEl>
                        <p:sldTgt/>
                      </p:tgtEl>
                    </p:cond>
                  </p:endCondLst>
                </p:cTn>
                <p:tgtEl>
                  <p:spTgt spid="3"/>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Young’s double slit experiment-formula</a:t>
            </a:r>
          </a:p>
        </p:txBody>
      </p:sp>
      <p:pic>
        <p:nvPicPr>
          <p:cNvPr id="1029" name="Picture 5" descr="World University of Bangladesh (WUB) | Ranking and Admission"/>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591599" y="0"/>
            <a:ext cx="1600401" cy="136728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D9B9C6F-753E-4B2F-B41C-D2AA7331C7A4}"/>
                  </a:ext>
                </a:extLst>
              </p:cNvPr>
              <p:cNvSpPr txBox="1"/>
              <p:nvPr/>
            </p:nvSpPr>
            <p:spPr>
              <a:xfrm>
                <a:off x="1489241" y="1929349"/>
                <a:ext cx="1249766" cy="7023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ea typeface="Cambria Math" panose="02040503050406030204" pitchFamily="18" charset="0"/>
                        </a:rPr>
                        <m:t>∆</m:t>
                      </m:r>
                      <m:r>
                        <a:rPr lang="en-US" sz="2400" b="1" i="1" smtClean="0">
                          <a:latin typeface="Cambria Math" panose="02040503050406030204" pitchFamily="18" charset="0"/>
                          <a:ea typeface="Cambria Math" panose="02040503050406030204" pitchFamily="18" charset="0"/>
                        </a:rPr>
                        <m:t>𝒙</m:t>
                      </m:r>
                      <m:r>
                        <a:rPr lang="en-US" sz="2400" b="1" i="1" smtClean="0">
                          <a:latin typeface="Cambria Math" panose="02040503050406030204" pitchFamily="18" charset="0"/>
                          <a:ea typeface="Cambria Math" panose="02040503050406030204" pitchFamily="18" charset="0"/>
                        </a:rPr>
                        <m:t>=</m:t>
                      </m:r>
                      <m:f>
                        <m:fPr>
                          <m:ctrlPr>
                            <a:rPr lang="en-US" sz="2400" b="1" i="1" smtClean="0">
                              <a:latin typeface="Cambria Math" panose="02040503050406030204" pitchFamily="18" charset="0"/>
                              <a:ea typeface="Cambria Math" panose="02040503050406030204" pitchFamily="18" charset="0"/>
                            </a:rPr>
                          </m:ctrlPr>
                        </m:fPr>
                        <m:num>
                          <m:r>
                            <a:rPr lang="en-US" sz="2400" b="1" i="1" smtClean="0">
                              <a:latin typeface="Cambria Math" panose="02040503050406030204" pitchFamily="18" charset="0"/>
                              <a:ea typeface="Cambria Math" panose="02040503050406030204" pitchFamily="18" charset="0"/>
                            </a:rPr>
                            <m:t>𝝀</m:t>
                          </m:r>
                          <m:r>
                            <a:rPr lang="en-US" sz="2400" b="1" i="1" smtClean="0">
                              <a:latin typeface="Cambria Math" panose="02040503050406030204" pitchFamily="18" charset="0"/>
                              <a:ea typeface="Cambria Math" panose="02040503050406030204" pitchFamily="18" charset="0"/>
                            </a:rPr>
                            <m:t>𝑫</m:t>
                          </m:r>
                        </m:num>
                        <m:den>
                          <m:r>
                            <a:rPr lang="en-US" sz="2400" b="1" i="1" smtClean="0">
                              <a:latin typeface="Cambria Math" panose="02040503050406030204" pitchFamily="18" charset="0"/>
                              <a:ea typeface="Cambria Math" panose="02040503050406030204" pitchFamily="18" charset="0"/>
                            </a:rPr>
                            <m:t>𝒂</m:t>
                          </m:r>
                        </m:den>
                      </m:f>
                    </m:oMath>
                  </m:oMathPara>
                </a14:m>
                <a:endParaRPr lang="en-US" sz="2400" b="1" dirty="0"/>
              </a:p>
            </p:txBody>
          </p:sp>
        </mc:Choice>
        <mc:Fallback xmlns="">
          <p:sp>
            <p:nvSpPr>
              <p:cNvPr id="4" name="TextBox 3">
                <a:extLst>
                  <a:ext uri="{FF2B5EF4-FFF2-40B4-BE49-F238E27FC236}">
                    <a16:creationId xmlns:a16="http://schemas.microsoft.com/office/drawing/2014/main" id="{FD9B9C6F-753E-4B2F-B41C-D2AA7331C7A4}"/>
                  </a:ext>
                </a:extLst>
              </p:cNvPr>
              <p:cNvSpPr txBox="1">
                <a:spLocks noRot="1" noChangeAspect="1" noMove="1" noResize="1" noEditPoints="1" noAdjustHandles="1" noChangeArrowheads="1" noChangeShapeType="1" noTextEdit="1"/>
              </p:cNvSpPr>
              <p:nvPr/>
            </p:nvSpPr>
            <p:spPr>
              <a:xfrm>
                <a:off x="1489241" y="1929349"/>
                <a:ext cx="1249766" cy="702372"/>
              </a:xfrm>
              <a:prstGeom prst="rect">
                <a:avLst/>
              </a:prstGeom>
              <a:blipFill>
                <a:blip r:embed="rId7"/>
                <a:stretch>
                  <a:fillRect/>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65C5A21C-7E7E-49C2-A352-A25797C5C003}"/>
              </a:ext>
            </a:extLst>
          </p:cNvPr>
          <p:cNvSpPr txBox="1"/>
          <p:nvPr/>
        </p:nvSpPr>
        <p:spPr>
          <a:xfrm>
            <a:off x="3364605" y="2631721"/>
            <a:ext cx="3731653" cy="400110"/>
          </a:xfrm>
          <a:prstGeom prst="rect">
            <a:avLst/>
          </a:prstGeom>
          <a:noFill/>
        </p:spPr>
        <p:txBody>
          <a:bodyPr wrap="square">
            <a:spAutoFit/>
          </a:bodyPr>
          <a:lstStyle/>
          <a:p>
            <a:r>
              <a:rPr lang="el-GR" sz="2000" b="1" u="none" strike="noStrike" baseline="0" dirty="0">
                <a:solidFill>
                  <a:srgbClr val="000000"/>
                </a:solidFill>
                <a:latin typeface="Times New Roman" panose="02020603050405020304" pitchFamily="18" charset="0"/>
                <a:cs typeface="Times New Roman" panose="02020603050405020304" pitchFamily="18" charset="0"/>
              </a:rPr>
              <a:t>Δ𝑥</a:t>
            </a:r>
            <a:r>
              <a:rPr lang="en-US" sz="2000" b="1" u="none" strike="noStrike" baseline="0" dirty="0">
                <a:solidFill>
                  <a:srgbClr val="000000"/>
                </a:solidFill>
                <a:latin typeface="Times New Roman" panose="02020603050405020304" pitchFamily="18" charset="0"/>
                <a:cs typeface="Times New Roman" panose="02020603050405020304" pitchFamily="18" charset="0"/>
              </a:rPr>
              <a:t>= Fringe separation </a:t>
            </a:r>
            <a:endParaRPr lang="en-US" sz="2000" b="1"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32393730-955B-40A8-A3F3-904D521E92DA}"/>
              </a:ext>
            </a:extLst>
          </p:cNvPr>
          <p:cNvSpPr txBox="1"/>
          <p:nvPr/>
        </p:nvSpPr>
        <p:spPr>
          <a:xfrm>
            <a:off x="3519153" y="3031831"/>
            <a:ext cx="4401354" cy="400110"/>
          </a:xfrm>
          <a:prstGeom prst="rect">
            <a:avLst/>
          </a:prstGeom>
          <a:noFill/>
        </p:spPr>
        <p:txBody>
          <a:bodyPr wrap="square">
            <a:spAutoFit/>
          </a:bodyPr>
          <a:lstStyle/>
          <a:p>
            <a:r>
              <a:rPr lang="en-US" sz="2000" b="1" i="0" u="none" strike="noStrike" baseline="0" dirty="0">
                <a:solidFill>
                  <a:srgbClr val="000000"/>
                </a:solidFill>
                <a:latin typeface="Cambria Math" panose="02040503050406030204" pitchFamily="18" charset="0"/>
              </a:rPr>
              <a:t>𝑎= </a:t>
            </a:r>
            <a:r>
              <a:rPr lang="en-US" sz="2000" b="1" i="0" u="none" strike="noStrike" baseline="0" dirty="0">
                <a:solidFill>
                  <a:srgbClr val="000000"/>
                </a:solidFill>
                <a:latin typeface="Times New Roman" panose="02020603050405020304" pitchFamily="18" charset="0"/>
              </a:rPr>
              <a:t>Distance between the slits </a:t>
            </a:r>
            <a:endParaRPr lang="en-US" sz="2000" b="1" dirty="0"/>
          </a:p>
        </p:txBody>
      </p:sp>
      <p:sp>
        <p:nvSpPr>
          <p:cNvPr id="17" name="TextBox 16">
            <a:extLst>
              <a:ext uri="{FF2B5EF4-FFF2-40B4-BE49-F238E27FC236}">
                <a16:creationId xmlns:a16="http://schemas.microsoft.com/office/drawing/2014/main" id="{63509A1F-B381-4916-A7AC-3C8C90DC56E2}"/>
              </a:ext>
            </a:extLst>
          </p:cNvPr>
          <p:cNvSpPr txBox="1"/>
          <p:nvPr/>
        </p:nvSpPr>
        <p:spPr>
          <a:xfrm>
            <a:off x="3519153" y="3441570"/>
            <a:ext cx="4143777" cy="369332"/>
          </a:xfrm>
          <a:prstGeom prst="rect">
            <a:avLst/>
          </a:prstGeom>
          <a:noFill/>
        </p:spPr>
        <p:txBody>
          <a:bodyPr wrap="square">
            <a:spAutoFit/>
          </a:bodyPr>
          <a:lstStyle/>
          <a:p>
            <a:r>
              <a:rPr lang="en-US" sz="1800" b="1" i="0" u="none" strike="noStrike" baseline="0" dirty="0">
                <a:solidFill>
                  <a:srgbClr val="000000"/>
                </a:solidFill>
                <a:latin typeface="Cambria Math" panose="02040503050406030204" pitchFamily="18" charset="0"/>
              </a:rPr>
              <a:t>𝐷=</a:t>
            </a:r>
            <a:r>
              <a:rPr lang="en-US" sz="1800" b="1" i="0" u="none" strike="noStrike" baseline="0" dirty="0">
                <a:solidFill>
                  <a:srgbClr val="000000"/>
                </a:solidFill>
                <a:latin typeface="Times New Roman" panose="02020603050405020304" pitchFamily="18" charset="0"/>
              </a:rPr>
              <a:t> Distance of the screen from the slit</a:t>
            </a:r>
            <a:endParaRPr lang="en-US" b="1" dirty="0"/>
          </a:p>
        </p:txBody>
      </p:sp>
      <p:sp>
        <p:nvSpPr>
          <p:cNvPr id="19" name="TextBox 18">
            <a:extLst>
              <a:ext uri="{FF2B5EF4-FFF2-40B4-BE49-F238E27FC236}">
                <a16:creationId xmlns:a16="http://schemas.microsoft.com/office/drawing/2014/main" id="{60938880-F4CD-4510-AA8E-A9071B271E0B}"/>
              </a:ext>
            </a:extLst>
          </p:cNvPr>
          <p:cNvSpPr txBox="1"/>
          <p:nvPr/>
        </p:nvSpPr>
        <p:spPr>
          <a:xfrm>
            <a:off x="3519153" y="3800307"/>
            <a:ext cx="1838460" cy="369332"/>
          </a:xfrm>
          <a:prstGeom prst="rect">
            <a:avLst/>
          </a:prstGeom>
          <a:noFill/>
        </p:spPr>
        <p:txBody>
          <a:bodyPr wrap="square">
            <a:spAutoFit/>
          </a:bodyPr>
          <a:lstStyle/>
          <a:p>
            <a:r>
              <a:rPr lang="en-US" b="1" i="0" u="none" strike="noStrike" baseline="0" dirty="0">
                <a:solidFill>
                  <a:srgbClr val="000000"/>
                </a:solidFill>
                <a:latin typeface="Cambria Math" panose="02040503050406030204" pitchFamily="18" charset="0"/>
              </a:rPr>
              <a:t>𝜆=</a:t>
            </a:r>
            <a:r>
              <a:rPr lang="en-US" b="1" i="0" u="none" strike="noStrike" baseline="0" dirty="0">
                <a:solidFill>
                  <a:srgbClr val="000000"/>
                </a:solidFill>
                <a:latin typeface="Times New Roman" panose="02020603050405020304" pitchFamily="18" charset="0"/>
              </a:rPr>
              <a:t> Wavelength</a:t>
            </a:r>
            <a:endParaRPr lang="en-US" b="1" dirty="0"/>
          </a:p>
        </p:txBody>
      </p:sp>
      <p:pic>
        <p:nvPicPr>
          <p:cNvPr id="3" name="Audio 2">
            <a:hlinkClick r:id="" action="ppaction://media"/>
            <a:extLst>
              <a:ext uri="{FF2B5EF4-FFF2-40B4-BE49-F238E27FC236}">
                <a16:creationId xmlns:a16="http://schemas.microsoft.com/office/drawing/2014/main" id="{19F240BE-C92D-6021-BEDB-2B866C344A1E}"/>
              </a:ext>
            </a:extLst>
          </p:cNvPr>
          <p:cNvPicPr>
            <a:picLocks noChangeAspect="1"/>
          </p:cNvPicPr>
          <p:nvPr>
            <a:audioFile r:link="rId3"/>
            <p:extLst>
              <p:ext uri="{DAA4B4D4-6D71-4841-9C94-3DE7FCFB9230}">
                <p14:media xmlns:p14="http://schemas.microsoft.com/office/powerpoint/2010/main" r:embed="rId2"/>
              </p:ext>
            </p:extLst>
          </p:nvPr>
        </p:nvPicPr>
        <p:blipFill>
          <a:blip r:embed="rId8"/>
          <a:srcRect l="-200000" t="-90625" r="-200000" b="-90625"/>
          <a:stretch>
            <a:fillRect/>
          </a:stretch>
        </p:blipFill>
        <p:spPr>
          <a:xfrm>
            <a:off x="9144000" y="5143500"/>
            <a:ext cx="3048000" cy="1714500"/>
          </a:xfrm>
          <a:prstGeom prst="rect">
            <a:avLst/>
          </a:prstGeom>
        </p:spPr>
      </p:pic>
    </p:spTree>
    <p:custDataLst>
      <p:tags r:id="rId1"/>
    </p:custDataLst>
    <p:extLst>
      <p:ext uri="{BB962C8B-B14F-4D97-AF65-F5344CB8AC3E}">
        <p14:creationId xmlns:p14="http://schemas.microsoft.com/office/powerpoint/2010/main" val="3022699314"/>
      </p:ext>
    </p:extLst>
  </p:cSld>
  <p:clrMapOvr>
    <a:masterClrMapping/>
  </p:clrMapOvr>
  <mc:AlternateContent xmlns:mc="http://schemas.openxmlformats.org/markup-compatibility/2006">
    <mc:Choice xmlns:p14="http://schemas.microsoft.com/office/powerpoint/2010/main" Requires="p14">
      <p:transition p14:dur="10" advTm="22892"/>
    </mc:Choice>
    <mc:Fallback>
      <p:transition advTm="2289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27" fill="hold" display="0">
                  <p:stCondLst>
                    <p:cond delay="indefinite"/>
                  </p:stCondLst>
                  <p:endCondLst>
                    <p:cond evt="onStopAudio" delay="0">
                      <p:tgtEl>
                        <p:sldTgt/>
                      </p:tgtEl>
                    </p:cond>
                  </p:endCondLst>
                </p:cTn>
                <p:tgtEl>
                  <p:spTgt spid="3"/>
                </p:tgtEl>
              </p:cMediaNode>
            </p:audio>
          </p:childTnLst>
        </p:cTn>
      </p:par>
    </p:tnLst>
    <p:bldLst>
      <p:bldP spid="13" grpId="0"/>
      <p:bldP spid="15" grpId="0"/>
      <p:bldP spid="17" grpId="0"/>
      <p:bldP spid="1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Mathematical problems</a:t>
            </a:r>
          </a:p>
        </p:txBody>
      </p:sp>
      <p:pic>
        <p:nvPicPr>
          <p:cNvPr id="1029" name="Picture 5" descr="World University of Bangladesh (WUB) | Ranking and Admission"/>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591599" y="0"/>
            <a:ext cx="1600401" cy="136728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3EF00BF-7110-4787-8FF7-00A56F0232B3}"/>
              </a:ext>
            </a:extLst>
          </p:cNvPr>
          <p:cNvSpPr txBox="1"/>
          <p:nvPr/>
        </p:nvSpPr>
        <p:spPr>
          <a:xfrm>
            <a:off x="169872" y="1393047"/>
            <a:ext cx="11484736" cy="646331"/>
          </a:xfrm>
          <a:prstGeom prst="rect">
            <a:avLst/>
          </a:prstGeom>
          <a:noFill/>
        </p:spPr>
        <p:txBody>
          <a:bodyPr wrap="square">
            <a:spAutoFit/>
          </a:bodyPr>
          <a:lstStyle/>
          <a:p>
            <a:pPr algn="just"/>
            <a:r>
              <a:rPr lang="en-US" sz="1600" dirty="0">
                <a:solidFill>
                  <a:srgbClr val="000000"/>
                </a:solidFill>
                <a:highlight>
                  <a:srgbClr val="FFFF00"/>
                </a:highlight>
                <a:latin typeface="Times New Roman" panose="02020603050405020304" pitchFamily="18" charset="0"/>
              </a:rPr>
              <a:t>Q1. </a:t>
            </a:r>
            <a:r>
              <a:rPr lang="en-US" sz="1800" i="0" u="none" strike="noStrike" baseline="0" dirty="0">
                <a:latin typeface="Times New Roman" panose="02020603050405020304" pitchFamily="18" charset="0"/>
              </a:rPr>
              <a:t>In Young’s double slit experiment the distance between two slits is 2.0 mm. The separation between two consecutive fringes at a distance 1 m from the slits is found to be 0.295 mm. Find the wavelength of light</a:t>
            </a:r>
            <a:r>
              <a:rPr lang="en-US" sz="1800" b="1" i="0" u="none" strike="noStrike" baseline="0" dirty="0">
                <a:latin typeface="Times New Roman" panose="02020603050405020304" pitchFamily="18" charset="0"/>
              </a:rPr>
              <a:t>. </a:t>
            </a:r>
            <a:endParaRPr lang="en-US" sz="1800" b="0" i="0" u="none" strike="noStrike" baseline="0" dirty="0">
              <a:latin typeface="Times New Roman" panose="02020603050405020304" pitchFamily="18" charset="0"/>
            </a:endParaRPr>
          </a:p>
        </p:txBody>
      </p:sp>
      <p:pic>
        <p:nvPicPr>
          <p:cNvPr id="6" name="Picture 5">
            <a:extLst>
              <a:ext uri="{FF2B5EF4-FFF2-40B4-BE49-F238E27FC236}">
                <a16:creationId xmlns:a16="http://schemas.microsoft.com/office/drawing/2014/main" id="{F61ECE49-B056-4694-A7E9-A4D2EBA40D4D}"/>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50000"/>
                    </a14:imgEffect>
                  </a14:imgLayer>
                </a14:imgProps>
              </a:ext>
              <a:ext uri="{28A0092B-C50C-407E-A947-70E740481C1C}">
                <a14:useLocalDpi xmlns:a14="http://schemas.microsoft.com/office/drawing/2010/main" val="0"/>
              </a:ext>
            </a:extLst>
          </a:blip>
          <a:stretch>
            <a:fillRect/>
          </a:stretch>
        </p:blipFill>
        <p:spPr>
          <a:xfrm>
            <a:off x="2134060" y="2708876"/>
            <a:ext cx="6453744" cy="2640168"/>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pic>
        <p:nvPicPr>
          <p:cNvPr id="3" name="Audio 2">
            <a:hlinkClick r:id="" action="ppaction://media"/>
            <a:extLst>
              <a:ext uri="{FF2B5EF4-FFF2-40B4-BE49-F238E27FC236}">
                <a16:creationId xmlns:a16="http://schemas.microsoft.com/office/drawing/2014/main" id="{FD2B1F38-C403-A4E9-1217-31EFD6318928}"/>
              </a:ext>
            </a:extLst>
          </p:cNvPr>
          <p:cNvPicPr>
            <a:picLocks noChangeAspect="1"/>
          </p:cNvPicPr>
          <p:nvPr>
            <a:audioFile r:link="rId3"/>
            <p:extLst>
              <p:ext uri="{DAA4B4D4-6D71-4841-9C94-3DE7FCFB9230}">
                <p14:media xmlns:p14="http://schemas.microsoft.com/office/powerpoint/2010/main" r:embed="rId2"/>
              </p:ext>
            </p:extLst>
          </p:nvPr>
        </p:nvPicPr>
        <p:blipFill>
          <a:blip r:embed="rId9"/>
          <a:srcRect l="-200000" t="-90625" r="-200000" b="-90625"/>
          <a:stretch>
            <a:fillRect/>
          </a:stretch>
        </p:blipFill>
        <p:spPr>
          <a:xfrm>
            <a:off x="9144000" y="5143500"/>
            <a:ext cx="3048000" cy="1714500"/>
          </a:xfrm>
          <a:prstGeom prst="rect">
            <a:avLst/>
          </a:prstGeom>
        </p:spPr>
      </p:pic>
    </p:spTree>
    <p:custDataLst>
      <p:tags r:id="rId1"/>
    </p:custDataLst>
    <p:extLst>
      <p:ext uri="{BB962C8B-B14F-4D97-AF65-F5344CB8AC3E}">
        <p14:creationId xmlns:p14="http://schemas.microsoft.com/office/powerpoint/2010/main" val="1452115837"/>
      </p:ext>
    </p:extLst>
  </p:cSld>
  <p:clrMapOvr>
    <a:masterClrMapping/>
  </p:clrMapOvr>
  <mc:AlternateContent xmlns:mc="http://schemas.openxmlformats.org/markup-compatibility/2006">
    <mc:Choice xmlns:p14="http://schemas.microsoft.com/office/powerpoint/2010/main" Requires="p14">
      <p:transition p14:dur="10" advTm="68803"/>
    </mc:Choice>
    <mc:Fallback>
      <p:transition advTm="6880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2" fill="hold" display="0">
                  <p:stCondLst>
                    <p:cond delay="indefinite"/>
                  </p:stCondLst>
                  <p:endCondLst>
                    <p:cond evt="onStopAudio" delay="0">
                      <p:tgtEl>
                        <p:sldTgt/>
                      </p:tgtEl>
                    </p:cond>
                  </p:endCondLst>
                </p:cTn>
                <p:tgtEl>
                  <p:spTgt spid="3"/>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Mathematical problems</a:t>
            </a:r>
          </a:p>
        </p:txBody>
      </p:sp>
      <p:pic>
        <p:nvPicPr>
          <p:cNvPr id="1029" name="Picture 5" descr="World University of Bangladesh (WUB) | Ranking and Admission"/>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591599" y="0"/>
            <a:ext cx="1600401" cy="136728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CF50635-2B95-41B6-8965-A5FCF378E292}"/>
              </a:ext>
            </a:extLst>
          </p:cNvPr>
          <p:cNvSpPr txBox="1"/>
          <p:nvPr/>
        </p:nvSpPr>
        <p:spPr>
          <a:xfrm>
            <a:off x="115037" y="1208868"/>
            <a:ext cx="11720648" cy="892552"/>
          </a:xfrm>
          <a:prstGeom prst="rect">
            <a:avLst/>
          </a:prstGeom>
          <a:noFill/>
        </p:spPr>
        <p:txBody>
          <a:bodyPr wrap="square">
            <a:spAutoFit/>
          </a:bodyPr>
          <a:lstStyle/>
          <a:p>
            <a:pPr algn="l"/>
            <a:endParaRPr lang="en-US" sz="1600" b="0" i="0" u="none" strike="noStrike" baseline="0" dirty="0">
              <a:solidFill>
                <a:srgbClr val="000000"/>
              </a:solidFill>
              <a:latin typeface="Times New Roman" panose="02020603050405020304" pitchFamily="18" charset="0"/>
            </a:endParaRPr>
          </a:p>
          <a:p>
            <a:pPr algn="just"/>
            <a:r>
              <a:rPr lang="en-US" sz="1800" i="0" u="none" strike="noStrike" baseline="0" dirty="0">
                <a:solidFill>
                  <a:srgbClr val="000000"/>
                </a:solidFill>
                <a:highlight>
                  <a:srgbClr val="FFFF00"/>
                </a:highlight>
                <a:latin typeface="Times New Roman" panose="02020603050405020304" pitchFamily="18" charset="0"/>
                <a:cs typeface="Times New Roman" panose="02020603050405020304" pitchFamily="18" charset="0"/>
              </a:rPr>
              <a:t>Q2. </a:t>
            </a:r>
            <a:r>
              <a:rPr lang="en-US" sz="1800" i="0" u="none" strike="noStrike" baseline="0" dirty="0">
                <a:solidFill>
                  <a:srgbClr val="000000"/>
                </a:solidFill>
                <a:latin typeface="Times New Roman" panose="02020603050405020304" pitchFamily="18" charset="0"/>
                <a:cs typeface="Times New Roman" panose="02020603050405020304" pitchFamily="18" charset="0"/>
              </a:rPr>
              <a:t>Interference fringes are produced on a screen kept at 1 m away from two slits 0.4 mm apart. The wavelength of the light used is 𝟓𝟎𝟎𝟎 𝑨°. Find the distance between the center of two consecutive bright and dark fringe</a:t>
            </a:r>
            <a:r>
              <a:rPr lang="en-US" sz="1800" i="0" u="none" strike="noStrike" baseline="0" dirty="0">
                <a:solidFill>
                  <a:srgbClr val="000000"/>
                </a:solidFill>
                <a:latin typeface="Times New Roman" panose="02020603050405020304" pitchFamily="18" charset="0"/>
              </a:rPr>
              <a:t>. </a:t>
            </a:r>
          </a:p>
        </p:txBody>
      </p:sp>
      <p:pic>
        <p:nvPicPr>
          <p:cNvPr id="6" name="Picture 5">
            <a:extLst>
              <a:ext uri="{FF2B5EF4-FFF2-40B4-BE49-F238E27FC236}">
                <a16:creationId xmlns:a16="http://schemas.microsoft.com/office/drawing/2014/main" id="{8AD8EBCA-8BB6-4FC5-AF5D-EEBA345BF8AD}"/>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50000"/>
                    </a14:imgEffect>
                  </a14:imgLayer>
                </a14:imgProps>
              </a:ext>
              <a:ext uri="{28A0092B-C50C-407E-A947-70E740481C1C}">
                <a14:useLocalDpi xmlns:a14="http://schemas.microsoft.com/office/drawing/2010/main" val="0"/>
              </a:ext>
            </a:extLst>
          </a:blip>
          <a:stretch>
            <a:fillRect/>
          </a:stretch>
        </p:blipFill>
        <p:spPr>
          <a:xfrm>
            <a:off x="2456843" y="2583960"/>
            <a:ext cx="5888080" cy="3065172"/>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pic>
        <p:nvPicPr>
          <p:cNvPr id="3" name="Audio 2">
            <a:hlinkClick r:id="" action="ppaction://media"/>
            <a:extLst>
              <a:ext uri="{FF2B5EF4-FFF2-40B4-BE49-F238E27FC236}">
                <a16:creationId xmlns:a16="http://schemas.microsoft.com/office/drawing/2014/main" id="{6565145E-6423-2BA5-82EE-9E6660E62F5D}"/>
              </a:ext>
            </a:extLst>
          </p:cNvPr>
          <p:cNvPicPr>
            <a:picLocks noChangeAspect="1"/>
          </p:cNvPicPr>
          <p:nvPr>
            <a:audioFile r:link="rId3"/>
            <p:extLst>
              <p:ext uri="{DAA4B4D4-6D71-4841-9C94-3DE7FCFB9230}">
                <p14:media xmlns:p14="http://schemas.microsoft.com/office/powerpoint/2010/main" r:embed="rId2"/>
              </p:ext>
            </p:extLst>
          </p:nvPr>
        </p:nvPicPr>
        <p:blipFill>
          <a:blip r:embed="rId9"/>
          <a:srcRect l="-200000" t="-90625" r="-200000" b="-90625"/>
          <a:stretch>
            <a:fillRect/>
          </a:stretch>
        </p:blipFill>
        <p:spPr>
          <a:xfrm>
            <a:off x="9144000" y="5143500"/>
            <a:ext cx="3048000" cy="1714500"/>
          </a:xfrm>
          <a:prstGeom prst="rect">
            <a:avLst/>
          </a:prstGeom>
        </p:spPr>
      </p:pic>
    </p:spTree>
    <p:custDataLst>
      <p:tags r:id="rId1"/>
    </p:custDataLst>
    <p:extLst>
      <p:ext uri="{BB962C8B-B14F-4D97-AF65-F5344CB8AC3E}">
        <p14:creationId xmlns:p14="http://schemas.microsoft.com/office/powerpoint/2010/main" val="330238374"/>
      </p:ext>
    </p:extLst>
  </p:cSld>
  <p:clrMapOvr>
    <a:masterClrMapping/>
  </p:clrMapOvr>
  <mc:AlternateContent xmlns:mc="http://schemas.openxmlformats.org/markup-compatibility/2006">
    <mc:Choice xmlns:p14="http://schemas.microsoft.com/office/powerpoint/2010/main" Requires="p14">
      <p:transition p14:dur="10" advTm="6666"/>
    </mc:Choice>
    <mc:Fallback>
      <p:transition advTm="666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2" fill="hold" display="0">
                  <p:stCondLst>
                    <p:cond delay="indefinite"/>
                  </p:stCondLst>
                  <p:endCondLst>
                    <p:cond evt="onStopAudio" delay="0">
                      <p:tgtEl>
                        <p:sldTgt/>
                      </p:tgtEl>
                    </p:cond>
                  </p:endCondLst>
                </p:cTn>
                <p:tgtEl>
                  <p:spTgt spid="3"/>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Conclusions</a:t>
            </a:r>
          </a:p>
        </p:txBody>
      </p:sp>
      <p:pic>
        <p:nvPicPr>
          <p:cNvPr id="1029" name="Picture 5" descr="World University of Bangladesh (WUB) | Ranking and Admission"/>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864404" y="105672"/>
            <a:ext cx="1359173" cy="116119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20258DDF-AEC2-412D-930F-E788E190D699}"/>
              </a:ext>
            </a:extLst>
          </p:cNvPr>
          <p:cNvSpPr/>
          <p:nvPr/>
        </p:nvSpPr>
        <p:spPr>
          <a:xfrm>
            <a:off x="4320973" y="2967335"/>
            <a:ext cx="3343992" cy="923330"/>
          </a:xfrm>
          <a:prstGeom prst="rect">
            <a:avLst/>
          </a:prstGeom>
          <a:noFill/>
        </p:spPr>
        <p:txBody>
          <a:bodyPr wrap="none" lIns="91440" tIns="45720" rIns="91440" bIns="45720">
            <a:spAutoFit/>
          </a:bodyPr>
          <a:lstStyle/>
          <a:p>
            <a:pPr algn="ct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T</a:t>
            </a:r>
            <a:r>
              <a:rPr lang="en-US" sz="5400" b="0" cap="none" spc="0" dirty="0">
                <a:ln w="0"/>
                <a:solidFill>
                  <a:srgbClr val="FF0000"/>
                </a:solidFill>
                <a:effectLst>
                  <a:reflection blurRad="6350" stA="53000" endA="300" endPos="35500" dir="5400000" sy="-90000" algn="bl" rotWithShape="0"/>
                </a:effectLst>
              </a:rPr>
              <a:t>h</a:t>
            </a:r>
            <a:r>
              <a:rPr lang="en-US" sz="5400" b="0" cap="none" spc="0" dirty="0">
                <a:ln w="0"/>
                <a:solidFill>
                  <a:srgbClr val="00B050"/>
                </a:solidFill>
                <a:effectLst>
                  <a:reflection blurRad="6350" stA="53000" endA="300" endPos="35500" dir="5400000" sy="-90000" algn="bl" rotWithShape="0"/>
                </a:effectLst>
              </a:rPr>
              <a:t>a</a:t>
            </a:r>
            <a:r>
              <a:rPr lang="en-US" sz="5400" b="0" cap="none" spc="0" dirty="0">
                <a:ln w="0"/>
                <a:solidFill>
                  <a:srgbClr val="FFC000"/>
                </a:solidFill>
                <a:effectLst>
                  <a:reflection blurRad="6350" stA="53000" endA="300" endPos="35500" dir="5400000" sy="-90000" algn="bl" rotWithShape="0"/>
                </a:effectLst>
              </a:rPr>
              <a:t>n</a:t>
            </a:r>
            <a:r>
              <a:rPr lang="en-US" sz="5400" b="0" cap="none" spc="0" dirty="0">
                <a:ln w="0"/>
                <a:solidFill>
                  <a:srgbClr val="7030A0"/>
                </a:solidFill>
                <a:effectLst>
                  <a:reflection blurRad="6350" stA="53000" endA="300" endPos="35500" dir="5400000" sy="-90000" algn="bl" rotWithShape="0"/>
                </a:effectLst>
              </a:rPr>
              <a:t>k</a:t>
            </a: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 </a:t>
            </a:r>
            <a:r>
              <a:rPr lang="en-US" sz="5400" b="0" cap="none" spc="0" dirty="0">
                <a:ln w="0"/>
                <a:solidFill>
                  <a:schemeClr val="accent2">
                    <a:lumMod val="75000"/>
                  </a:schemeClr>
                </a:solidFill>
                <a:effectLst>
                  <a:reflection blurRad="6350" stA="53000" endA="300" endPos="35500" dir="5400000" sy="-90000" algn="bl" rotWithShape="0"/>
                </a:effectLst>
              </a:rPr>
              <a:t>y</a:t>
            </a:r>
            <a:r>
              <a:rPr lang="en-US" sz="5400" b="0" cap="none" spc="0" dirty="0">
                <a:ln w="0"/>
                <a:solidFill>
                  <a:srgbClr val="FF0000"/>
                </a:solidFill>
                <a:effectLst>
                  <a:reflection blurRad="6350" stA="53000" endA="300" endPos="35500" dir="5400000" sy="-90000" algn="bl" rotWithShape="0"/>
                </a:effectLst>
              </a:rPr>
              <a:t>o</a:t>
            </a:r>
            <a:r>
              <a:rPr lang="en-US" sz="5400" b="0" cap="none" spc="0" dirty="0">
                <a:ln w="0"/>
                <a:solidFill>
                  <a:srgbClr val="00B0F0"/>
                </a:solidFill>
                <a:effectLst>
                  <a:reflection blurRad="6350" stA="53000" endA="300" endPos="35500" dir="5400000" sy="-90000" algn="bl" rotWithShape="0"/>
                </a:effectLst>
              </a:rPr>
              <a:t>u</a:t>
            </a:r>
          </a:p>
        </p:txBody>
      </p:sp>
      <p:pic>
        <p:nvPicPr>
          <p:cNvPr id="4" name="Audio 3">
            <a:hlinkClick r:id="" action="ppaction://media"/>
            <a:extLst>
              <a:ext uri="{FF2B5EF4-FFF2-40B4-BE49-F238E27FC236}">
                <a16:creationId xmlns:a16="http://schemas.microsoft.com/office/drawing/2014/main" id="{FEFA1CA0-C6AB-4E8E-A64E-4498B5518E67}"/>
              </a:ext>
            </a:extLst>
          </p:cNvPr>
          <p:cNvPicPr>
            <a:picLocks noChangeAspect="1"/>
          </p:cNvPicPr>
          <p:nvPr>
            <a:audioFile r:link="rId3"/>
            <p:extLst>
              <p:ext uri="{DAA4B4D4-6D71-4841-9C94-3DE7FCFB9230}">
                <p14:media xmlns:p14="http://schemas.microsoft.com/office/powerpoint/2010/main" r:embed="rId2"/>
              </p:ext>
            </p:extLst>
          </p:nvPr>
        </p:nvPicPr>
        <p:blipFill>
          <a:blip r:embed="rId7"/>
          <a:srcRect l="-200000" t="-90625" r="-200000" b="-90625"/>
          <a:stretch>
            <a:fillRect/>
          </a:stretch>
        </p:blipFill>
        <p:spPr>
          <a:xfrm>
            <a:off x="9144000" y="5143500"/>
            <a:ext cx="3048000" cy="1714500"/>
          </a:xfrm>
          <a:prstGeom prst="rect">
            <a:avLst/>
          </a:prstGeom>
        </p:spPr>
      </p:pic>
    </p:spTree>
    <p:custDataLst>
      <p:tags r:id="rId1"/>
    </p:custDataLst>
    <p:extLst>
      <p:ext uri="{BB962C8B-B14F-4D97-AF65-F5344CB8AC3E}">
        <p14:creationId xmlns:p14="http://schemas.microsoft.com/office/powerpoint/2010/main" val="893475195"/>
      </p:ext>
    </p:extLst>
  </p:cSld>
  <p:clrMapOvr>
    <a:masterClrMapping/>
  </p:clrMapOvr>
  <mc:AlternateContent xmlns:mc="http://schemas.openxmlformats.org/markup-compatibility/2006">
    <mc:Choice xmlns:p14="http://schemas.microsoft.com/office/powerpoint/2010/main" Requires="p14">
      <p:transition p14:dur="10" advTm="4738"/>
    </mc:Choice>
    <mc:Fallback>
      <p:transition advTm="473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Heat and thermodynamics, oscillations and optics"/>
  <p:tag name="ISPRING_FIRST_PUBLISH" val="1"/>
  <p:tag name="ISPRING_PROJECT_FOLDER_UPDATED" val="1"/>
  <p:tag name="ISPRING_UUID" val="{02C6D6BF-535B-44FC-A14E-F7DDF2682E08}"/>
  <p:tag name="ISPRING_PROJECT_VERSION" val="9"/>
  <p:tag name="FLASHSPRING_ZOOM_TAG" val="11"/>
  <p:tag name="ISPRING_PRESENTATION_INFO_2" val="&lt;?xml version=&quot;1.0&quot; encoding=&quot;UTF-8&quot; standalone=&quot;no&quot; ?&gt;&#10;&lt;presentation2&gt;&#10;&#10;  &lt;slides&gt;&#10;    &lt;slide id=&quot;{B1287C85-437A-430B-8FE4-3289BF99FFE1}&quot; pptId=&quot;256&quot;/&gt;&#10;    &lt;slide id=&quot;{1FCDADF9-49C0-4206-B7A4-13D5BD3F781A}&quot; pptId=&quot;280&quot;/&gt;&#10;    &lt;slide id=&quot;{102E65A7-8C86-4D56-AFD7-6DF62CE1AEE9}&quot; pptId=&quot;271&quot;/&gt;&#10;    &lt;slide id=&quot;{4E45975D-53AE-403C-AC4C-1E4AB1FDE33D}&quot; pptId=&quot;272&quot;/&gt;&#10;    &lt;slide id=&quot;{B9208B61-7222-46AF-8752-9DCF46E5FE26}&quot; pptId=&quot;270&quot;/&gt;&#10;    &lt;slide id=&quot;{E1478411-8328-4E1D-B43F-28BCF2B1D97D}&quot; pptId=&quot;273&quot;/&gt;&#10;    &lt;slide id=&quot;{F7112553-E22A-4C0F-9DD9-0D1A4F63DAD7}&quot; pptId=&quot;275&quot;/&gt;&#10;    &lt;slide id=&quot;{E3971424-18C7-452A-A74F-6AD05C2E5222}&quot; pptId=&quot;276&quot;/&gt;&#10;    &lt;slide id=&quot;{17EB08EC-9F0B-49C4-97E8-D59E16A3F02E}&quot; pptId=&quot;281&quot;/&gt;&#10;    &lt;slide id=&quot;{52D01513-1586-4636-99C0-A28F896DEE2D}&quot; pptId=&quot;282&quot;/&gt;&#10;    &lt;slide id=&quot;{5E75238E-DA07-41AD-9DA8-61EA05A32149}&quot; pptId=&quot;277&quot;/&gt;&#10;  &lt;/slides&gt;&#10;&#10;  &lt;narration&gt;&#10;    &lt;audioTracks/&gt;&#10;    &lt;videoTracks/&gt;&#10;  &lt;/narration&gt;&#10;&#10;&lt;/presentation2&gt;&#10;"/>
  <p:tag name="ISPRING_SCREEN_RECS_UPDATED" val="F:\Online Class-Fall 20\PHY-102\Week-7\Work and energy\"/>
  <p:tag name="ISPRING_RESOURCE_FOLDER" val="F:\Online Class-Fall 20\PHY-102\Week-7\Work and energy\"/>
  <p:tag name="ISPRING_PRESENTATION_PATH" val="F:\Online Class-Fall 20\PHY-102\Week-7\Work and energy.pptx"/>
</p:tagLst>
</file>

<file path=ppt/tags/tag2.xml><?xml version="1.0" encoding="utf-8"?>
<p:tagLst xmlns:a="http://schemas.openxmlformats.org/drawingml/2006/main" xmlns:r="http://schemas.openxmlformats.org/officeDocument/2006/relationships" xmlns:p="http://schemas.openxmlformats.org/presentationml/2006/main">
  <p:tag name="ISPRING_CUSTOM_TIMING_USED" val="1"/>
  <p:tag name="ISPRING_SLIDE_ID_2" val="{B1287C85-437A-430B-8FE4-3289BF99FFE1}"/>
  <p:tag name="GENSWF_ADVANCE_TIME" val="14.667"/>
</p:tagLst>
</file>

<file path=ppt/tags/tag3.xml><?xml version="1.0" encoding="utf-8"?>
<p:tagLst xmlns:a="http://schemas.openxmlformats.org/drawingml/2006/main" xmlns:r="http://schemas.openxmlformats.org/officeDocument/2006/relationships" xmlns:p="http://schemas.openxmlformats.org/presentationml/2006/main">
  <p:tag name="GENSWF_ADVANCE_TIME" val="16.472"/>
  <p:tag name="ISPRING_CUSTOM_TIMING_USED" val="1"/>
  <p:tag name="ISPRING_SLIDE_ID_2" val="{1FCDADF9-49C0-4206-B7A4-13D5BD3F781A}"/>
  <p:tag name="TIMING" val="|1.4"/>
</p:tagLst>
</file>

<file path=ppt/tags/tag4.xml><?xml version="1.0" encoding="utf-8"?>
<p:tagLst xmlns:a="http://schemas.openxmlformats.org/drawingml/2006/main" xmlns:r="http://schemas.openxmlformats.org/officeDocument/2006/relationships" xmlns:p="http://schemas.openxmlformats.org/presentationml/2006/main">
  <p:tag name="GENSWF_ADVANCE_TIME" val="16.472"/>
  <p:tag name="ISPRING_CUSTOM_TIMING_USED" val="1"/>
  <p:tag name="ISPRING_SLIDE_ID_2" val="{1FCDADF9-49C0-4206-B7A4-13D5BD3F781A}"/>
  <p:tag name="TIMING" val="|1|4.6|16|2.1"/>
</p:tagLst>
</file>

<file path=ppt/tags/tag5.xml><?xml version="1.0" encoding="utf-8"?>
<p:tagLst xmlns:a="http://schemas.openxmlformats.org/drawingml/2006/main" xmlns:r="http://schemas.openxmlformats.org/officeDocument/2006/relationships" xmlns:p="http://schemas.openxmlformats.org/presentationml/2006/main">
  <p:tag name="GENSWF_ADVANCE_TIME" val="16.472"/>
  <p:tag name="ISPRING_CUSTOM_TIMING_USED" val="1"/>
  <p:tag name="ISPRING_SLIDE_ID_2" val="{1FCDADF9-49C0-4206-B7A4-13D5BD3F781A}"/>
  <p:tag name="TIMING" val="|3.7"/>
</p:tagLst>
</file>

<file path=ppt/tags/tag6.xml><?xml version="1.0" encoding="utf-8"?>
<p:tagLst xmlns:a="http://schemas.openxmlformats.org/drawingml/2006/main" xmlns:r="http://schemas.openxmlformats.org/officeDocument/2006/relationships" xmlns:p="http://schemas.openxmlformats.org/presentationml/2006/main">
  <p:tag name="GENSWF_ADVANCE_TIME" val="16.472"/>
  <p:tag name="ISPRING_CUSTOM_TIMING_USED" val="1"/>
  <p:tag name="ISPRING_SLIDE_ID_2" val="{1FCDADF9-49C0-4206-B7A4-13D5BD3F781A}"/>
  <p:tag name="TIMING" val="|1.6"/>
</p:tagLst>
</file>

<file path=ppt/tags/tag7.xml><?xml version="1.0" encoding="utf-8"?>
<p:tagLst xmlns:a="http://schemas.openxmlformats.org/drawingml/2006/main" xmlns:r="http://schemas.openxmlformats.org/officeDocument/2006/relationships" xmlns:p="http://schemas.openxmlformats.org/presentationml/2006/main">
  <p:tag name="GENSWF_ADVANCE_TIME" val="16.472"/>
  <p:tag name="ISPRING_CUSTOM_TIMING_USED" val="1"/>
  <p:tag name="ISPRING_SLIDE_ID_2" val="{1FCDADF9-49C0-4206-B7A4-13D5BD3F781A}"/>
  <p:tag name="TIMING" val="|3.7"/>
</p:tagLst>
</file>

<file path=ppt/tags/tag8.xml><?xml version="1.0" encoding="utf-8"?>
<p:tagLst xmlns:a="http://schemas.openxmlformats.org/drawingml/2006/main" xmlns:r="http://schemas.openxmlformats.org/officeDocument/2006/relationships" xmlns:p="http://schemas.openxmlformats.org/presentationml/2006/main">
  <p:tag name="GENSWF_ADVANCE_TIME" val="16.472"/>
  <p:tag name="ISPRING_CUSTOM_TIMING_USED" val="1"/>
  <p:tag name="ISPRING_SLIDE_ID_2" val="{1FCDADF9-49C0-4206-B7A4-13D5BD3F781A}"/>
  <p:tag name="TIMING" val="|1.2|0.9|0.6|0.4|0.8"/>
</p:tagLst>
</file>

<file path=ppt/tags/tag9.xml><?xml version="1.0" encoding="utf-8"?>
<p:tagLst xmlns:a="http://schemas.openxmlformats.org/drawingml/2006/main" xmlns:r="http://schemas.openxmlformats.org/officeDocument/2006/relationships" xmlns:p="http://schemas.openxmlformats.org/presentationml/2006/main">
  <p:tag name="GENSWF_ADVANCE_TIME" val="16.472"/>
  <p:tag name="ISPRING_CUSTOM_TIMING_USED" val="1"/>
  <p:tag name="ISPRING_SLIDE_ID_2" val="{1FCDADF9-49C0-4206-B7A4-13D5BD3F781A}"/>
  <p:tag name="TIMING" val="|1.9|0.8|1.7|5.4"/>
</p:tagLst>
</file>

<file path=ppt/tags/tag10.xml><?xml version="1.0" encoding="utf-8"?>
<p:tagLst xmlns:a="http://schemas.openxmlformats.org/drawingml/2006/main" xmlns:r="http://schemas.openxmlformats.org/officeDocument/2006/relationships" xmlns:p="http://schemas.openxmlformats.org/presentationml/2006/main">
  <p:tag name="GENSWF_ADVANCE_TIME" val="16.472"/>
  <p:tag name="ISPRING_CUSTOM_TIMING_USED" val="1"/>
  <p:tag name="ISPRING_SLIDE_ID_2" val="{1FCDADF9-49C0-4206-B7A4-13D5BD3F781A}"/>
  <p:tag name="TIMING" val="|1.6"/>
</p:tagLst>
</file>

<file path=ppt/tags/tag11.xml><?xml version="1.0" encoding="utf-8"?>
<p:tagLst xmlns:a="http://schemas.openxmlformats.org/drawingml/2006/main" xmlns:r="http://schemas.openxmlformats.org/officeDocument/2006/relationships" xmlns:p="http://schemas.openxmlformats.org/presentationml/2006/main">
  <p:tag name="GENSWF_ADVANCE_TIME" val="16.472"/>
  <p:tag name="ISPRING_CUSTOM_TIMING_USED" val="1"/>
  <p:tag name="ISPRING_SLIDE_ID_2" val="{1FCDADF9-49C0-4206-B7A4-13D5BD3F781A}"/>
  <p:tag name="TIMING" val="|0.8"/>
</p:tagLst>
</file>

<file path=ppt/tags/tag12.xml><?xml version="1.0" encoding="utf-8"?>
<p:tagLst xmlns:a="http://schemas.openxmlformats.org/drawingml/2006/main" xmlns:r="http://schemas.openxmlformats.org/officeDocument/2006/relationships" xmlns:p="http://schemas.openxmlformats.org/presentationml/2006/main">
  <p:tag name="ISPRING_CUSTOM_TIMING_USED" val="1"/>
  <p:tag name="ISPRING_SLIDE_ID_2" val="{5E75238E-DA07-41AD-9DA8-61EA05A32149}"/>
  <p:tag name="GENSWF_ADVANCE_TIME" val="7.7"/>
</p:tagLst>
</file>

<file path=ppt/theme/theme1.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elcome to PowerPoint.potx" id="{43699C43-EC89-4A55-9A99-3FD944590577}" vid="{3C36ED3A-1C33-4ECB-8650-37D568EF454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DirectSourceMarket xmlns="4873beb7-5857-4685-be1f-d57550cc96cc" xsi:nil="true"/>
    <ApprovalStatus xmlns="4873beb7-5857-4685-be1f-d57550cc96cc">InProgress</ApprovalStatus>
    <MarketSpecific xmlns="4873beb7-5857-4685-be1f-d57550cc96cc">false</MarketSpecific>
    <LocComments xmlns="4873beb7-5857-4685-be1f-d57550cc96cc" xsi:nil="true"/>
    <ThumbnailAssetId xmlns="4873beb7-5857-4685-be1f-d57550cc96cc" xsi:nil="true"/>
    <PrimaryImageGen xmlns="4873beb7-5857-4685-be1f-d57550cc96cc">true</PrimaryImageGen>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1584528</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 xsi:nil="true"/>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2012-06-20T23:39:00+00:00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UACurrentWords xmlns="4873beb7-5857-4685-be1f-d57550cc96cc" xsi:nil="true"/>
    <ArtSampleDocs xmlns="4873beb7-5857-4685-be1f-d57550cc96cc" xsi:nil="true"/>
    <UALocRecommendation xmlns="4873beb7-5857-4685-be1f-d57550cc96cc">Localize</UALocRecommendation>
    <Manager xmlns="4873beb7-5857-4685-be1f-d57550cc96cc" xsi:nil="true"/>
    <ShowIn xmlns="4873beb7-5857-4685-be1f-d57550cc96cc">Show everywhere</ShowIn>
    <UANotes xmlns="4873beb7-5857-4685-be1f-d57550cc96cc" xsi:nil="true"/>
    <TemplateStatus xmlns="4873beb7-5857-4685-be1f-d57550cc96cc">Complete</TemplateStatus>
    <InternalTagsTaxHTField0 xmlns="4873beb7-5857-4685-be1f-d57550cc96cc">
      <Terms xmlns="http://schemas.microsoft.com/office/infopath/2007/PartnerControls"/>
    </InternalTagsTaxHTField0>
    <CSXHash xmlns="4873beb7-5857-4685-be1f-d57550cc96cc" xsi:nil="true"/>
    <Downloads xmlns="4873beb7-5857-4685-be1f-d57550cc96cc">0</Downloads>
    <VoteCount xmlns="4873beb7-5857-4685-be1f-d57550cc96cc" xsi:nil="true"/>
    <OOCacheId xmlns="4873beb7-5857-4685-be1f-d57550cc96cc" xsi:nil="true"/>
    <IsDeleted xmlns="4873beb7-5857-4685-be1f-d57550cc96cc">false</IsDeleted>
    <AssetExpire xmlns="4873beb7-5857-4685-be1f-d57550cc96cc">2029-01-01T08:00:00+00:00</AssetExpire>
    <DSATActionTaken xmlns="4873beb7-5857-4685-be1f-d57550cc96cc" xsi:nil="true"/>
    <CSXSubmissionMarket xmlns="4873beb7-5857-4685-be1f-d57550cc96cc" xsi:nil="true"/>
    <TPExecutable xmlns="4873beb7-5857-4685-be1f-d57550cc96cc" xsi:nil="true"/>
    <SubmitterId xmlns="4873beb7-5857-4685-be1f-d57550cc96cc" xsi:nil="true"/>
    <EditorialTags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TP102923943</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843282</LocLastLocAttemptVersionLookup>
    <IsSearchable xmlns="4873beb7-5857-4685-be1f-d57550cc96cc">true</IsSearchable>
    <TemplateTemplateType xmlns="4873beb7-5857-4685-be1f-d57550cc96cc">PowerPoint Template - Slideshow Launch</TemplateTemplateType>
    <CampaignTagsTaxHTField0 xmlns="4873beb7-5857-4685-be1f-d57550cc96cc">
      <Terms xmlns="http://schemas.microsoft.com/office/infopath/2007/PartnerControls"/>
    </CampaignTagsTaxHTField0>
    <TPNamespace xmlns="4873beb7-5857-4685-be1f-d57550cc96cc" xsi:nil="true"/>
    <TaxCatchAll xmlns="4873beb7-5857-4685-be1f-d57550cc96cc"/>
    <Markets xmlns="4873beb7-5857-4685-be1f-d57550cc96cc"/>
    <UAProjectedTotalWords xmlns="4873beb7-5857-4685-be1f-d57550cc96cc" xsi:nil="true"/>
    <IntlLangReview xmlns="4873beb7-5857-4685-be1f-d57550cc96cc">false</IntlLangReview>
    <OutputCachingOn xmlns="4873beb7-5857-4685-be1f-d57550cc96cc">false</OutputCachingOn>
    <AverageRating xmlns="4873beb7-5857-4685-be1f-d57550cc96cc" xsi:nil="true"/>
    <LocMarketGroupTiers2 xmlns="4873beb7-5857-4685-be1f-d57550cc96cc" xsi:nil="true"/>
    <APAuthor xmlns="4873beb7-5857-4685-be1f-d57550cc96cc">
      <UserInfo>
        <DisplayName>REDMOND\v-sa</DisplayName>
        <AccountId>2467</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OriginalRelease xmlns="4873beb7-5857-4685-be1f-d57550cc96cc">15</OriginalRelease>
    <TPLaunchHelpLinkType xmlns="4873beb7-5857-4685-be1f-d57550cc96cc">Template</TPLaunchHelpLinkType>
    <LocalizationTagsTaxHTField0 xmlns="4873beb7-5857-4685-be1f-d57550cc96cc">
      <Terms xmlns="http://schemas.microsoft.com/office/infopath/2007/PartnerControls"/>
    </LocalizationTagsTaxHTField0>
  </documentManagement>
</p:properties>
</file>

<file path=customXml/item3.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3DEC53A-9DF1-4780-BE92-17E971B7A9ED}">
  <ds:schemaRefs>
    <ds:schemaRef ds:uri="http://schemas.microsoft.com/sharepoint/v3/contenttype/forms"/>
  </ds:schemaRefs>
</ds:datastoreItem>
</file>

<file path=customXml/itemProps2.xml><?xml version="1.0" encoding="utf-8"?>
<ds:datastoreItem xmlns:ds="http://schemas.openxmlformats.org/officeDocument/2006/customXml" ds:itemID="{B970C04F-E7AC-41AB-9C6D-1B1BB88BFF7F}">
  <ds:schemaRefs>
    <ds:schemaRef ds:uri="http://www.w3.org/XML/1998/namespace"/>
    <ds:schemaRef ds:uri="http://schemas.microsoft.com/office/2006/documentManagement/types"/>
    <ds:schemaRef ds:uri="http://purl.org/dc/terms/"/>
    <ds:schemaRef ds:uri="http://purl.org/dc/elements/1.1/"/>
    <ds:schemaRef ds:uri="http://schemas.microsoft.com/office/infopath/2007/PartnerControls"/>
    <ds:schemaRef ds:uri="http://purl.org/dc/dcmitype/"/>
    <ds:schemaRef ds:uri="http://schemas.openxmlformats.org/package/2006/metadata/core-properties"/>
    <ds:schemaRef ds:uri="http://schemas.microsoft.com/office/2006/metadata/properties"/>
    <ds:schemaRef ds:uri="4873beb7-5857-4685-be1f-d57550cc96cc"/>
  </ds:schemaRefs>
</ds:datastoreItem>
</file>

<file path=customXml/itemProps3.xml><?xml version="1.0" encoding="utf-8"?>
<ds:datastoreItem xmlns:ds="http://schemas.openxmlformats.org/officeDocument/2006/customXml" ds:itemID="{63EE7759-C66F-4EA4-9863-7EBA32518D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Welcome to PowerPoint 2013</Template>
  <TotalTime>4254</TotalTime>
  <Words>647</Words>
  <Application>Microsoft Office PowerPoint</Application>
  <PresentationFormat>Widescreen</PresentationFormat>
  <Paragraphs>47</Paragraphs>
  <Slides>12</Slides>
  <Notes>11</Notes>
  <HiddenSlides>0</HiddenSlides>
  <MMClips>12</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vt:i4>
      </vt:variant>
    </vt:vector>
  </HeadingPairs>
  <TitlesOfParts>
    <vt:vector size="22" baseType="lpstr">
      <vt:lpstr>Arial</vt:lpstr>
      <vt:lpstr>Calibri</vt:lpstr>
      <vt:lpstr>Cambria Math</vt:lpstr>
      <vt:lpstr>Courier New</vt:lpstr>
      <vt:lpstr>Neue Helvetica W01</vt:lpstr>
      <vt:lpstr>Segoe UI</vt:lpstr>
      <vt:lpstr>Segoe UI Light</vt:lpstr>
      <vt:lpstr>Times New Roman</vt:lpstr>
      <vt:lpstr>Wingdings</vt:lpstr>
      <vt:lpstr>WelcomeDoc</vt:lpstr>
      <vt:lpstr>Physics (PHY 102) Physical Optics</vt:lpstr>
      <vt:lpstr>Objectives</vt:lpstr>
      <vt:lpstr>Diffraction of Light</vt:lpstr>
      <vt:lpstr>Diffraction of light</vt:lpstr>
      <vt:lpstr>Diffraction of light</vt:lpstr>
      <vt:lpstr>Diffraction of light-conditions</vt:lpstr>
      <vt:lpstr>Difference-interference and diffraction</vt:lpstr>
      <vt:lpstr>Young’s double slit experiment</vt:lpstr>
      <vt:lpstr>Young’s double slit experiment-formula</vt:lpstr>
      <vt:lpstr>Mathematical problems</vt:lpstr>
      <vt:lpstr>Mathematical problems</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Heat and thermodynamics, oscillations and optics</dc:title>
  <dc:creator>Misbah Babu</dc:creator>
  <cp:keywords/>
  <cp:lastModifiedBy>PROVA</cp:lastModifiedBy>
  <cp:revision>659</cp:revision>
  <dcterms:created xsi:type="dcterms:W3CDTF">2020-06-02T04:52:33Z</dcterms:created>
  <dcterms:modified xsi:type="dcterms:W3CDTF">2024-05-26T10:29:56Z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_TemplateID">
    <vt:lpwstr>TC029239449991</vt:lpwstr>
  </property>
  <property fmtid="{D5CDD505-2E9C-101B-9397-08002B2CF9AE}" pid="4" name="ContentTypeId">
    <vt:lpwstr>0x0101006EDDDB5EE6D98C44930B742096920B300400F5B6D36B3EF94B4E9A635CDF2A18F5B8</vt:lpwstr>
  </property>
  <property fmtid="{D5CDD505-2E9C-101B-9397-08002B2CF9AE}" pid="5" name="FeatureTags">
    <vt:lpwstr/>
  </property>
  <property fmtid="{D5CDD505-2E9C-101B-9397-08002B2CF9AE}" pid="6" name="LocalizationTags">
    <vt:lpwstr/>
  </property>
  <property fmtid="{D5CDD505-2E9C-101B-9397-08002B2CF9AE}" pid="7" name="ScenarioTags">
    <vt:lpwstr/>
  </property>
  <property fmtid="{D5CDD505-2E9C-101B-9397-08002B2CF9AE}" pid="8" name="CampaignTags">
    <vt:lpwstr/>
  </property>
</Properties>
</file>