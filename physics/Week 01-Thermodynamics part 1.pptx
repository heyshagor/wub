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87567" autoAdjust="0"/>
  </p:normalViewPr>
  <p:slideViewPr>
    <p:cSldViewPr>
      <p:cViewPr>
        <p:scale>
          <a:sx n="76" d="100"/>
          <a:sy n="76" d="100"/>
        </p:scale>
        <p:origin x="-1116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615C6-DA52-4F53-843E-2DB42C78A1FE}" type="datetimeFigureOut">
              <a:rPr lang="en-US" smtClean="0"/>
              <a:t>23-Apr-24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ABECA-02D9-4D48-A467-461C147A4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6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4ABECA-02D9-4D48-A467-461C147A40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43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3954" y="589915"/>
            <a:ext cx="11804091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23-Apr-24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23-Apr-24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23-Apr-24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23-Apr-24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23-Apr-24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12192000" y="0"/>
                </a:moveTo>
                <a:lnTo>
                  <a:pt x="0" y="0"/>
                </a:lnTo>
                <a:lnTo>
                  <a:pt x="0" y="1333500"/>
                </a:lnTo>
                <a:lnTo>
                  <a:pt x="12192000" y="13335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954" y="589915"/>
            <a:ext cx="11804091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378" y="1617700"/>
            <a:ext cx="11985243" cy="3042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23-Apr-24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4866640"/>
          </a:xfrm>
          <a:custGeom>
            <a:avLst/>
            <a:gdLst/>
            <a:ahLst/>
            <a:cxnLst/>
            <a:rect l="l" t="t" r="r" b="b"/>
            <a:pathLst>
              <a:path w="12192000" h="4866640">
                <a:moveTo>
                  <a:pt x="12192000" y="0"/>
                </a:moveTo>
                <a:lnTo>
                  <a:pt x="0" y="0"/>
                </a:lnTo>
                <a:lnTo>
                  <a:pt x="0" y="4866132"/>
                </a:lnTo>
                <a:lnTo>
                  <a:pt x="12192000" y="4866132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6036" y="3724147"/>
            <a:ext cx="717295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22065" algn="l"/>
              </a:tabLst>
            </a:pPr>
            <a:r>
              <a:rPr sz="5400" dirty="0"/>
              <a:t>P</a:t>
            </a:r>
            <a:r>
              <a:rPr sz="5400" spc="20" dirty="0"/>
              <a:t>h</a:t>
            </a:r>
            <a:r>
              <a:rPr sz="5400" spc="-5" dirty="0"/>
              <a:t>y</a:t>
            </a:r>
            <a:r>
              <a:rPr sz="5400" spc="10" dirty="0"/>
              <a:t>s</a:t>
            </a:r>
            <a:r>
              <a:rPr sz="5400" spc="-5" dirty="0"/>
              <a:t>ic</a:t>
            </a:r>
            <a:r>
              <a:rPr sz="5400" dirty="0"/>
              <a:t>s</a:t>
            </a:r>
            <a:r>
              <a:rPr sz="5400" spc="-25" dirty="0"/>
              <a:t> </a:t>
            </a:r>
            <a:r>
              <a:rPr sz="5400" spc="-5" dirty="0"/>
              <a:t>(</a:t>
            </a:r>
            <a:r>
              <a:rPr sz="5400" spc="20" dirty="0"/>
              <a:t>P</a:t>
            </a:r>
            <a:r>
              <a:rPr sz="5400" spc="10" dirty="0"/>
              <a:t>H</a:t>
            </a:r>
            <a:r>
              <a:rPr sz="5400" dirty="0"/>
              <a:t>Y	</a:t>
            </a:r>
            <a:r>
              <a:rPr sz="5400" spc="-5" dirty="0" smtClean="0"/>
              <a:t>10</a:t>
            </a:r>
            <a:r>
              <a:rPr sz="5400" spc="10" dirty="0" smtClean="0"/>
              <a:t>2</a:t>
            </a:r>
            <a:r>
              <a:rPr sz="5400" spc="55" dirty="0" smtClean="0"/>
              <a:t>)</a:t>
            </a:r>
            <a:r>
              <a:rPr sz="2400" spc="-5" dirty="0" smtClean="0">
                <a:solidFill>
                  <a:srgbClr val="FFC000"/>
                </a:solidFill>
              </a:rPr>
              <a:t>T</a:t>
            </a:r>
            <a:r>
              <a:rPr sz="2400" spc="5" dirty="0" smtClean="0">
                <a:solidFill>
                  <a:srgbClr val="FFC000"/>
                </a:solidFill>
              </a:rPr>
              <a:t>h</a:t>
            </a:r>
            <a:r>
              <a:rPr sz="2400" dirty="0" smtClean="0">
                <a:solidFill>
                  <a:srgbClr val="FFC000"/>
                </a:solidFill>
              </a:rPr>
              <a:t>e</a:t>
            </a:r>
            <a:r>
              <a:rPr sz="2400" spc="-15" dirty="0" smtClean="0">
                <a:solidFill>
                  <a:srgbClr val="FFC000"/>
                </a:solidFill>
              </a:rPr>
              <a:t>r</a:t>
            </a:r>
            <a:r>
              <a:rPr sz="2400" dirty="0" smtClean="0">
                <a:solidFill>
                  <a:srgbClr val="FFC000"/>
                </a:solidFill>
              </a:rPr>
              <a:t>mod</a:t>
            </a:r>
            <a:r>
              <a:rPr sz="2400" spc="5" dirty="0" smtClean="0">
                <a:solidFill>
                  <a:srgbClr val="FFC000"/>
                </a:solidFill>
              </a:rPr>
              <a:t>y</a:t>
            </a:r>
            <a:r>
              <a:rPr sz="2400" spc="-5" dirty="0" smtClean="0">
                <a:solidFill>
                  <a:srgbClr val="FFC000"/>
                </a:solidFill>
              </a:rPr>
              <a:t>namic</a:t>
            </a:r>
            <a:endParaRPr sz="24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2592" y="0"/>
            <a:ext cx="1359407" cy="11612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28600" y="5334000"/>
            <a:ext cx="7010400" cy="1143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1000" y="5539810"/>
            <a:ext cx="6400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chemeClr val="tx1"/>
                </a:solidFill>
              </a:rPr>
              <a:t>Farjana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Yeasmin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Lecturer in Physics, Basic Science Division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World University of Bangladesh, Dhaka-1205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954" y="589915"/>
            <a:ext cx="2006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Segoe UI Light"/>
                <a:cs typeface="Segoe UI Light"/>
              </a:rPr>
              <a:t>O</a:t>
            </a:r>
            <a:r>
              <a:rPr sz="3600" spc="15" dirty="0">
                <a:solidFill>
                  <a:srgbClr val="FFFFFF"/>
                </a:solidFill>
                <a:latin typeface="Segoe UI Light"/>
                <a:cs typeface="Segoe UI Light"/>
              </a:rPr>
              <a:t>b</a:t>
            </a:r>
            <a:r>
              <a:rPr sz="3600" spc="-5" dirty="0">
                <a:solidFill>
                  <a:srgbClr val="FFFFFF"/>
                </a:solidFill>
                <a:latin typeface="Segoe UI Light"/>
                <a:cs typeface="Segoe UI Light"/>
              </a:rPr>
              <a:t>j</a:t>
            </a:r>
            <a:r>
              <a:rPr sz="3600" spc="5" dirty="0">
                <a:solidFill>
                  <a:srgbClr val="FFFFFF"/>
                </a:solidFill>
                <a:latin typeface="Segoe UI Light"/>
                <a:cs typeface="Segoe UI Light"/>
              </a:rPr>
              <a:t>e</a:t>
            </a:r>
            <a:r>
              <a:rPr sz="3600" dirty="0">
                <a:solidFill>
                  <a:srgbClr val="FFFFFF"/>
                </a:solidFill>
                <a:latin typeface="Segoe UI Light"/>
                <a:cs typeface="Segoe UI Light"/>
              </a:rPr>
              <a:t>ct</a:t>
            </a:r>
            <a:r>
              <a:rPr sz="3600" spc="10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3600" spc="-5" dirty="0">
                <a:solidFill>
                  <a:srgbClr val="FFFFFF"/>
                </a:solidFill>
                <a:latin typeface="Segoe UI Light"/>
                <a:cs typeface="Segoe UI Light"/>
              </a:rPr>
              <a:t>ves</a:t>
            </a:r>
            <a:endParaRPr sz="3600">
              <a:latin typeface="Segoe UI Light"/>
              <a:cs typeface="Segoe U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0"/>
            <a:ext cx="1600200" cy="13670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44572" y="2842971"/>
            <a:ext cx="55664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Segoe UI"/>
                <a:cs typeface="Segoe UI"/>
              </a:rPr>
              <a:t>Thermodynamics</a:t>
            </a:r>
            <a:endParaRPr sz="54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5717" y="4579746"/>
            <a:ext cx="2007687" cy="22782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12192000" y="0"/>
                </a:moveTo>
                <a:lnTo>
                  <a:pt x="0" y="0"/>
                </a:lnTo>
                <a:lnTo>
                  <a:pt x="0" y="1333500"/>
                </a:lnTo>
                <a:lnTo>
                  <a:pt x="12192000" y="13335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76015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Why</a:t>
            </a:r>
            <a:r>
              <a:rPr spc="-30" dirty="0"/>
              <a:t> </a:t>
            </a:r>
            <a:r>
              <a:rPr dirty="0"/>
              <a:t>should</a:t>
            </a:r>
            <a:r>
              <a:rPr spc="-35" dirty="0"/>
              <a:t> </a:t>
            </a:r>
            <a:r>
              <a:rPr dirty="0"/>
              <a:t>we study</a:t>
            </a:r>
            <a:r>
              <a:rPr spc="-40" dirty="0"/>
              <a:t> </a:t>
            </a:r>
            <a:r>
              <a:rPr spc="-5" dirty="0"/>
              <a:t>thermodynamics?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1450847"/>
            <a:ext cx="11871325" cy="5234305"/>
            <a:chOff x="0" y="1450847"/>
            <a:chExt cx="11871325" cy="52343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450847"/>
              <a:ext cx="5644134" cy="267846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2955" y="1488947"/>
              <a:ext cx="6508242" cy="261899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04644" y="3477768"/>
              <a:ext cx="5926074" cy="32072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3305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Thermodynamics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1756663"/>
            <a:ext cx="1784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116" y="1774951"/>
            <a:ext cx="2875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thermodynamics?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0580" y="2270760"/>
            <a:ext cx="9677400" cy="4144010"/>
            <a:chOff x="830580" y="2270760"/>
            <a:chExt cx="9677400" cy="41440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0580" y="2270760"/>
              <a:ext cx="1377695" cy="13776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0027" y="4055364"/>
              <a:ext cx="4187952" cy="23591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57044" y="2958084"/>
              <a:ext cx="5389245" cy="2654935"/>
            </a:xfrm>
            <a:custGeom>
              <a:avLst/>
              <a:gdLst/>
              <a:ahLst/>
              <a:cxnLst/>
              <a:rect l="l" t="t" r="r" b="b"/>
              <a:pathLst>
                <a:path w="5389245" h="2654935">
                  <a:moveTo>
                    <a:pt x="2694432" y="0"/>
                  </a:moveTo>
                  <a:lnTo>
                    <a:pt x="2630833" y="362"/>
                  </a:lnTo>
                  <a:lnTo>
                    <a:pt x="2567595" y="1444"/>
                  </a:lnTo>
                  <a:lnTo>
                    <a:pt x="2504735" y="3239"/>
                  </a:lnTo>
                  <a:lnTo>
                    <a:pt x="2442268" y="5737"/>
                  </a:lnTo>
                  <a:lnTo>
                    <a:pt x="2380210" y="8931"/>
                  </a:lnTo>
                  <a:lnTo>
                    <a:pt x="2318579" y="12813"/>
                  </a:lnTo>
                  <a:lnTo>
                    <a:pt x="2257389" y="17375"/>
                  </a:lnTo>
                  <a:lnTo>
                    <a:pt x="2196658" y="22609"/>
                  </a:lnTo>
                  <a:lnTo>
                    <a:pt x="2136401" y="28506"/>
                  </a:lnTo>
                  <a:lnTo>
                    <a:pt x="2076634" y="35060"/>
                  </a:lnTo>
                  <a:lnTo>
                    <a:pt x="2017374" y="42262"/>
                  </a:lnTo>
                  <a:lnTo>
                    <a:pt x="1958637" y="50105"/>
                  </a:lnTo>
                  <a:lnTo>
                    <a:pt x="1900439" y="58579"/>
                  </a:lnTo>
                  <a:lnTo>
                    <a:pt x="1842796" y="67677"/>
                  </a:lnTo>
                  <a:lnTo>
                    <a:pt x="1785724" y="77392"/>
                  </a:lnTo>
                  <a:lnTo>
                    <a:pt x="1729240" y="87715"/>
                  </a:lnTo>
                  <a:lnTo>
                    <a:pt x="1673360" y="98638"/>
                  </a:lnTo>
                  <a:lnTo>
                    <a:pt x="1618100" y="110153"/>
                  </a:lnTo>
                  <a:lnTo>
                    <a:pt x="1563476" y="122253"/>
                  </a:lnTo>
                  <a:lnTo>
                    <a:pt x="1509504" y="134929"/>
                  </a:lnTo>
                  <a:lnTo>
                    <a:pt x="1456200" y="148173"/>
                  </a:lnTo>
                  <a:lnTo>
                    <a:pt x="1403581" y="161978"/>
                  </a:lnTo>
                  <a:lnTo>
                    <a:pt x="1351663" y="176335"/>
                  </a:lnTo>
                  <a:lnTo>
                    <a:pt x="1300462" y="191237"/>
                  </a:lnTo>
                  <a:lnTo>
                    <a:pt x="1249994" y="206675"/>
                  </a:lnTo>
                  <a:lnTo>
                    <a:pt x="1200275" y="222642"/>
                  </a:lnTo>
                  <a:lnTo>
                    <a:pt x="1151322" y="239129"/>
                  </a:lnTo>
                  <a:lnTo>
                    <a:pt x="1103150" y="256129"/>
                  </a:lnTo>
                  <a:lnTo>
                    <a:pt x="1055776" y="273633"/>
                  </a:lnTo>
                  <a:lnTo>
                    <a:pt x="1009216" y="291634"/>
                  </a:lnTo>
                  <a:lnTo>
                    <a:pt x="963487" y="310124"/>
                  </a:lnTo>
                  <a:lnTo>
                    <a:pt x="918603" y="329094"/>
                  </a:lnTo>
                  <a:lnTo>
                    <a:pt x="874583" y="348538"/>
                  </a:lnTo>
                  <a:lnTo>
                    <a:pt x="831441" y="368445"/>
                  </a:lnTo>
                  <a:lnTo>
                    <a:pt x="789193" y="388810"/>
                  </a:lnTo>
                  <a:lnTo>
                    <a:pt x="747857" y="409623"/>
                  </a:lnTo>
                  <a:lnTo>
                    <a:pt x="707448" y="430878"/>
                  </a:lnTo>
                  <a:lnTo>
                    <a:pt x="667983" y="452565"/>
                  </a:lnTo>
                  <a:lnTo>
                    <a:pt x="629477" y="474677"/>
                  </a:lnTo>
                  <a:lnTo>
                    <a:pt x="591947" y="497206"/>
                  </a:lnTo>
                  <a:lnTo>
                    <a:pt x="555409" y="520143"/>
                  </a:lnTo>
                  <a:lnTo>
                    <a:pt x="519879" y="543482"/>
                  </a:lnTo>
                  <a:lnTo>
                    <a:pt x="485373" y="567214"/>
                  </a:lnTo>
                  <a:lnTo>
                    <a:pt x="451907" y="591331"/>
                  </a:lnTo>
                  <a:lnTo>
                    <a:pt x="419499" y="615825"/>
                  </a:lnTo>
                  <a:lnTo>
                    <a:pt x="388163" y="640688"/>
                  </a:lnTo>
                  <a:lnTo>
                    <a:pt x="357916" y="665912"/>
                  </a:lnTo>
                  <a:lnTo>
                    <a:pt x="328774" y="691489"/>
                  </a:lnTo>
                  <a:lnTo>
                    <a:pt x="300754" y="717412"/>
                  </a:lnTo>
                  <a:lnTo>
                    <a:pt x="248142" y="770260"/>
                  </a:lnTo>
                  <a:lnTo>
                    <a:pt x="200209" y="824394"/>
                  </a:lnTo>
                  <a:lnTo>
                    <a:pt x="157085" y="879749"/>
                  </a:lnTo>
                  <a:lnTo>
                    <a:pt x="118899" y="936262"/>
                  </a:lnTo>
                  <a:lnTo>
                    <a:pt x="85781" y="993868"/>
                  </a:lnTo>
                  <a:lnTo>
                    <a:pt x="57860" y="1052504"/>
                  </a:lnTo>
                  <a:lnTo>
                    <a:pt x="35266" y="1112106"/>
                  </a:lnTo>
                  <a:lnTo>
                    <a:pt x="18127" y="1172611"/>
                  </a:lnTo>
                  <a:lnTo>
                    <a:pt x="6574" y="1233955"/>
                  </a:lnTo>
                  <a:lnTo>
                    <a:pt x="735" y="1296074"/>
                  </a:lnTo>
                  <a:lnTo>
                    <a:pt x="0" y="1327403"/>
                  </a:lnTo>
                  <a:lnTo>
                    <a:pt x="735" y="1358733"/>
                  </a:lnTo>
                  <a:lnTo>
                    <a:pt x="6574" y="1420852"/>
                  </a:lnTo>
                  <a:lnTo>
                    <a:pt x="18127" y="1482196"/>
                  </a:lnTo>
                  <a:lnTo>
                    <a:pt x="35266" y="1542701"/>
                  </a:lnTo>
                  <a:lnTo>
                    <a:pt x="57860" y="1602303"/>
                  </a:lnTo>
                  <a:lnTo>
                    <a:pt x="85781" y="1660939"/>
                  </a:lnTo>
                  <a:lnTo>
                    <a:pt x="118899" y="1718545"/>
                  </a:lnTo>
                  <a:lnTo>
                    <a:pt x="157085" y="1775058"/>
                  </a:lnTo>
                  <a:lnTo>
                    <a:pt x="200209" y="1830413"/>
                  </a:lnTo>
                  <a:lnTo>
                    <a:pt x="248142" y="1884547"/>
                  </a:lnTo>
                  <a:lnTo>
                    <a:pt x="300754" y="1937395"/>
                  </a:lnTo>
                  <a:lnTo>
                    <a:pt x="328774" y="1963318"/>
                  </a:lnTo>
                  <a:lnTo>
                    <a:pt x="357916" y="1988895"/>
                  </a:lnTo>
                  <a:lnTo>
                    <a:pt x="388163" y="2014119"/>
                  </a:lnTo>
                  <a:lnTo>
                    <a:pt x="419499" y="2038982"/>
                  </a:lnTo>
                  <a:lnTo>
                    <a:pt x="451907" y="2063476"/>
                  </a:lnTo>
                  <a:lnTo>
                    <a:pt x="485373" y="2087593"/>
                  </a:lnTo>
                  <a:lnTo>
                    <a:pt x="519879" y="2111325"/>
                  </a:lnTo>
                  <a:lnTo>
                    <a:pt x="555409" y="2134664"/>
                  </a:lnTo>
                  <a:lnTo>
                    <a:pt x="591947" y="2157601"/>
                  </a:lnTo>
                  <a:lnTo>
                    <a:pt x="629477" y="2180130"/>
                  </a:lnTo>
                  <a:lnTo>
                    <a:pt x="667983" y="2202242"/>
                  </a:lnTo>
                  <a:lnTo>
                    <a:pt x="707448" y="2223929"/>
                  </a:lnTo>
                  <a:lnTo>
                    <a:pt x="747857" y="2245184"/>
                  </a:lnTo>
                  <a:lnTo>
                    <a:pt x="789193" y="2265997"/>
                  </a:lnTo>
                  <a:lnTo>
                    <a:pt x="831441" y="2286362"/>
                  </a:lnTo>
                  <a:lnTo>
                    <a:pt x="874583" y="2306269"/>
                  </a:lnTo>
                  <a:lnTo>
                    <a:pt x="918603" y="2325713"/>
                  </a:lnTo>
                  <a:lnTo>
                    <a:pt x="963487" y="2344683"/>
                  </a:lnTo>
                  <a:lnTo>
                    <a:pt x="1009216" y="2363173"/>
                  </a:lnTo>
                  <a:lnTo>
                    <a:pt x="1055776" y="2381174"/>
                  </a:lnTo>
                  <a:lnTo>
                    <a:pt x="1103150" y="2398678"/>
                  </a:lnTo>
                  <a:lnTo>
                    <a:pt x="1151322" y="2415678"/>
                  </a:lnTo>
                  <a:lnTo>
                    <a:pt x="1200275" y="2432165"/>
                  </a:lnTo>
                  <a:lnTo>
                    <a:pt x="1249994" y="2448132"/>
                  </a:lnTo>
                  <a:lnTo>
                    <a:pt x="1300462" y="2463570"/>
                  </a:lnTo>
                  <a:lnTo>
                    <a:pt x="1351663" y="2478472"/>
                  </a:lnTo>
                  <a:lnTo>
                    <a:pt x="1403581" y="2492829"/>
                  </a:lnTo>
                  <a:lnTo>
                    <a:pt x="1456200" y="2506634"/>
                  </a:lnTo>
                  <a:lnTo>
                    <a:pt x="1509504" y="2519878"/>
                  </a:lnTo>
                  <a:lnTo>
                    <a:pt x="1563476" y="2532554"/>
                  </a:lnTo>
                  <a:lnTo>
                    <a:pt x="1618100" y="2544654"/>
                  </a:lnTo>
                  <a:lnTo>
                    <a:pt x="1673360" y="2556169"/>
                  </a:lnTo>
                  <a:lnTo>
                    <a:pt x="1729240" y="2567092"/>
                  </a:lnTo>
                  <a:lnTo>
                    <a:pt x="1785724" y="2577415"/>
                  </a:lnTo>
                  <a:lnTo>
                    <a:pt x="1842796" y="2587130"/>
                  </a:lnTo>
                  <a:lnTo>
                    <a:pt x="1900439" y="2596228"/>
                  </a:lnTo>
                  <a:lnTo>
                    <a:pt x="1958637" y="2604702"/>
                  </a:lnTo>
                  <a:lnTo>
                    <a:pt x="2017374" y="2612545"/>
                  </a:lnTo>
                  <a:lnTo>
                    <a:pt x="2076634" y="2619747"/>
                  </a:lnTo>
                  <a:lnTo>
                    <a:pt x="2136401" y="2626301"/>
                  </a:lnTo>
                  <a:lnTo>
                    <a:pt x="2196658" y="2632198"/>
                  </a:lnTo>
                  <a:lnTo>
                    <a:pt x="2257389" y="2637432"/>
                  </a:lnTo>
                  <a:lnTo>
                    <a:pt x="2318579" y="2641994"/>
                  </a:lnTo>
                  <a:lnTo>
                    <a:pt x="2380210" y="2645876"/>
                  </a:lnTo>
                  <a:lnTo>
                    <a:pt x="2442268" y="2649070"/>
                  </a:lnTo>
                  <a:lnTo>
                    <a:pt x="2504735" y="2651568"/>
                  </a:lnTo>
                  <a:lnTo>
                    <a:pt x="2567595" y="2653363"/>
                  </a:lnTo>
                  <a:lnTo>
                    <a:pt x="2630833" y="2654445"/>
                  </a:lnTo>
                  <a:lnTo>
                    <a:pt x="2694432" y="2654807"/>
                  </a:lnTo>
                  <a:lnTo>
                    <a:pt x="5388863" y="2654807"/>
                  </a:lnTo>
                  <a:lnTo>
                    <a:pt x="5388863" y="2266060"/>
                  </a:lnTo>
                  <a:lnTo>
                    <a:pt x="4599685" y="2266060"/>
                  </a:lnTo>
                  <a:lnTo>
                    <a:pt x="4654919" y="2238041"/>
                  </a:lnTo>
                  <a:lnTo>
                    <a:pt x="4708310" y="2209314"/>
                  </a:lnTo>
                  <a:lnTo>
                    <a:pt x="4759841" y="2179901"/>
                  </a:lnTo>
                  <a:lnTo>
                    <a:pt x="4809492" y="2149826"/>
                  </a:lnTo>
                  <a:lnTo>
                    <a:pt x="4857243" y="2119111"/>
                  </a:lnTo>
                  <a:lnTo>
                    <a:pt x="4903077" y="2087779"/>
                  </a:lnTo>
                  <a:lnTo>
                    <a:pt x="4946973" y="2055852"/>
                  </a:lnTo>
                  <a:lnTo>
                    <a:pt x="4988914" y="2023354"/>
                  </a:lnTo>
                  <a:lnTo>
                    <a:pt x="5028880" y="1990306"/>
                  </a:lnTo>
                  <a:lnTo>
                    <a:pt x="5066851" y="1956732"/>
                  </a:lnTo>
                  <a:lnTo>
                    <a:pt x="5102810" y="1922654"/>
                  </a:lnTo>
                  <a:lnTo>
                    <a:pt x="5136736" y="1888095"/>
                  </a:lnTo>
                  <a:lnTo>
                    <a:pt x="5168612" y="1853077"/>
                  </a:lnTo>
                  <a:lnTo>
                    <a:pt x="5198417" y="1817624"/>
                  </a:lnTo>
                  <a:lnTo>
                    <a:pt x="5226133" y="1781758"/>
                  </a:lnTo>
                  <a:lnTo>
                    <a:pt x="5251742" y="1745501"/>
                  </a:lnTo>
                  <a:lnTo>
                    <a:pt x="5275223" y="1708877"/>
                  </a:lnTo>
                  <a:lnTo>
                    <a:pt x="5296558" y="1671907"/>
                  </a:lnTo>
                  <a:lnTo>
                    <a:pt x="5315728" y="1634616"/>
                  </a:lnTo>
                  <a:lnTo>
                    <a:pt x="5332714" y="1597025"/>
                  </a:lnTo>
                  <a:lnTo>
                    <a:pt x="5347497" y="1559157"/>
                  </a:lnTo>
                  <a:lnTo>
                    <a:pt x="5360057" y="1521034"/>
                  </a:lnTo>
                  <a:lnTo>
                    <a:pt x="5370377" y="1482681"/>
                  </a:lnTo>
                  <a:lnTo>
                    <a:pt x="5378436" y="1444118"/>
                  </a:lnTo>
                  <a:lnTo>
                    <a:pt x="5384216" y="1405369"/>
                  </a:lnTo>
                  <a:lnTo>
                    <a:pt x="5387699" y="1366457"/>
                  </a:lnTo>
                  <a:lnTo>
                    <a:pt x="5388863" y="1327403"/>
                  </a:lnTo>
                  <a:lnTo>
                    <a:pt x="5388128" y="1296074"/>
                  </a:lnTo>
                  <a:lnTo>
                    <a:pt x="5382289" y="1233955"/>
                  </a:lnTo>
                  <a:lnTo>
                    <a:pt x="5370736" y="1172611"/>
                  </a:lnTo>
                  <a:lnTo>
                    <a:pt x="5353597" y="1112106"/>
                  </a:lnTo>
                  <a:lnTo>
                    <a:pt x="5331003" y="1052504"/>
                  </a:lnTo>
                  <a:lnTo>
                    <a:pt x="5303082" y="993868"/>
                  </a:lnTo>
                  <a:lnTo>
                    <a:pt x="5269964" y="936262"/>
                  </a:lnTo>
                  <a:lnTo>
                    <a:pt x="5231778" y="879749"/>
                  </a:lnTo>
                  <a:lnTo>
                    <a:pt x="5188654" y="824394"/>
                  </a:lnTo>
                  <a:lnTo>
                    <a:pt x="5140721" y="770260"/>
                  </a:lnTo>
                  <a:lnTo>
                    <a:pt x="5088109" y="717412"/>
                  </a:lnTo>
                  <a:lnTo>
                    <a:pt x="5060089" y="691489"/>
                  </a:lnTo>
                  <a:lnTo>
                    <a:pt x="5030947" y="665912"/>
                  </a:lnTo>
                  <a:lnTo>
                    <a:pt x="5000700" y="640688"/>
                  </a:lnTo>
                  <a:lnTo>
                    <a:pt x="4969364" y="615825"/>
                  </a:lnTo>
                  <a:lnTo>
                    <a:pt x="4936956" y="591331"/>
                  </a:lnTo>
                  <a:lnTo>
                    <a:pt x="4903490" y="567214"/>
                  </a:lnTo>
                  <a:lnTo>
                    <a:pt x="4868984" y="543482"/>
                  </a:lnTo>
                  <a:lnTo>
                    <a:pt x="4833454" y="520143"/>
                  </a:lnTo>
                  <a:lnTo>
                    <a:pt x="4796916" y="497206"/>
                  </a:lnTo>
                  <a:lnTo>
                    <a:pt x="4759386" y="474677"/>
                  </a:lnTo>
                  <a:lnTo>
                    <a:pt x="4720880" y="452565"/>
                  </a:lnTo>
                  <a:lnTo>
                    <a:pt x="4681415" y="430878"/>
                  </a:lnTo>
                  <a:lnTo>
                    <a:pt x="4641006" y="409623"/>
                  </a:lnTo>
                  <a:lnTo>
                    <a:pt x="4599670" y="388810"/>
                  </a:lnTo>
                  <a:lnTo>
                    <a:pt x="4557422" y="368445"/>
                  </a:lnTo>
                  <a:lnTo>
                    <a:pt x="4514280" y="348538"/>
                  </a:lnTo>
                  <a:lnTo>
                    <a:pt x="4470260" y="329094"/>
                  </a:lnTo>
                  <a:lnTo>
                    <a:pt x="4425376" y="310124"/>
                  </a:lnTo>
                  <a:lnTo>
                    <a:pt x="4379647" y="291634"/>
                  </a:lnTo>
                  <a:lnTo>
                    <a:pt x="4333087" y="273633"/>
                  </a:lnTo>
                  <a:lnTo>
                    <a:pt x="4285713" y="256129"/>
                  </a:lnTo>
                  <a:lnTo>
                    <a:pt x="4237541" y="239129"/>
                  </a:lnTo>
                  <a:lnTo>
                    <a:pt x="4188588" y="222642"/>
                  </a:lnTo>
                  <a:lnTo>
                    <a:pt x="4138869" y="206675"/>
                  </a:lnTo>
                  <a:lnTo>
                    <a:pt x="4088401" y="191237"/>
                  </a:lnTo>
                  <a:lnTo>
                    <a:pt x="4037200" y="176335"/>
                  </a:lnTo>
                  <a:lnTo>
                    <a:pt x="3985282" y="161978"/>
                  </a:lnTo>
                  <a:lnTo>
                    <a:pt x="3932663" y="148173"/>
                  </a:lnTo>
                  <a:lnTo>
                    <a:pt x="3879359" y="134929"/>
                  </a:lnTo>
                  <a:lnTo>
                    <a:pt x="3825387" y="122253"/>
                  </a:lnTo>
                  <a:lnTo>
                    <a:pt x="3770763" y="110153"/>
                  </a:lnTo>
                  <a:lnTo>
                    <a:pt x="3715503" y="98638"/>
                  </a:lnTo>
                  <a:lnTo>
                    <a:pt x="3659623" y="87715"/>
                  </a:lnTo>
                  <a:lnTo>
                    <a:pt x="3603139" y="77392"/>
                  </a:lnTo>
                  <a:lnTo>
                    <a:pt x="3546067" y="67677"/>
                  </a:lnTo>
                  <a:lnTo>
                    <a:pt x="3488424" y="58579"/>
                  </a:lnTo>
                  <a:lnTo>
                    <a:pt x="3430226" y="50105"/>
                  </a:lnTo>
                  <a:lnTo>
                    <a:pt x="3371489" y="42262"/>
                  </a:lnTo>
                  <a:lnTo>
                    <a:pt x="3312229" y="35060"/>
                  </a:lnTo>
                  <a:lnTo>
                    <a:pt x="3252462" y="28506"/>
                  </a:lnTo>
                  <a:lnTo>
                    <a:pt x="3192205" y="22609"/>
                  </a:lnTo>
                  <a:lnTo>
                    <a:pt x="3131474" y="17375"/>
                  </a:lnTo>
                  <a:lnTo>
                    <a:pt x="3070284" y="12813"/>
                  </a:lnTo>
                  <a:lnTo>
                    <a:pt x="3008653" y="8931"/>
                  </a:lnTo>
                  <a:lnTo>
                    <a:pt x="2946595" y="5737"/>
                  </a:lnTo>
                  <a:lnTo>
                    <a:pt x="2884128" y="3239"/>
                  </a:lnTo>
                  <a:lnTo>
                    <a:pt x="2821268" y="1444"/>
                  </a:lnTo>
                  <a:lnTo>
                    <a:pt x="2758030" y="362"/>
                  </a:lnTo>
                  <a:lnTo>
                    <a:pt x="26944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57044" y="2958084"/>
              <a:ext cx="5389245" cy="2654935"/>
            </a:xfrm>
            <a:custGeom>
              <a:avLst/>
              <a:gdLst/>
              <a:ahLst/>
              <a:cxnLst/>
              <a:rect l="l" t="t" r="r" b="b"/>
              <a:pathLst>
                <a:path w="5389245" h="2654935">
                  <a:moveTo>
                    <a:pt x="2694432" y="2654807"/>
                  </a:moveTo>
                  <a:lnTo>
                    <a:pt x="2630833" y="2654445"/>
                  </a:lnTo>
                  <a:lnTo>
                    <a:pt x="2567595" y="2653363"/>
                  </a:lnTo>
                  <a:lnTo>
                    <a:pt x="2504735" y="2651568"/>
                  </a:lnTo>
                  <a:lnTo>
                    <a:pt x="2442268" y="2649070"/>
                  </a:lnTo>
                  <a:lnTo>
                    <a:pt x="2380210" y="2645876"/>
                  </a:lnTo>
                  <a:lnTo>
                    <a:pt x="2318579" y="2641994"/>
                  </a:lnTo>
                  <a:lnTo>
                    <a:pt x="2257389" y="2637432"/>
                  </a:lnTo>
                  <a:lnTo>
                    <a:pt x="2196658" y="2632198"/>
                  </a:lnTo>
                  <a:lnTo>
                    <a:pt x="2136401" y="2626301"/>
                  </a:lnTo>
                  <a:lnTo>
                    <a:pt x="2076634" y="2619747"/>
                  </a:lnTo>
                  <a:lnTo>
                    <a:pt x="2017374" y="2612545"/>
                  </a:lnTo>
                  <a:lnTo>
                    <a:pt x="1958637" y="2604702"/>
                  </a:lnTo>
                  <a:lnTo>
                    <a:pt x="1900439" y="2596228"/>
                  </a:lnTo>
                  <a:lnTo>
                    <a:pt x="1842796" y="2587130"/>
                  </a:lnTo>
                  <a:lnTo>
                    <a:pt x="1785724" y="2577415"/>
                  </a:lnTo>
                  <a:lnTo>
                    <a:pt x="1729240" y="2567092"/>
                  </a:lnTo>
                  <a:lnTo>
                    <a:pt x="1673360" y="2556169"/>
                  </a:lnTo>
                  <a:lnTo>
                    <a:pt x="1618100" y="2544654"/>
                  </a:lnTo>
                  <a:lnTo>
                    <a:pt x="1563476" y="2532554"/>
                  </a:lnTo>
                  <a:lnTo>
                    <a:pt x="1509504" y="2519878"/>
                  </a:lnTo>
                  <a:lnTo>
                    <a:pt x="1456200" y="2506634"/>
                  </a:lnTo>
                  <a:lnTo>
                    <a:pt x="1403581" y="2492829"/>
                  </a:lnTo>
                  <a:lnTo>
                    <a:pt x="1351663" y="2478472"/>
                  </a:lnTo>
                  <a:lnTo>
                    <a:pt x="1300462" y="2463570"/>
                  </a:lnTo>
                  <a:lnTo>
                    <a:pt x="1249994" y="2448132"/>
                  </a:lnTo>
                  <a:lnTo>
                    <a:pt x="1200275" y="2432165"/>
                  </a:lnTo>
                  <a:lnTo>
                    <a:pt x="1151322" y="2415678"/>
                  </a:lnTo>
                  <a:lnTo>
                    <a:pt x="1103150" y="2398678"/>
                  </a:lnTo>
                  <a:lnTo>
                    <a:pt x="1055776" y="2381174"/>
                  </a:lnTo>
                  <a:lnTo>
                    <a:pt x="1009216" y="2363173"/>
                  </a:lnTo>
                  <a:lnTo>
                    <a:pt x="963487" y="2344683"/>
                  </a:lnTo>
                  <a:lnTo>
                    <a:pt x="918603" y="2325713"/>
                  </a:lnTo>
                  <a:lnTo>
                    <a:pt x="874583" y="2306269"/>
                  </a:lnTo>
                  <a:lnTo>
                    <a:pt x="831441" y="2286362"/>
                  </a:lnTo>
                  <a:lnTo>
                    <a:pt x="789193" y="2265997"/>
                  </a:lnTo>
                  <a:lnTo>
                    <a:pt x="747857" y="2245184"/>
                  </a:lnTo>
                  <a:lnTo>
                    <a:pt x="707448" y="2223929"/>
                  </a:lnTo>
                  <a:lnTo>
                    <a:pt x="667983" y="2202242"/>
                  </a:lnTo>
                  <a:lnTo>
                    <a:pt x="629477" y="2180130"/>
                  </a:lnTo>
                  <a:lnTo>
                    <a:pt x="591947" y="2157601"/>
                  </a:lnTo>
                  <a:lnTo>
                    <a:pt x="555409" y="2134664"/>
                  </a:lnTo>
                  <a:lnTo>
                    <a:pt x="519879" y="2111325"/>
                  </a:lnTo>
                  <a:lnTo>
                    <a:pt x="485373" y="2087593"/>
                  </a:lnTo>
                  <a:lnTo>
                    <a:pt x="451907" y="2063476"/>
                  </a:lnTo>
                  <a:lnTo>
                    <a:pt x="419499" y="2038982"/>
                  </a:lnTo>
                  <a:lnTo>
                    <a:pt x="388163" y="2014119"/>
                  </a:lnTo>
                  <a:lnTo>
                    <a:pt x="357916" y="1988895"/>
                  </a:lnTo>
                  <a:lnTo>
                    <a:pt x="328774" y="1963318"/>
                  </a:lnTo>
                  <a:lnTo>
                    <a:pt x="300754" y="1937395"/>
                  </a:lnTo>
                  <a:lnTo>
                    <a:pt x="248142" y="1884547"/>
                  </a:lnTo>
                  <a:lnTo>
                    <a:pt x="200209" y="1830413"/>
                  </a:lnTo>
                  <a:lnTo>
                    <a:pt x="157085" y="1775058"/>
                  </a:lnTo>
                  <a:lnTo>
                    <a:pt x="118899" y="1718545"/>
                  </a:lnTo>
                  <a:lnTo>
                    <a:pt x="85781" y="1660939"/>
                  </a:lnTo>
                  <a:lnTo>
                    <a:pt x="57860" y="1602303"/>
                  </a:lnTo>
                  <a:lnTo>
                    <a:pt x="35266" y="1542701"/>
                  </a:lnTo>
                  <a:lnTo>
                    <a:pt x="18127" y="1482196"/>
                  </a:lnTo>
                  <a:lnTo>
                    <a:pt x="6574" y="1420852"/>
                  </a:lnTo>
                  <a:lnTo>
                    <a:pt x="735" y="1358733"/>
                  </a:lnTo>
                  <a:lnTo>
                    <a:pt x="0" y="1327403"/>
                  </a:lnTo>
                  <a:lnTo>
                    <a:pt x="735" y="1296074"/>
                  </a:lnTo>
                  <a:lnTo>
                    <a:pt x="6574" y="1233955"/>
                  </a:lnTo>
                  <a:lnTo>
                    <a:pt x="18127" y="1172611"/>
                  </a:lnTo>
                  <a:lnTo>
                    <a:pt x="35266" y="1112106"/>
                  </a:lnTo>
                  <a:lnTo>
                    <a:pt x="57860" y="1052504"/>
                  </a:lnTo>
                  <a:lnTo>
                    <a:pt x="85781" y="993868"/>
                  </a:lnTo>
                  <a:lnTo>
                    <a:pt x="118899" y="936262"/>
                  </a:lnTo>
                  <a:lnTo>
                    <a:pt x="157085" y="879749"/>
                  </a:lnTo>
                  <a:lnTo>
                    <a:pt x="200209" y="824394"/>
                  </a:lnTo>
                  <a:lnTo>
                    <a:pt x="248142" y="770260"/>
                  </a:lnTo>
                  <a:lnTo>
                    <a:pt x="300754" y="717412"/>
                  </a:lnTo>
                  <a:lnTo>
                    <a:pt x="328774" y="691489"/>
                  </a:lnTo>
                  <a:lnTo>
                    <a:pt x="357916" y="665912"/>
                  </a:lnTo>
                  <a:lnTo>
                    <a:pt x="388163" y="640688"/>
                  </a:lnTo>
                  <a:lnTo>
                    <a:pt x="419499" y="615825"/>
                  </a:lnTo>
                  <a:lnTo>
                    <a:pt x="451907" y="591331"/>
                  </a:lnTo>
                  <a:lnTo>
                    <a:pt x="485373" y="567214"/>
                  </a:lnTo>
                  <a:lnTo>
                    <a:pt x="519879" y="543482"/>
                  </a:lnTo>
                  <a:lnTo>
                    <a:pt x="555409" y="520143"/>
                  </a:lnTo>
                  <a:lnTo>
                    <a:pt x="591947" y="497206"/>
                  </a:lnTo>
                  <a:lnTo>
                    <a:pt x="629477" y="474677"/>
                  </a:lnTo>
                  <a:lnTo>
                    <a:pt x="667983" y="452565"/>
                  </a:lnTo>
                  <a:lnTo>
                    <a:pt x="707448" y="430878"/>
                  </a:lnTo>
                  <a:lnTo>
                    <a:pt x="747857" y="409623"/>
                  </a:lnTo>
                  <a:lnTo>
                    <a:pt x="789193" y="388810"/>
                  </a:lnTo>
                  <a:lnTo>
                    <a:pt x="831441" y="368445"/>
                  </a:lnTo>
                  <a:lnTo>
                    <a:pt x="874583" y="348538"/>
                  </a:lnTo>
                  <a:lnTo>
                    <a:pt x="918603" y="329094"/>
                  </a:lnTo>
                  <a:lnTo>
                    <a:pt x="963487" y="310124"/>
                  </a:lnTo>
                  <a:lnTo>
                    <a:pt x="1009216" y="291634"/>
                  </a:lnTo>
                  <a:lnTo>
                    <a:pt x="1055776" y="273633"/>
                  </a:lnTo>
                  <a:lnTo>
                    <a:pt x="1103150" y="256129"/>
                  </a:lnTo>
                  <a:lnTo>
                    <a:pt x="1151322" y="239129"/>
                  </a:lnTo>
                  <a:lnTo>
                    <a:pt x="1200275" y="222642"/>
                  </a:lnTo>
                  <a:lnTo>
                    <a:pt x="1249994" y="206675"/>
                  </a:lnTo>
                  <a:lnTo>
                    <a:pt x="1300462" y="191237"/>
                  </a:lnTo>
                  <a:lnTo>
                    <a:pt x="1351663" y="176335"/>
                  </a:lnTo>
                  <a:lnTo>
                    <a:pt x="1403581" y="161978"/>
                  </a:lnTo>
                  <a:lnTo>
                    <a:pt x="1456200" y="148173"/>
                  </a:lnTo>
                  <a:lnTo>
                    <a:pt x="1509504" y="134929"/>
                  </a:lnTo>
                  <a:lnTo>
                    <a:pt x="1563476" y="122253"/>
                  </a:lnTo>
                  <a:lnTo>
                    <a:pt x="1618100" y="110153"/>
                  </a:lnTo>
                  <a:lnTo>
                    <a:pt x="1673360" y="98638"/>
                  </a:lnTo>
                  <a:lnTo>
                    <a:pt x="1729240" y="87715"/>
                  </a:lnTo>
                  <a:lnTo>
                    <a:pt x="1785724" y="77392"/>
                  </a:lnTo>
                  <a:lnTo>
                    <a:pt x="1842796" y="67677"/>
                  </a:lnTo>
                  <a:lnTo>
                    <a:pt x="1900439" y="58579"/>
                  </a:lnTo>
                  <a:lnTo>
                    <a:pt x="1958637" y="50105"/>
                  </a:lnTo>
                  <a:lnTo>
                    <a:pt x="2017374" y="42262"/>
                  </a:lnTo>
                  <a:lnTo>
                    <a:pt x="2076634" y="35060"/>
                  </a:lnTo>
                  <a:lnTo>
                    <a:pt x="2136401" y="28506"/>
                  </a:lnTo>
                  <a:lnTo>
                    <a:pt x="2196658" y="22609"/>
                  </a:lnTo>
                  <a:lnTo>
                    <a:pt x="2257389" y="17375"/>
                  </a:lnTo>
                  <a:lnTo>
                    <a:pt x="2318579" y="12813"/>
                  </a:lnTo>
                  <a:lnTo>
                    <a:pt x="2380210" y="8931"/>
                  </a:lnTo>
                  <a:lnTo>
                    <a:pt x="2442268" y="5737"/>
                  </a:lnTo>
                  <a:lnTo>
                    <a:pt x="2504735" y="3239"/>
                  </a:lnTo>
                  <a:lnTo>
                    <a:pt x="2567595" y="1444"/>
                  </a:lnTo>
                  <a:lnTo>
                    <a:pt x="2630833" y="362"/>
                  </a:lnTo>
                  <a:lnTo>
                    <a:pt x="2694432" y="0"/>
                  </a:lnTo>
                  <a:lnTo>
                    <a:pt x="2758030" y="362"/>
                  </a:lnTo>
                  <a:lnTo>
                    <a:pt x="2821268" y="1444"/>
                  </a:lnTo>
                  <a:lnTo>
                    <a:pt x="2884128" y="3239"/>
                  </a:lnTo>
                  <a:lnTo>
                    <a:pt x="2946595" y="5737"/>
                  </a:lnTo>
                  <a:lnTo>
                    <a:pt x="3008653" y="8931"/>
                  </a:lnTo>
                  <a:lnTo>
                    <a:pt x="3070284" y="12813"/>
                  </a:lnTo>
                  <a:lnTo>
                    <a:pt x="3131474" y="17375"/>
                  </a:lnTo>
                  <a:lnTo>
                    <a:pt x="3192205" y="22609"/>
                  </a:lnTo>
                  <a:lnTo>
                    <a:pt x="3252462" y="28506"/>
                  </a:lnTo>
                  <a:lnTo>
                    <a:pt x="3312229" y="35060"/>
                  </a:lnTo>
                  <a:lnTo>
                    <a:pt x="3371489" y="42262"/>
                  </a:lnTo>
                  <a:lnTo>
                    <a:pt x="3430226" y="50105"/>
                  </a:lnTo>
                  <a:lnTo>
                    <a:pt x="3488424" y="58579"/>
                  </a:lnTo>
                  <a:lnTo>
                    <a:pt x="3546067" y="67677"/>
                  </a:lnTo>
                  <a:lnTo>
                    <a:pt x="3603139" y="77392"/>
                  </a:lnTo>
                  <a:lnTo>
                    <a:pt x="3659623" y="87715"/>
                  </a:lnTo>
                  <a:lnTo>
                    <a:pt x="3715503" y="98638"/>
                  </a:lnTo>
                  <a:lnTo>
                    <a:pt x="3770763" y="110153"/>
                  </a:lnTo>
                  <a:lnTo>
                    <a:pt x="3825387" y="122253"/>
                  </a:lnTo>
                  <a:lnTo>
                    <a:pt x="3879359" y="134929"/>
                  </a:lnTo>
                  <a:lnTo>
                    <a:pt x="3932663" y="148173"/>
                  </a:lnTo>
                  <a:lnTo>
                    <a:pt x="3985282" y="161978"/>
                  </a:lnTo>
                  <a:lnTo>
                    <a:pt x="4037200" y="176335"/>
                  </a:lnTo>
                  <a:lnTo>
                    <a:pt x="4088401" y="191237"/>
                  </a:lnTo>
                  <a:lnTo>
                    <a:pt x="4138869" y="206675"/>
                  </a:lnTo>
                  <a:lnTo>
                    <a:pt x="4188588" y="222642"/>
                  </a:lnTo>
                  <a:lnTo>
                    <a:pt x="4237541" y="239129"/>
                  </a:lnTo>
                  <a:lnTo>
                    <a:pt x="4285713" y="256129"/>
                  </a:lnTo>
                  <a:lnTo>
                    <a:pt x="4333087" y="273633"/>
                  </a:lnTo>
                  <a:lnTo>
                    <a:pt x="4379647" y="291634"/>
                  </a:lnTo>
                  <a:lnTo>
                    <a:pt x="4425376" y="310124"/>
                  </a:lnTo>
                  <a:lnTo>
                    <a:pt x="4470260" y="329094"/>
                  </a:lnTo>
                  <a:lnTo>
                    <a:pt x="4514280" y="348538"/>
                  </a:lnTo>
                  <a:lnTo>
                    <a:pt x="4557422" y="368445"/>
                  </a:lnTo>
                  <a:lnTo>
                    <a:pt x="4599670" y="388810"/>
                  </a:lnTo>
                  <a:lnTo>
                    <a:pt x="4641006" y="409623"/>
                  </a:lnTo>
                  <a:lnTo>
                    <a:pt x="4681415" y="430878"/>
                  </a:lnTo>
                  <a:lnTo>
                    <a:pt x="4720880" y="452565"/>
                  </a:lnTo>
                  <a:lnTo>
                    <a:pt x="4759386" y="474677"/>
                  </a:lnTo>
                  <a:lnTo>
                    <a:pt x="4796916" y="497206"/>
                  </a:lnTo>
                  <a:lnTo>
                    <a:pt x="4833454" y="520143"/>
                  </a:lnTo>
                  <a:lnTo>
                    <a:pt x="4868984" y="543482"/>
                  </a:lnTo>
                  <a:lnTo>
                    <a:pt x="4903490" y="567214"/>
                  </a:lnTo>
                  <a:lnTo>
                    <a:pt x="4936956" y="591331"/>
                  </a:lnTo>
                  <a:lnTo>
                    <a:pt x="4969364" y="615825"/>
                  </a:lnTo>
                  <a:lnTo>
                    <a:pt x="5000700" y="640688"/>
                  </a:lnTo>
                  <a:lnTo>
                    <a:pt x="5030947" y="665912"/>
                  </a:lnTo>
                  <a:lnTo>
                    <a:pt x="5060089" y="691489"/>
                  </a:lnTo>
                  <a:lnTo>
                    <a:pt x="5088109" y="717412"/>
                  </a:lnTo>
                  <a:lnTo>
                    <a:pt x="5140721" y="770260"/>
                  </a:lnTo>
                  <a:lnTo>
                    <a:pt x="5188654" y="824394"/>
                  </a:lnTo>
                  <a:lnTo>
                    <a:pt x="5231778" y="879749"/>
                  </a:lnTo>
                  <a:lnTo>
                    <a:pt x="5269964" y="936262"/>
                  </a:lnTo>
                  <a:lnTo>
                    <a:pt x="5303082" y="993868"/>
                  </a:lnTo>
                  <a:lnTo>
                    <a:pt x="5331003" y="1052504"/>
                  </a:lnTo>
                  <a:lnTo>
                    <a:pt x="5353597" y="1112106"/>
                  </a:lnTo>
                  <a:lnTo>
                    <a:pt x="5370736" y="1172611"/>
                  </a:lnTo>
                  <a:lnTo>
                    <a:pt x="5382289" y="1233955"/>
                  </a:lnTo>
                  <a:lnTo>
                    <a:pt x="5388128" y="1296074"/>
                  </a:lnTo>
                  <a:lnTo>
                    <a:pt x="5388863" y="1327403"/>
                  </a:lnTo>
                  <a:lnTo>
                    <a:pt x="5387699" y="1366457"/>
                  </a:lnTo>
                  <a:lnTo>
                    <a:pt x="5384216" y="1405369"/>
                  </a:lnTo>
                  <a:lnTo>
                    <a:pt x="5378436" y="1444118"/>
                  </a:lnTo>
                  <a:lnTo>
                    <a:pt x="5370377" y="1482681"/>
                  </a:lnTo>
                  <a:lnTo>
                    <a:pt x="5360057" y="1521034"/>
                  </a:lnTo>
                  <a:lnTo>
                    <a:pt x="5347497" y="1559157"/>
                  </a:lnTo>
                  <a:lnTo>
                    <a:pt x="5332714" y="1597025"/>
                  </a:lnTo>
                  <a:lnTo>
                    <a:pt x="5315728" y="1634616"/>
                  </a:lnTo>
                  <a:lnTo>
                    <a:pt x="5296558" y="1671907"/>
                  </a:lnTo>
                  <a:lnTo>
                    <a:pt x="5275223" y="1708877"/>
                  </a:lnTo>
                  <a:lnTo>
                    <a:pt x="5251742" y="1745501"/>
                  </a:lnTo>
                  <a:lnTo>
                    <a:pt x="5226133" y="1781758"/>
                  </a:lnTo>
                  <a:lnTo>
                    <a:pt x="5198417" y="1817624"/>
                  </a:lnTo>
                  <a:lnTo>
                    <a:pt x="5168612" y="1853077"/>
                  </a:lnTo>
                  <a:lnTo>
                    <a:pt x="5136736" y="1888095"/>
                  </a:lnTo>
                  <a:lnTo>
                    <a:pt x="5102810" y="1922654"/>
                  </a:lnTo>
                  <a:lnTo>
                    <a:pt x="5066851" y="1956732"/>
                  </a:lnTo>
                  <a:lnTo>
                    <a:pt x="5028880" y="1990306"/>
                  </a:lnTo>
                  <a:lnTo>
                    <a:pt x="4988914" y="2023354"/>
                  </a:lnTo>
                  <a:lnTo>
                    <a:pt x="4946973" y="2055852"/>
                  </a:lnTo>
                  <a:lnTo>
                    <a:pt x="4903077" y="2087779"/>
                  </a:lnTo>
                  <a:lnTo>
                    <a:pt x="4857243" y="2119111"/>
                  </a:lnTo>
                  <a:lnTo>
                    <a:pt x="4809492" y="2149826"/>
                  </a:lnTo>
                  <a:lnTo>
                    <a:pt x="4759841" y="2179901"/>
                  </a:lnTo>
                  <a:lnTo>
                    <a:pt x="4708310" y="2209314"/>
                  </a:lnTo>
                  <a:lnTo>
                    <a:pt x="4654919" y="2238041"/>
                  </a:lnTo>
                  <a:lnTo>
                    <a:pt x="4599685" y="2266060"/>
                  </a:lnTo>
                  <a:lnTo>
                    <a:pt x="5388863" y="2266060"/>
                  </a:lnTo>
                  <a:lnTo>
                    <a:pt x="5388863" y="2654807"/>
                  </a:lnTo>
                  <a:lnTo>
                    <a:pt x="2694432" y="265480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396741" y="1842261"/>
            <a:ext cx="1435100" cy="378460"/>
            <a:chOff x="3396741" y="1842261"/>
            <a:chExt cx="1435100" cy="378460"/>
          </a:xfrm>
        </p:grpSpPr>
        <p:sp>
          <p:nvSpPr>
            <p:cNvPr id="12" name="object 12"/>
            <p:cNvSpPr/>
            <p:nvPr/>
          </p:nvSpPr>
          <p:spPr>
            <a:xfrm>
              <a:off x="3403091" y="1848611"/>
              <a:ext cx="1422400" cy="365760"/>
            </a:xfrm>
            <a:custGeom>
              <a:avLst/>
              <a:gdLst/>
              <a:ahLst/>
              <a:cxnLst/>
              <a:rect l="l" t="t" r="r" b="b"/>
              <a:pathLst>
                <a:path w="1422400" h="365760">
                  <a:moveTo>
                    <a:pt x="1239012" y="0"/>
                  </a:moveTo>
                  <a:lnTo>
                    <a:pt x="1239012" y="91439"/>
                  </a:lnTo>
                  <a:lnTo>
                    <a:pt x="0" y="91439"/>
                  </a:lnTo>
                  <a:lnTo>
                    <a:pt x="0" y="274320"/>
                  </a:lnTo>
                  <a:lnTo>
                    <a:pt x="1239012" y="274320"/>
                  </a:lnTo>
                  <a:lnTo>
                    <a:pt x="1239012" y="365760"/>
                  </a:lnTo>
                  <a:lnTo>
                    <a:pt x="1421892" y="182879"/>
                  </a:lnTo>
                  <a:lnTo>
                    <a:pt x="12390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03091" y="1848611"/>
              <a:ext cx="1422400" cy="365760"/>
            </a:xfrm>
            <a:custGeom>
              <a:avLst/>
              <a:gdLst/>
              <a:ahLst/>
              <a:cxnLst/>
              <a:rect l="l" t="t" r="r" b="b"/>
              <a:pathLst>
                <a:path w="1422400" h="365760">
                  <a:moveTo>
                    <a:pt x="0" y="91439"/>
                  </a:moveTo>
                  <a:lnTo>
                    <a:pt x="1239012" y="91439"/>
                  </a:lnTo>
                  <a:lnTo>
                    <a:pt x="1239012" y="0"/>
                  </a:lnTo>
                  <a:lnTo>
                    <a:pt x="1421892" y="182879"/>
                  </a:lnTo>
                  <a:lnTo>
                    <a:pt x="1239012" y="365760"/>
                  </a:lnTo>
                  <a:lnTo>
                    <a:pt x="1239012" y="274320"/>
                  </a:lnTo>
                  <a:lnTo>
                    <a:pt x="0" y="27432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512557" y="2152014"/>
            <a:ext cx="372745" cy="368300"/>
          </a:xfrm>
          <a:custGeom>
            <a:avLst/>
            <a:gdLst/>
            <a:ahLst/>
            <a:cxnLst/>
            <a:rect l="l" t="t" r="r" b="b"/>
            <a:pathLst>
              <a:path w="372745" h="368300">
                <a:moveTo>
                  <a:pt x="27432" y="287147"/>
                </a:moveTo>
                <a:lnTo>
                  <a:pt x="0" y="367792"/>
                </a:lnTo>
                <a:lnTo>
                  <a:pt x="81025" y="341375"/>
                </a:lnTo>
                <a:lnTo>
                  <a:pt x="69729" y="329946"/>
                </a:lnTo>
                <a:lnTo>
                  <a:pt x="51943" y="329946"/>
                </a:lnTo>
                <a:lnTo>
                  <a:pt x="38481" y="316357"/>
                </a:lnTo>
                <a:lnTo>
                  <a:pt x="47501" y="307454"/>
                </a:lnTo>
                <a:lnTo>
                  <a:pt x="27432" y="287147"/>
                </a:lnTo>
                <a:close/>
              </a:path>
              <a:path w="372745" h="368300">
                <a:moveTo>
                  <a:pt x="47501" y="307454"/>
                </a:moveTo>
                <a:lnTo>
                  <a:pt x="38481" y="316357"/>
                </a:lnTo>
                <a:lnTo>
                  <a:pt x="51943" y="329946"/>
                </a:lnTo>
                <a:lnTo>
                  <a:pt x="60945" y="321057"/>
                </a:lnTo>
                <a:lnTo>
                  <a:pt x="47501" y="307454"/>
                </a:lnTo>
                <a:close/>
              </a:path>
              <a:path w="372745" h="368300">
                <a:moveTo>
                  <a:pt x="60945" y="321057"/>
                </a:moveTo>
                <a:lnTo>
                  <a:pt x="51943" y="329946"/>
                </a:lnTo>
                <a:lnTo>
                  <a:pt x="69729" y="329946"/>
                </a:lnTo>
                <a:lnTo>
                  <a:pt x="60945" y="321057"/>
                </a:lnTo>
                <a:close/>
              </a:path>
              <a:path w="372745" h="368300">
                <a:moveTo>
                  <a:pt x="359028" y="0"/>
                </a:moveTo>
                <a:lnTo>
                  <a:pt x="47501" y="307454"/>
                </a:lnTo>
                <a:lnTo>
                  <a:pt x="60945" y="321057"/>
                </a:lnTo>
                <a:lnTo>
                  <a:pt x="372491" y="13462"/>
                </a:lnTo>
                <a:lnTo>
                  <a:pt x="35902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31104" y="1838325"/>
            <a:ext cx="5159375" cy="1071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Thermodynamics=Thermo+Dynamics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Times New Roman"/>
              <a:cs typeface="Times New Roman"/>
            </a:endParaRPr>
          </a:p>
          <a:p>
            <a:pPr marL="2035810">
              <a:lnSpc>
                <a:spcPct val="100000"/>
              </a:lnSpc>
              <a:tabLst>
                <a:tab pos="4039870" algn="l"/>
              </a:tabLst>
            </a:pPr>
            <a:r>
              <a:rPr sz="28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H</a:t>
            </a:r>
            <a:r>
              <a:rPr sz="28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e</a:t>
            </a:r>
            <a:r>
              <a:rPr sz="28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at</a:t>
            </a:r>
            <a:r>
              <a:rPr sz="2800" b="1" dirty="0">
                <a:solidFill>
                  <a:srgbClr val="FFC000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Mo</a:t>
            </a:r>
            <a:r>
              <a:rPr sz="2800" b="1" dirty="0">
                <a:solidFill>
                  <a:srgbClr val="00AFEF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i</a:t>
            </a:r>
            <a:r>
              <a:rPr sz="2800" b="1" dirty="0">
                <a:solidFill>
                  <a:srgbClr val="00AFEF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96375" y="2151126"/>
            <a:ext cx="495934" cy="368935"/>
          </a:xfrm>
          <a:custGeom>
            <a:avLst/>
            <a:gdLst/>
            <a:ahLst/>
            <a:cxnLst/>
            <a:rect l="l" t="t" r="r" b="b"/>
            <a:pathLst>
              <a:path w="495934" h="368935">
                <a:moveTo>
                  <a:pt x="428640" y="331138"/>
                </a:moveTo>
                <a:lnTo>
                  <a:pt x="411733" y="354075"/>
                </a:lnTo>
                <a:lnTo>
                  <a:pt x="495680" y="368681"/>
                </a:lnTo>
                <a:lnTo>
                  <a:pt x="480394" y="338709"/>
                </a:lnTo>
                <a:lnTo>
                  <a:pt x="438911" y="338709"/>
                </a:lnTo>
                <a:lnTo>
                  <a:pt x="428640" y="331138"/>
                </a:lnTo>
                <a:close/>
              </a:path>
              <a:path w="495934" h="368935">
                <a:moveTo>
                  <a:pt x="439956" y="315784"/>
                </a:moveTo>
                <a:lnTo>
                  <a:pt x="428640" y="331138"/>
                </a:lnTo>
                <a:lnTo>
                  <a:pt x="438911" y="338709"/>
                </a:lnTo>
                <a:lnTo>
                  <a:pt x="450215" y="323341"/>
                </a:lnTo>
                <a:lnTo>
                  <a:pt x="439956" y="315784"/>
                </a:lnTo>
                <a:close/>
              </a:path>
              <a:path w="495934" h="368935">
                <a:moveTo>
                  <a:pt x="456946" y="292735"/>
                </a:moveTo>
                <a:lnTo>
                  <a:pt x="439956" y="315784"/>
                </a:lnTo>
                <a:lnTo>
                  <a:pt x="450215" y="323341"/>
                </a:lnTo>
                <a:lnTo>
                  <a:pt x="438911" y="338709"/>
                </a:lnTo>
                <a:lnTo>
                  <a:pt x="480394" y="338709"/>
                </a:lnTo>
                <a:lnTo>
                  <a:pt x="456946" y="292735"/>
                </a:lnTo>
                <a:close/>
              </a:path>
              <a:path w="495934" h="368935">
                <a:moveTo>
                  <a:pt x="11302" y="0"/>
                </a:moveTo>
                <a:lnTo>
                  <a:pt x="0" y="15239"/>
                </a:lnTo>
                <a:lnTo>
                  <a:pt x="428640" y="331138"/>
                </a:lnTo>
                <a:lnTo>
                  <a:pt x="439956" y="315784"/>
                </a:lnTo>
                <a:lnTo>
                  <a:pt x="1130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253866" y="3444697"/>
            <a:ext cx="339471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FC0"/>
                </a:solidFill>
                <a:latin typeface="Segoe UI"/>
                <a:cs typeface="Segoe UI"/>
              </a:rPr>
              <a:t>Hey</a:t>
            </a:r>
            <a:r>
              <a:rPr sz="1800" b="1" spc="-10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Segoe UI"/>
                <a:cs typeface="Segoe UI"/>
              </a:rPr>
              <a:t>there!!!</a:t>
            </a:r>
            <a:endParaRPr sz="1800">
              <a:latin typeface="Segoe UI"/>
              <a:cs typeface="Segoe UI"/>
            </a:endParaRPr>
          </a:p>
          <a:p>
            <a:pPr marL="12700" marR="5080" algn="ctr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00AF50"/>
                </a:solidFill>
                <a:latin typeface="Segoe UI"/>
                <a:cs typeface="Segoe UI"/>
              </a:rPr>
              <a:t>Just look at me.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I </a:t>
            </a:r>
            <a:r>
              <a:rPr sz="1800" b="1" spc="-5" dirty="0">
                <a:solidFill>
                  <a:srgbClr val="FF0000"/>
                </a:solidFill>
                <a:latin typeface="Segoe UI"/>
                <a:cs typeface="Segoe UI"/>
              </a:rPr>
              <a:t>am heat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and I </a:t>
            </a:r>
            <a:r>
              <a:rPr sz="1800" b="1" spc="-484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Segoe UI"/>
                <a:cs typeface="Segoe UI"/>
              </a:rPr>
              <a:t>am</a:t>
            </a:r>
            <a:r>
              <a:rPr sz="1800" b="1" spc="-1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moving.</a:t>
            </a:r>
            <a:endParaRPr sz="1800">
              <a:latin typeface="Segoe UI"/>
              <a:cs typeface="Segoe UI"/>
            </a:endParaRPr>
          </a:p>
          <a:p>
            <a:pPr marL="287020">
              <a:lnSpc>
                <a:spcPct val="100000"/>
              </a:lnSpc>
              <a:spcBef>
                <a:spcPts val="2160"/>
              </a:spcBef>
            </a:pPr>
            <a:r>
              <a:rPr sz="1800" b="1" spc="-25" dirty="0">
                <a:solidFill>
                  <a:srgbClr val="44536A"/>
                </a:solidFill>
                <a:latin typeface="Segoe UI"/>
                <a:cs typeface="Segoe UI"/>
              </a:rPr>
              <a:t>That’s</a:t>
            </a:r>
            <a:r>
              <a:rPr sz="1800" b="1" spc="-15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44536A"/>
                </a:solidFill>
                <a:latin typeface="Segoe UI"/>
                <a:cs typeface="Segoe UI"/>
              </a:rPr>
              <a:t>it.</a:t>
            </a:r>
            <a:r>
              <a:rPr sz="1800" b="1" spc="-20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44536A"/>
                </a:solidFill>
                <a:latin typeface="Segoe UI"/>
                <a:cs typeface="Segoe UI"/>
              </a:rPr>
              <a:t>This</a:t>
            </a:r>
            <a:r>
              <a:rPr sz="1800" b="1" spc="-15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44536A"/>
                </a:solidFill>
                <a:latin typeface="Segoe UI"/>
                <a:cs typeface="Segoe UI"/>
              </a:rPr>
              <a:t>is</a:t>
            </a:r>
            <a:r>
              <a:rPr sz="1800" b="1" spc="-20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44536A"/>
                </a:solidFill>
                <a:latin typeface="Segoe UI"/>
                <a:cs typeface="Segoe UI"/>
              </a:rPr>
              <a:t>the</a:t>
            </a:r>
            <a:r>
              <a:rPr sz="1800" b="1" spc="5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44536A"/>
                </a:solidFill>
                <a:latin typeface="Segoe UI"/>
                <a:cs typeface="Segoe UI"/>
              </a:rPr>
              <a:t>simple</a:t>
            </a:r>
            <a:endParaRPr sz="1800">
              <a:latin typeface="Segoe UI"/>
              <a:cs typeface="Segoe UI"/>
            </a:endParaRPr>
          </a:p>
          <a:p>
            <a:pPr marL="152400">
              <a:lnSpc>
                <a:spcPct val="100000"/>
              </a:lnSpc>
            </a:pPr>
            <a:r>
              <a:rPr sz="1800" b="1" dirty="0">
                <a:solidFill>
                  <a:srgbClr val="44536A"/>
                </a:solidFill>
                <a:latin typeface="Segoe UI"/>
                <a:cs typeface="Segoe UI"/>
              </a:rPr>
              <a:t>meaning</a:t>
            </a:r>
            <a:r>
              <a:rPr sz="1800" b="1" spc="-45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15" dirty="0">
                <a:solidFill>
                  <a:srgbClr val="44536A"/>
                </a:solidFill>
                <a:latin typeface="Segoe UI"/>
                <a:cs typeface="Segoe UI"/>
              </a:rPr>
              <a:t>of</a:t>
            </a:r>
            <a:r>
              <a:rPr sz="1800" b="1" spc="-25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44536A"/>
                </a:solidFill>
                <a:latin typeface="Segoe UI"/>
                <a:cs typeface="Segoe UI"/>
              </a:rPr>
              <a:t>thermodynamics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3841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Thermal</a:t>
            </a:r>
            <a:r>
              <a:rPr spc="-95" dirty="0"/>
              <a:t> </a:t>
            </a:r>
            <a:r>
              <a:rPr spc="-5" dirty="0"/>
              <a:t>equilibrium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9747" y="1791380"/>
            <a:ext cx="3728085" cy="4685665"/>
            <a:chOff x="269747" y="1791380"/>
            <a:chExt cx="3728085" cy="46856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124" y="1791380"/>
              <a:ext cx="3097026" cy="25415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0475" y="4145280"/>
              <a:ext cx="2550160" cy="205740"/>
            </a:xfrm>
            <a:custGeom>
              <a:avLst/>
              <a:gdLst/>
              <a:ahLst/>
              <a:cxnLst/>
              <a:rect l="l" t="t" r="r" b="b"/>
              <a:pathLst>
                <a:path w="2550160" h="205739">
                  <a:moveTo>
                    <a:pt x="2515362" y="0"/>
                  </a:moveTo>
                  <a:lnTo>
                    <a:pt x="34289" y="0"/>
                  </a:lnTo>
                  <a:lnTo>
                    <a:pt x="20943" y="2696"/>
                  </a:lnTo>
                  <a:lnTo>
                    <a:pt x="10044" y="10048"/>
                  </a:lnTo>
                  <a:lnTo>
                    <a:pt x="2694" y="20949"/>
                  </a:lnTo>
                  <a:lnTo>
                    <a:pt x="0" y="34290"/>
                  </a:lnTo>
                  <a:lnTo>
                    <a:pt x="0" y="171450"/>
                  </a:lnTo>
                  <a:lnTo>
                    <a:pt x="2694" y="184790"/>
                  </a:lnTo>
                  <a:lnTo>
                    <a:pt x="10044" y="195691"/>
                  </a:lnTo>
                  <a:lnTo>
                    <a:pt x="20943" y="203043"/>
                  </a:lnTo>
                  <a:lnTo>
                    <a:pt x="34289" y="205740"/>
                  </a:lnTo>
                  <a:lnTo>
                    <a:pt x="2515362" y="205740"/>
                  </a:lnTo>
                  <a:lnTo>
                    <a:pt x="2528702" y="203043"/>
                  </a:lnTo>
                  <a:lnTo>
                    <a:pt x="2539603" y="195691"/>
                  </a:lnTo>
                  <a:lnTo>
                    <a:pt x="2546955" y="184790"/>
                  </a:lnTo>
                  <a:lnTo>
                    <a:pt x="2549652" y="171450"/>
                  </a:lnTo>
                  <a:lnTo>
                    <a:pt x="2549652" y="34290"/>
                  </a:lnTo>
                  <a:lnTo>
                    <a:pt x="2546955" y="20949"/>
                  </a:lnTo>
                  <a:lnTo>
                    <a:pt x="2539603" y="10048"/>
                  </a:lnTo>
                  <a:lnTo>
                    <a:pt x="2528702" y="2696"/>
                  </a:lnTo>
                  <a:lnTo>
                    <a:pt x="2515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0475" y="4145280"/>
              <a:ext cx="2550160" cy="205740"/>
            </a:xfrm>
            <a:custGeom>
              <a:avLst/>
              <a:gdLst/>
              <a:ahLst/>
              <a:cxnLst/>
              <a:rect l="l" t="t" r="r" b="b"/>
              <a:pathLst>
                <a:path w="2550160" h="205739">
                  <a:moveTo>
                    <a:pt x="0" y="34290"/>
                  </a:moveTo>
                  <a:lnTo>
                    <a:pt x="2694" y="20949"/>
                  </a:lnTo>
                  <a:lnTo>
                    <a:pt x="10044" y="10048"/>
                  </a:lnTo>
                  <a:lnTo>
                    <a:pt x="20943" y="2696"/>
                  </a:lnTo>
                  <a:lnTo>
                    <a:pt x="34289" y="0"/>
                  </a:lnTo>
                  <a:lnTo>
                    <a:pt x="2515362" y="0"/>
                  </a:lnTo>
                  <a:lnTo>
                    <a:pt x="2528702" y="2696"/>
                  </a:lnTo>
                  <a:lnTo>
                    <a:pt x="2539603" y="10048"/>
                  </a:lnTo>
                  <a:lnTo>
                    <a:pt x="2546955" y="20949"/>
                  </a:lnTo>
                  <a:lnTo>
                    <a:pt x="2549652" y="34290"/>
                  </a:lnTo>
                  <a:lnTo>
                    <a:pt x="2549652" y="171450"/>
                  </a:lnTo>
                  <a:lnTo>
                    <a:pt x="2546955" y="184790"/>
                  </a:lnTo>
                  <a:lnTo>
                    <a:pt x="2539603" y="195691"/>
                  </a:lnTo>
                  <a:lnTo>
                    <a:pt x="2528702" y="203043"/>
                  </a:lnTo>
                  <a:lnTo>
                    <a:pt x="2515362" y="205740"/>
                  </a:lnTo>
                  <a:lnTo>
                    <a:pt x="34289" y="205740"/>
                  </a:lnTo>
                  <a:lnTo>
                    <a:pt x="20943" y="203043"/>
                  </a:lnTo>
                  <a:lnTo>
                    <a:pt x="10044" y="195691"/>
                  </a:lnTo>
                  <a:lnTo>
                    <a:pt x="2694" y="184790"/>
                  </a:lnTo>
                  <a:lnTo>
                    <a:pt x="0" y="171450"/>
                  </a:lnTo>
                  <a:lnTo>
                    <a:pt x="0" y="342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747" y="4379976"/>
              <a:ext cx="3727704" cy="20970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1103" y="4379976"/>
              <a:ext cx="3450590" cy="329565"/>
            </a:xfrm>
            <a:custGeom>
              <a:avLst/>
              <a:gdLst/>
              <a:ahLst/>
              <a:cxnLst/>
              <a:rect l="l" t="t" r="r" b="b"/>
              <a:pathLst>
                <a:path w="3450590" h="329564">
                  <a:moveTo>
                    <a:pt x="3395472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11" y="295697"/>
                  </a:lnTo>
                  <a:lnTo>
                    <a:pt x="16068" y="313134"/>
                  </a:lnTo>
                  <a:lnTo>
                    <a:pt x="33507" y="324879"/>
                  </a:lnTo>
                  <a:lnTo>
                    <a:pt x="54864" y="329184"/>
                  </a:lnTo>
                  <a:lnTo>
                    <a:pt x="3395472" y="329184"/>
                  </a:lnTo>
                  <a:lnTo>
                    <a:pt x="3416849" y="324879"/>
                  </a:lnTo>
                  <a:lnTo>
                    <a:pt x="3434286" y="313134"/>
                  </a:lnTo>
                  <a:lnTo>
                    <a:pt x="3446031" y="295697"/>
                  </a:lnTo>
                  <a:lnTo>
                    <a:pt x="3450336" y="274319"/>
                  </a:lnTo>
                  <a:lnTo>
                    <a:pt x="3450336" y="54863"/>
                  </a:lnTo>
                  <a:lnTo>
                    <a:pt x="3446031" y="33486"/>
                  </a:lnTo>
                  <a:lnTo>
                    <a:pt x="3434286" y="16049"/>
                  </a:lnTo>
                  <a:lnTo>
                    <a:pt x="3416849" y="4304"/>
                  </a:lnTo>
                  <a:lnTo>
                    <a:pt x="3395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1103" y="4379976"/>
              <a:ext cx="3450590" cy="329565"/>
            </a:xfrm>
            <a:custGeom>
              <a:avLst/>
              <a:gdLst/>
              <a:ahLst/>
              <a:cxnLst/>
              <a:rect l="l" t="t" r="r" b="b"/>
              <a:pathLst>
                <a:path w="3450590" h="329564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3395472" y="0"/>
                  </a:lnTo>
                  <a:lnTo>
                    <a:pt x="3416849" y="4304"/>
                  </a:lnTo>
                  <a:lnTo>
                    <a:pt x="3434286" y="16049"/>
                  </a:lnTo>
                  <a:lnTo>
                    <a:pt x="3446031" y="33486"/>
                  </a:lnTo>
                  <a:lnTo>
                    <a:pt x="3450336" y="54863"/>
                  </a:lnTo>
                  <a:lnTo>
                    <a:pt x="3450336" y="274319"/>
                  </a:lnTo>
                  <a:lnTo>
                    <a:pt x="3446031" y="295697"/>
                  </a:lnTo>
                  <a:lnTo>
                    <a:pt x="3434286" y="313134"/>
                  </a:lnTo>
                  <a:lnTo>
                    <a:pt x="3416849" y="324879"/>
                  </a:lnTo>
                  <a:lnTo>
                    <a:pt x="3395472" y="329184"/>
                  </a:lnTo>
                  <a:lnTo>
                    <a:pt x="54864" y="329184"/>
                  </a:lnTo>
                  <a:lnTo>
                    <a:pt x="33507" y="324879"/>
                  </a:lnTo>
                  <a:lnTo>
                    <a:pt x="16068" y="313134"/>
                  </a:lnTo>
                  <a:lnTo>
                    <a:pt x="4311" y="295697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3775" y="6120383"/>
              <a:ext cx="3450590" cy="329565"/>
            </a:xfrm>
            <a:custGeom>
              <a:avLst/>
              <a:gdLst/>
              <a:ahLst/>
              <a:cxnLst/>
              <a:rect l="l" t="t" r="r" b="b"/>
              <a:pathLst>
                <a:path w="3450590" h="329564">
                  <a:moveTo>
                    <a:pt x="3395472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11" y="295676"/>
                  </a:lnTo>
                  <a:lnTo>
                    <a:pt x="16068" y="313115"/>
                  </a:lnTo>
                  <a:lnTo>
                    <a:pt x="33507" y="324872"/>
                  </a:lnTo>
                  <a:lnTo>
                    <a:pt x="54864" y="329183"/>
                  </a:lnTo>
                  <a:lnTo>
                    <a:pt x="3395472" y="329183"/>
                  </a:lnTo>
                  <a:lnTo>
                    <a:pt x="3416849" y="324872"/>
                  </a:lnTo>
                  <a:lnTo>
                    <a:pt x="3434286" y="313115"/>
                  </a:lnTo>
                  <a:lnTo>
                    <a:pt x="3446031" y="295676"/>
                  </a:lnTo>
                  <a:lnTo>
                    <a:pt x="3450336" y="274319"/>
                  </a:lnTo>
                  <a:lnTo>
                    <a:pt x="3450336" y="54863"/>
                  </a:lnTo>
                  <a:lnTo>
                    <a:pt x="3446031" y="33507"/>
                  </a:lnTo>
                  <a:lnTo>
                    <a:pt x="3434286" y="16068"/>
                  </a:lnTo>
                  <a:lnTo>
                    <a:pt x="3416849" y="4311"/>
                  </a:lnTo>
                  <a:lnTo>
                    <a:pt x="3395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3775" y="6120383"/>
              <a:ext cx="3450590" cy="329565"/>
            </a:xfrm>
            <a:custGeom>
              <a:avLst/>
              <a:gdLst/>
              <a:ahLst/>
              <a:cxnLst/>
              <a:rect l="l" t="t" r="r" b="b"/>
              <a:pathLst>
                <a:path w="3450590" h="329564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3395472" y="0"/>
                  </a:lnTo>
                  <a:lnTo>
                    <a:pt x="3416849" y="4311"/>
                  </a:lnTo>
                  <a:lnTo>
                    <a:pt x="3434286" y="16068"/>
                  </a:lnTo>
                  <a:lnTo>
                    <a:pt x="3446031" y="33507"/>
                  </a:lnTo>
                  <a:lnTo>
                    <a:pt x="3450336" y="54863"/>
                  </a:lnTo>
                  <a:lnTo>
                    <a:pt x="3450336" y="274319"/>
                  </a:lnTo>
                  <a:lnTo>
                    <a:pt x="3446031" y="295676"/>
                  </a:lnTo>
                  <a:lnTo>
                    <a:pt x="3434286" y="313115"/>
                  </a:lnTo>
                  <a:lnTo>
                    <a:pt x="3416849" y="324872"/>
                  </a:lnTo>
                  <a:lnTo>
                    <a:pt x="3395472" y="329183"/>
                  </a:lnTo>
                  <a:lnTo>
                    <a:pt x="54864" y="329183"/>
                  </a:lnTo>
                  <a:lnTo>
                    <a:pt x="33507" y="324872"/>
                  </a:lnTo>
                  <a:lnTo>
                    <a:pt x="16068" y="313115"/>
                  </a:lnTo>
                  <a:lnTo>
                    <a:pt x="4311" y="295676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96154" y="1899920"/>
            <a:ext cx="6703059" cy="3999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5"/>
              </a:spcBef>
            </a:pPr>
            <a:r>
              <a:rPr sz="3000" baseline="4166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3000" spc="345" baseline="416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Meaning</a:t>
            </a:r>
            <a:endParaRPr sz="2000">
              <a:latin typeface="Times New Roman"/>
              <a:cs typeface="Times New Roman"/>
            </a:endParaRPr>
          </a:p>
          <a:p>
            <a:pPr marL="407034" indent="-343535">
              <a:lnSpc>
                <a:spcPct val="100000"/>
              </a:lnSpc>
              <a:spcBef>
                <a:spcPts val="1930"/>
              </a:spcBef>
              <a:buFont typeface="Wingdings"/>
              <a:buChar char=""/>
              <a:tabLst>
                <a:tab pos="407670" algn="l"/>
                <a:tab pos="1569720" algn="l"/>
                <a:tab pos="3124835" algn="l"/>
                <a:tab pos="3510279" algn="l"/>
                <a:tab pos="4305935" algn="l"/>
                <a:tab pos="4788535" algn="l"/>
                <a:tab pos="5767705" algn="l"/>
              </a:tabLst>
            </a:pP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Thermal	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Equilibrium	is	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when	all	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objects	</a:t>
            </a:r>
            <a:r>
              <a:rPr sz="2000" b="1" spc="-20" dirty="0">
                <a:solidFill>
                  <a:srgbClr val="6F2F9F"/>
                </a:solidFill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407034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system</a:t>
            </a:r>
            <a:r>
              <a:rPr sz="2000" b="1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are</a:t>
            </a:r>
            <a:r>
              <a:rPr sz="2000" b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at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same</a:t>
            </a:r>
            <a:r>
              <a:rPr sz="2000" b="1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temperature.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</a:pPr>
            <a:r>
              <a:rPr sz="3000" baseline="4166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3000" spc="-277" baseline="416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About</a:t>
            </a:r>
            <a:r>
              <a:rPr sz="20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Thermal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Equilibrium</a:t>
            </a:r>
            <a:endParaRPr sz="2000">
              <a:latin typeface="Times New Roman"/>
              <a:cs typeface="Times New Roman"/>
            </a:endParaRPr>
          </a:p>
          <a:p>
            <a:pPr marL="353695" marR="5080" indent="-341630" algn="just">
              <a:lnSpc>
                <a:spcPct val="100000"/>
              </a:lnSpc>
              <a:spcBef>
                <a:spcPts val="1910"/>
              </a:spcBef>
              <a:buFont typeface="Wingdings"/>
              <a:buChar char=""/>
              <a:tabLst>
                <a:tab pos="354330" algn="l"/>
              </a:tabLst>
            </a:pP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When   </a:t>
            </a:r>
            <a:r>
              <a:rPr sz="2000" b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    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hot</a:t>
            </a:r>
            <a:r>
              <a:rPr sz="2000" b="1" spc="735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object</a:t>
            </a:r>
            <a:r>
              <a:rPr sz="2000" b="1" spc="7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7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is</a:t>
            </a:r>
            <a:r>
              <a:rPr sz="2000" b="1" spc="735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placed</a:t>
            </a:r>
            <a:r>
              <a:rPr sz="2000" b="1" spc="7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7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next    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to</a:t>
            </a:r>
            <a:r>
              <a:rPr sz="2000" b="1" spc="735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 </a:t>
            </a:r>
            <a:r>
              <a:rPr sz="2000" b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cold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object energy will flow </a:t>
            </a:r>
            <a:r>
              <a:rPr sz="2000" b="1" spc="-15" dirty="0">
                <a:solidFill>
                  <a:srgbClr val="6F2F9F"/>
                </a:solidFill>
                <a:latin typeface="Times New Roman"/>
                <a:cs typeface="Times New Roman"/>
              </a:rPr>
              <a:t>from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hotter to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cooler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 until</a:t>
            </a:r>
            <a:r>
              <a:rPr sz="2000" b="1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they</a:t>
            </a:r>
            <a:r>
              <a:rPr sz="2000" b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reach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thermal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equilibrium.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323215" indent="-287020">
              <a:lnSpc>
                <a:spcPct val="100000"/>
              </a:lnSpc>
              <a:spcBef>
                <a:spcPts val="1285"/>
              </a:spcBef>
              <a:buFont typeface="Wingdings"/>
              <a:buChar char=""/>
              <a:tabLst>
                <a:tab pos="323850" algn="l"/>
              </a:tabLst>
            </a:pP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Thermal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equilibrium</a:t>
            </a:r>
            <a:r>
              <a:rPr sz="18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obeys</a:t>
            </a:r>
            <a:r>
              <a:rPr sz="18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18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zeroth</a:t>
            </a:r>
            <a:r>
              <a:rPr sz="18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law</a:t>
            </a:r>
            <a:r>
              <a:rPr sz="18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18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thermodynamics.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5854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Zeroth</a:t>
            </a:r>
            <a:r>
              <a:rPr spc="-40" dirty="0"/>
              <a:t> </a:t>
            </a:r>
            <a:r>
              <a:rPr dirty="0"/>
              <a:t>law</a:t>
            </a:r>
            <a:r>
              <a:rPr spc="-25" dirty="0"/>
              <a:t> </a:t>
            </a:r>
            <a:r>
              <a:rPr spc="-45" dirty="0"/>
              <a:t>of</a:t>
            </a:r>
            <a:r>
              <a:rPr spc="-10" dirty="0"/>
              <a:t> </a:t>
            </a:r>
            <a:r>
              <a:rPr spc="-5" dirty="0"/>
              <a:t>thermodynamics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86967" y="1746504"/>
            <a:ext cx="2743200" cy="1781810"/>
          </a:xfrm>
          <a:custGeom>
            <a:avLst/>
            <a:gdLst/>
            <a:ahLst/>
            <a:cxnLst/>
            <a:rect l="l" t="t" r="r" b="b"/>
            <a:pathLst>
              <a:path w="2743200" h="1781810">
                <a:moveTo>
                  <a:pt x="0" y="0"/>
                </a:moveTo>
                <a:lnTo>
                  <a:pt x="457200" y="0"/>
                </a:lnTo>
                <a:lnTo>
                  <a:pt x="1143000" y="0"/>
                </a:lnTo>
                <a:lnTo>
                  <a:pt x="2743199" y="0"/>
                </a:lnTo>
                <a:lnTo>
                  <a:pt x="2743199" y="923671"/>
                </a:lnTo>
                <a:lnTo>
                  <a:pt x="2743199" y="1319530"/>
                </a:lnTo>
                <a:lnTo>
                  <a:pt x="2743199" y="1583436"/>
                </a:lnTo>
                <a:lnTo>
                  <a:pt x="1143000" y="1583436"/>
                </a:lnTo>
                <a:lnTo>
                  <a:pt x="800100" y="1781429"/>
                </a:lnTo>
                <a:lnTo>
                  <a:pt x="457200" y="1583436"/>
                </a:lnTo>
                <a:lnTo>
                  <a:pt x="0" y="1583436"/>
                </a:lnTo>
                <a:lnTo>
                  <a:pt x="0" y="1319530"/>
                </a:lnTo>
                <a:lnTo>
                  <a:pt x="0" y="923671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1298" y="2245867"/>
            <a:ext cx="2433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D75B6"/>
                </a:solidFill>
                <a:latin typeface="Segoe UI"/>
                <a:cs typeface="Segoe UI"/>
              </a:rPr>
              <a:t>Why</a:t>
            </a:r>
            <a:r>
              <a:rPr sz="1800" b="1" spc="-20" dirty="0">
                <a:solidFill>
                  <a:srgbClr val="2D75B6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2D75B6"/>
                </a:solidFill>
                <a:latin typeface="Segoe UI"/>
                <a:cs typeface="Segoe UI"/>
              </a:rPr>
              <a:t>this</a:t>
            </a:r>
            <a:r>
              <a:rPr sz="1800" b="1" spc="-25" dirty="0">
                <a:solidFill>
                  <a:srgbClr val="2D75B6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2D75B6"/>
                </a:solidFill>
                <a:latin typeface="Segoe UI"/>
                <a:cs typeface="Segoe UI"/>
              </a:rPr>
              <a:t>law</a:t>
            </a:r>
            <a:r>
              <a:rPr sz="1800" b="1" spc="-20" dirty="0">
                <a:solidFill>
                  <a:srgbClr val="2D75B6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2D75B6"/>
                </a:solidFill>
                <a:latin typeface="Segoe UI"/>
                <a:cs typeface="Segoe UI"/>
              </a:rPr>
              <a:t>is</a:t>
            </a:r>
            <a:r>
              <a:rPr sz="1800" b="1" spc="-25" dirty="0">
                <a:solidFill>
                  <a:srgbClr val="2D75B6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2D75B6"/>
                </a:solidFill>
                <a:latin typeface="Segoe UI"/>
                <a:cs typeface="Segoe UI"/>
              </a:rPr>
              <a:t>named</a:t>
            </a:r>
            <a:endParaRPr sz="18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2D75B6"/>
                </a:solidFill>
                <a:latin typeface="Segoe UI"/>
                <a:cs typeface="Segoe UI"/>
              </a:rPr>
              <a:t>‘Zeroth’?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540" y="3531108"/>
            <a:ext cx="2063496" cy="206501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5547360" indent="-342900">
              <a:lnSpc>
                <a:spcPct val="100000"/>
              </a:lnSpc>
              <a:spcBef>
                <a:spcPts val="850"/>
              </a:spcBef>
              <a:buFont typeface="Courier New"/>
              <a:buChar char="o"/>
              <a:tabLst>
                <a:tab pos="5547360" algn="l"/>
              </a:tabLst>
            </a:pPr>
            <a:r>
              <a:rPr spc="-5" dirty="0"/>
              <a:t>Discovered</a:t>
            </a:r>
          </a:p>
          <a:p>
            <a:pPr marL="5547360" indent="-342900">
              <a:lnSpc>
                <a:spcPct val="100000"/>
              </a:lnSpc>
              <a:spcBef>
                <a:spcPts val="750"/>
              </a:spcBef>
              <a:buFont typeface="Courier New"/>
              <a:buChar char="o"/>
              <a:tabLst>
                <a:tab pos="5547360" algn="l"/>
              </a:tabLst>
            </a:pPr>
            <a:r>
              <a:rPr dirty="0">
                <a:solidFill>
                  <a:srgbClr val="6F2F9F"/>
                </a:solidFill>
              </a:rPr>
              <a:t>In</a:t>
            </a:r>
            <a:r>
              <a:rPr spc="-20" dirty="0">
                <a:solidFill>
                  <a:srgbClr val="6F2F9F"/>
                </a:solidFill>
              </a:rPr>
              <a:t> </a:t>
            </a:r>
            <a:r>
              <a:rPr spc="5" dirty="0">
                <a:solidFill>
                  <a:srgbClr val="6F2F9F"/>
                </a:solidFill>
              </a:rPr>
              <a:t>1935</a:t>
            </a:r>
            <a:r>
              <a:rPr spc="-3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years,</a:t>
            </a:r>
            <a:r>
              <a:rPr spc="459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Ralph</a:t>
            </a:r>
            <a:r>
              <a:rPr spc="-35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H.</a:t>
            </a:r>
            <a:r>
              <a:rPr spc="-1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Fowler</a:t>
            </a:r>
          </a:p>
          <a:p>
            <a:pPr marL="5821045" marR="353695" lvl="1" indent="-342900">
              <a:lnSpc>
                <a:spcPct val="100000"/>
              </a:lnSpc>
              <a:spcBef>
                <a:spcPts val="750"/>
              </a:spcBef>
              <a:buFont typeface="Wingdings"/>
              <a:buChar char=""/>
              <a:tabLst>
                <a:tab pos="5820410" algn="l"/>
                <a:tab pos="5821045" algn="l"/>
              </a:tabLst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He </a:t>
            </a:r>
            <a:r>
              <a:rPr sz="2000" spc="-10" dirty="0">
                <a:solidFill>
                  <a:srgbClr val="006FC0"/>
                </a:solidFill>
                <a:latin typeface="Times New Roman"/>
                <a:cs typeface="Times New Roman"/>
              </a:rPr>
              <a:t>came</a:t>
            </a:r>
            <a:r>
              <a:rPr sz="200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upon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Times New Roman"/>
                <a:cs typeface="Times New Roman"/>
              </a:rPr>
              <a:t>one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text-</a:t>
            </a:r>
            <a:r>
              <a:rPr sz="20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‘every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physical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quantity</a:t>
            </a:r>
            <a:r>
              <a:rPr sz="20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must</a:t>
            </a:r>
            <a:r>
              <a:rPr sz="20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be </a:t>
            </a:r>
            <a:r>
              <a:rPr sz="2000" spc="-484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measureable</a:t>
            </a:r>
            <a:r>
              <a:rPr sz="20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numeric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term’</a:t>
            </a:r>
            <a:endParaRPr sz="2000">
              <a:latin typeface="Times New Roman"/>
              <a:cs typeface="Times New Roman"/>
            </a:endParaRPr>
          </a:p>
          <a:p>
            <a:pPr marL="5821045" lvl="1" indent="-342900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5820410" algn="l"/>
                <a:tab pos="5821045" algn="l"/>
              </a:tabLst>
            </a:pP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There</a:t>
            </a:r>
            <a:r>
              <a:rPr sz="2000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Times New Roman"/>
                <a:cs typeface="Times New Roman"/>
              </a:rPr>
              <a:t>was</a:t>
            </a: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 no</a:t>
            </a:r>
            <a:r>
              <a:rPr sz="20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discovery</a:t>
            </a:r>
            <a:r>
              <a:rPr sz="200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any</a:t>
            </a:r>
            <a:r>
              <a:rPr sz="200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term</a:t>
            </a:r>
            <a:r>
              <a:rPr sz="20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Times New Roman"/>
                <a:cs typeface="Times New Roman"/>
              </a:rPr>
              <a:t>like </a:t>
            </a:r>
            <a:r>
              <a:rPr sz="2000" spc="-15" dirty="0">
                <a:solidFill>
                  <a:srgbClr val="00AF50"/>
                </a:solidFill>
                <a:latin typeface="Times New Roman"/>
                <a:cs typeface="Times New Roman"/>
              </a:rPr>
              <a:t>‘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TEMPERATURE</a:t>
            </a:r>
            <a:r>
              <a:rPr sz="2000" spc="-15" dirty="0">
                <a:solidFill>
                  <a:srgbClr val="00AF50"/>
                </a:solidFill>
                <a:latin typeface="Times New Roman"/>
                <a:cs typeface="Times New Roman"/>
              </a:rPr>
              <a:t>’</a:t>
            </a:r>
            <a:endParaRPr sz="2000">
              <a:latin typeface="Times New Roman"/>
              <a:cs typeface="Times New Roman"/>
            </a:endParaRPr>
          </a:p>
          <a:p>
            <a:pPr marL="5821045">
              <a:lnSpc>
                <a:spcPct val="100000"/>
              </a:lnSpc>
            </a:pP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before</a:t>
            </a:r>
            <a:r>
              <a:rPr b="0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1935</a:t>
            </a:r>
          </a:p>
          <a:p>
            <a:pPr marL="5838825" lvl="1" indent="-343535">
              <a:lnSpc>
                <a:spcPct val="100000"/>
              </a:lnSpc>
              <a:spcBef>
                <a:spcPts val="830"/>
              </a:spcBef>
              <a:buFont typeface="Wingdings"/>
              <a:buChar char=""/>
              <a:tabLst>
                <a:tab pos="5838825" algn="l"/>
                <a:tab pos="5839460" algn="l"/>
              </a:tabLst>
            </a:pPr>
            <a:r>
              <a:rPr sz="2000" spc="-5" dirty="0">
                <a:solidFill>
                  <a:srgbClr val="C00000"/>
                </a:solidFill>
                <a:latin typeface="Times New Roman"/>
                <a:cs typeface="Times New Roman"/>
              </a:rPr>
              <a:t>Realized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Times New Roman"/>
                <a:cs typeface="Times New Roman"/>
              </a:rPr>
              <a:t>that thermal</a:t>
            </a:r>
            <a:r>
              <a:rPr sz="2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Times New Roman"/>
                <a:cs typeface="Times New Roman"/>
              </a:rPr>
              <a:t>equilibrium</a:t>
            </a:r>
            <a:r>
              <a:rPr sz="2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significant</a:t>
            </a:r>
            <a:r>
              <a:rPr sz="2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phenomena</a:t>
            </a:r>
            <a:endParaRPr sz="2000">
              <a:latin typeface="Times New Roman"/>
              <a:cs typeface="Times New Roman"/>
            </a:endParaRPr>
          </a:p>
          <a:p>
            <a:pPr marL="5852795" lvl="1" indent="-342900">
              <a:lnSpc>
                <a:spcPct val="100000"/>
              </a:lnSpc>
              <a:spcBef>
                <a:spcPts val="750"/>
              </a:spcBef>
              <a:buFont typeface="Wingdings"/>
              <a:buChar char=""/>
              <a:tabLst>
                <a:tab pos="5852160" algn="l"/>
                <a:tab pos="5852795" algn="l"/>
              </a:tabLst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Thus,</a:t>
            </a:r>
            <a:r>
              <a:rPr sz="20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it</a:t>
            </a:r>
            <a:r>
              <a:rPr sz="20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gives</a:t>
            </a:r>
            <a:r>
              <a:rPr sz="20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definition</a:t>
            </a:r>
            <a:r>
              <a:rPr sz="20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1F5F"/>
                </a:solidFill>
                <a:latin typeface="Times New Roman"/>
                <a:cs typeface="Times New Roman"/>
              </a:rPr>
              <a:t>temperature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69835" y="4773167"/>
            <a:ext cx="1770887" cy="17693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5854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Zeroth</a:t>
            </a:r>
            <a:r>
              <a:rPr spc="-40" dirty="0"/>
              <a:t> </a:t>
            </a:r>
            <a:r>
              <a:rPr dirty="0"/>
              <a:t>law</a:t>
            </a:r>
            <a:r>
              <a:rPr spc="-25" dirty="0"/>
              <a:t> </a:t>
            </a:r>
            <a:r>
              <a:rPr spc="-45" dirty="0"/>
              <a:t>of</a:t>
            </a:r>
            <a:r>
              <a:rPr spc="-10" dirty="0"/>
              <a:t> </a:t>
            </a:r>
            <a:r>
              <a:rPr spc="-5" dirty="0"/>
              <a:t>thermodynamics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" y="1702307"/>
            <a:ext cx="3895344" cy="21396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58461" y="1688820"/>
            <a:ext cx="7584440" cy="497840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8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000" spc="2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Segoe UI"/>
                <a:cs typeface="Segoe UI"/>
              </a:rPr>
              <a:t>Statement</a:t>
            </a:r>
            <a:endParaRPr sz="2000">
              <a:latin typeface="Segoe UI"/>
              <a:cs typeface="Segoe UI"/>
            </a:endParaRPr>
          </a:p>
          <a:p>
            <a:pPr marL="407670" marR="163830" indent="-343535" algn="just">
              <a:lnSpc>
                <a:spcPct val="100000"/>
              </a:lnSpc>
              <a:spcBef>
                <a:spcPts val="1280"/>
              </a:spcBef>
              <a:buFont typeface="Wingdings"/>
              <a:buChar char=""/>
              <a:tabLst>
                <a:tab pos="408305" algn="l"/>
              </a:tabLst>
            </a:pPr>
            <a:r>
              <a:rPr sz="2000" b="1" dirty="0">
                <a:solidFill>
                  <a:srgbClr val="6F2F9F"/>
                </a:solidFill>
                <a:latin typeface="Segoe UI"/>
                <a:cs typeface="Segoe UI"/>
              </a:rPr>
              <a:t>If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two bodies </a:t>
            </a:r>
            <a:r>
              <a:rPr sz="2000" b="1" dirty="0">
                <a:solidFill>
                  <a:srgbClr val="00AF50"/>
                </a:solidFill>
                <a:latin typeface="Segoe UI"/>
                <a:cs typeface="Segoe UI"/>
              </a:rPr>
              <a:t>A and B </a:t>
            </a:r>
            <a:r>
              <a:rPr sz="2000" b="1" spc="-10" dirty="0">
                <a:solidFill>
                  <a:srgbClr val="00AF50"/>
                </a:solidFill>
                <a:latin typeface="Segoe UI"/>
                <a:cs typeface="Segoe UI"/>
              </a:rPr>
              <a:t>are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in thermal equilibrium </a:t>
            </a:r>
            <a:r>
              <a:rPr sz="2000" b="1" spc="-5" dirty="0">
                <a:solidFill>
                  <a:srgbClr val="6F2F9F"/>
                </a:solidFill>
                <a:latin typeface="Segoe UI"/>
                <a:cs typeface="Segoe UI"/>
              </a:rPr>
              <a:t>with </a:t>
            </a:r>
            <a:r>
              <a:rPr sz="2000" b="1" spc="-10" dirty="0">
                <a:solidFill>
                  <a:srgbClr val="6F2F9F"/>
                </a:solidFill>
                <a:latin typeface="Segoe UI"/>
                <a:cs typeface="Segoe UI"/>
              </a:rPr>
              <a:t>third </a:t>
            </a:r>
            <a:r>
              <a:rPr sz="2000" b="1" spc="-540" dirty="0">
                <a:solidFill>
                  <a:srgbClr val="6F2F9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Segoe UI"/>
                <a:cs typeface="Segoe UI"/>
              </a:rPr>
              <a:t>body C, then </a:t>
            </a:r>
            <a:r>
              <a:rPr sz="2000" b="1" spc="-5" dirty="0">
                <a:solidFill>
                  <a:srgbClr val="D24625"/>
                </a:solidFill>
                <a:latin typeface="Segoe UI"/>
                <a:cs typeface="Segoe UI"/>
              </a:rPr>
              <a:t>body </a:t>
            </a:r>
            <a:r>
              <a:rPr sz="2000" b="1" dirty="0">
                <a:solidFill>
                  <a:srgbClr val="D24625"/>
                </a:solidFill>
                <a:latin typeface="Segoe UI"/>
                <a:cs typeface="Segoe UI"/>
              </a:rPr>
              <a:t>A </a:t>
            </a:r>
            <a:r>
              <a:rPr sz="2000" b="1" spc="-5" dirty="0">
                <a:solidFill>
                  <a:srgbClr val="D24625"/>
                </a:solidFill>
                <a:latin typeface="Segoe UI"/>
                <a:cs typeface="Segoe UI"/>
              </a:rPr>
              <a:t>and </a:t>
            </a:r>
            <a:r>
              <a:rPr sz="2000" b="1" dirty="0">
                <a:solidFill>
                  <a:srgbClr val="D24625"/>
                </a:solidFill>
                <a:latin typeface="Segoe UI"/>
                <a:cs typeface="Segoe UI"/>
              </a:rPr>
              <a:t>B </a:t>
            </a:r>
            <a:r>
              <a:rPr sz="2000" b="1" spc="-10" dirty="0">
                <a:solidFill>
                  <a:srgbClr val="D24625"/>
                </a:solidFill>
                <a:latin typeface="Segoe UI"/>
                <a:cs typeface="Segoe UI"/>
              </a:rPr>
              <a:t>are </a:t>
            </a:r>
            <a:r>
              <a:rPr sz="2000" b="1" spc="-5" dirty="0">
                <a:solidFill>
                  <a:srgbClr val="D24625"/>
                </a:solidFill>
                <a:latin typeface="Segoe UI"/>
                <a:cs typeface="Segoe UI"/>
              </a:rPr>
              <a:t>also in thermal equilibrium </a:t>
            </a:r>
            <a:r>
              <a:rPr sz="2000" b="1" dirty="0">
                <a:solidFill>
                  <a:srgbClr val="D24625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Segoe UI"/>
                <a:cs typeface="Segoe UI"/>
              </a:rPr>
              <a:t>with</a:t>
            </a:r>
            <a:r>
              <a:rPr sz="2000" b="1" spc="-15" dirty="0">
                <a:solidFill>
                  <a:srgbClr val="6F2F9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Segoe UI"/>
                <a:cs typeface="Segoe UI"/>
              </a:rPr>
              <a:t>each</a:t>
            </a:r>
            <a:r>
              <a:rPr sz="2000" b="1" spc="-15" dirty="0">
                <a:solidFill>
                  <a:srgbClr val="6F2F9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Segoe UI"/>
                <a:cs typeface="Segoe UI"/>
              </a:rPr>
              <a:t>other</a:t>
            </a:r>
            <a:endParaRPr sz="2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Segoe UI"/>
              <a:cs typeface="Segoe UI"/>
            </a:endParaRPr>
          </a:p>
          <a:p>
            <a:pPr marL="64769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000" spc="2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Mathematically</a:t>
            </a:r>
            <a:endParaRPr sz="2000">
              <a:latin typeface="Segoe UI"/>
              <a:cs typeface="Segoe UI"/>
            </a:endParaRPr>
          </a:p>
          <a:p>
            <a:pPr marL="407670" marR="1099185" indent="-343535">
              <a:lnSpc>
                <a:spcPct val="100000"/>
              </a:lnSpc>
              <a:spcBef>
                <a:spcPts val="1260"/>
              </a:spcBef>
              <a:buFont typeface="Wingdings"/>
              <a:buChar char=""/>
              <a:tabLst>
                <a:tab pos="407670" algn="l"/>
                <a:tab pos="408305" algn="l"/>
              </a:tabLst>
            </a:pPr>
            <a:r>
              <a:rPr sz="2000" b="1" dirty="0">
                <a:solidFill>
                  <a:srgbClr val="6F2F9F"/>
                </a:solidFill>
                <a:latin typeface="Segoe UI"/>
                <a:cs typeface="Segoe UI"/>
              </a:rPr>
              <a:t>If </a:t>
            </a:r>
            <a:r>
              <a:rPr sz="2000" b="1" spc="-80" dirty="0">
                <a:solidFill>
                  <a:srgbClr val="4471C4"/>
                </a:solidFill>
                <a:latin typeface="Segoe UI"/>
                <a:cs typeface="Segoe UI"/>
              </a:rPr>
              <a:t>T</a:t>
            </a:r>
            <a:r>
              <a:rPr sz="1950" b="1" spc="-120" baseline="-21367" dirty="0">
                <a:solidFill>
                  <a:srgbClr val="4471C4"/>
                </a:solidFill>
                <a:latin typeface="Segoe UI"/>
                <a:cs typeface="Segoe UI"/>
              </a:rPr>
              <a:t>a</a:t>
            </a:r>
            <a:r>
              <a:rPr sz="1950" b="1" spc="-112" baseline="-21367" dirty="0">
                <a:solidFill>
                  <a:srgbClr val="4471C4"/>
                </a:solidFill>
                <a:latin typeface="Segoe UI"/>
                <a:cs typeface="Segoe UI"/>
              </a:rPr>
              <a:t> </a:t>
            </a:r>
            <a:r>
              <a:rPr sz="2000" b="1" spc="-55" dirty="0">
                <a:solidFill>
                  <a:srgbClr val="4471C4"/>
                </a:solidFill>
                <a:latin typeface="Segoe UI"/>
                <a:cs typeface="Segoe UI"/>
              </a:rPr>
              <a:t>=T</a:t>
            </a:r>
            <a:r>
              <a:rPr sz="1950" b="1" spc="-82" baseline="-21367" dirty="0">
                <a:solidFill>
                  <a:srgbClr val="4471C4"/>
                </a:solidFill>
                <a:latin typeface="Segoe UI"/>
                <a:cs typeface="Segoe UI"/>
              </a:rPr>
              <a:t>c</a:t>
            </a:r>
            <a:r>
              <a:rPr sz="1950" b="1" spc="-75" baseline="-21367" dirty="0">
                <a:solidFill>
                  <a:srgbClr val="4471C4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4471C4"/>
                </a:solidFill>
                <a:latin typeface="Segoe UI"/>
                <a:cs typeface="Segoe UI"/>
              </a:rPr>
              <a:t>and </a:t>
            </a:r>
            <a:r>
              <a:rPr sz="2000" b="1" spc="-30" dirty="0">
                <a:solidFill>
                  <a:srgbClr val="4471C4"/>
                </a:solidFill>
                <a:latin typeface="Segoe UI"/>
                <a:cs typeface="Segoe UI"/>
              </a:rPr>
              <a:t>T</a:t>
            </a:r>
            <a:r>
              <a:rPr sz="1950" b="1" spc="-44" baseline="-21367" dirty="0">
                <a:solidFill>
                  <a:srgbClr val="4471C4"/>
                </a:solidFill>
                <a:latin typeface="Segoe UI"/>
                <a:cs typeface="Segoe UI"/>
              </a:rPr>
              <a:t>b</a:t>
            </a:r>
            <a:r>
              <a:rPr sz="2000" b="1" spc="-30" dirty="0">
                <a:solidFill>
                  <a:srgbClr val="4471C4"/>
                </a:solidFill>
                <a:latin typeface="Segoe UI"/>
                <a:cs typeface="Segoe UI"/>
              </a:rPr>
              <a:t>=T</a:t>
            </a:r>
            <a:r>
              <a:rPr sz="1950" b="1" spc="-44" baseline="-21367" dirty="0">
                <a:solidFill>
                  <a:srgbClr val="4471C4"/>
                </a:solidFill>
                <a:latin typeface="Segoe UI"/>
                <a:cs typeface="Segoe UI"/>
              </a:rPr>
              <a:t>c</a:t>
            </a:r>
            <a:r>
              <a:rPr sz="2000" b="1" spc="-30" dirty="0">
                <a:solidFill>
                  <a:srgbClr val="00AF50"/>
                </a:solidFill>
                <a:latin typeface="Segoe UI"/>
                <a:cs typeface="Segoe UI"/>
              </a:rPr>
              <a:t>,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then </a:t>
            </a:r>
            <a:r>
              <a:rPr sz="2000" b="1" spc="-10" dirty="0">
                <a:solidFill>
                  <a:srgbClr val="00AF50"/>
                </a:solidFill>
                <a:latin typeface="Segoe UI"/>
                <a:cs typeface="Segoe UI"/>
              </a:rPr>
              <a:t>according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to Zeroth law </a:t>
            </a:r>
            <a:r>
              <a:rPr sz="2000" b="1" spc="-20" dirty="0">
                <a:solidFill>
                  <a:srgbClr val="00AF50"/>
                </a:solidFill>
                <a:latin typeface="Segoe UI"/>
                <a:cs typeface="Segoe UI"/>
              </a:rPr>
              <a:t>of </a:t>
            </a:r>
            <a:r>
              <a:rPr sz="2000" b="1" spc="-5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Segoe UI"/>
                <a:cs typeface="Segoe UI"/>
              </a:rPr>
              <a:t>thermodynamics</a:t>
            </a:r>
            <a:r>
              <a:rPr sz="2000" b="1" spc="-1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30" dirty="0">
                <a:solidFill>
                  <a:srgbClr val="D24625"/>
                </a:solidFill>
                <a:latin typeface="Segoe UI"/>
                <a:cs typeface="Segoe UI"/>
              </a:rPr>
              <a:t>T</a:t>
            </a:r>
            <a:r>
              <a:rPr sz="1950" b="1" spc="-44" baseline="-21367" dirty="0">
                <a:solidFill>
                  <a:srgbClr val="D24625"/>
                </a:solidFill>
                <a:latin typeface="Segoe UI"/>
                <a:cs typeface="Segoe UI"/>
              </a:rPr>
              <a:t>a</a:t>
            </a:r>
            <a:r>
              <a:rPr sz="2000" b="1" spc="-30" dirty="0">
                <a:solidFill>
                  <a:srgbClr val="D24625"/>
                </a:solidFill>
                <a:latin typeface="Segoe UI"/>
                <a:cs typeface="Segoe UI"/>
              </a:rPr>
              <a:t>=T</a:t>
            </a:r>
            <a:r>
              <a:rPr sz="1950" b="1" spc="-44" baseline="-21367" dirty="0">
                <a:solidFill>
                  <a:srgbClr val="D24625"/>
                </a:solidFill>
                <a:latin typeface="Segoe UI"/>
                <a:cs typeface="Segoe UI"/>
              </a:rPr>
              <a:t>b</a:t>
            </a:r>
            <a:endParaRPr sz="1950" baseline="-21367">
              <a:latin typeface="Segoe UI"/>
              <a:cs typeface="Segoe UI"/>
            </a:endParaRPr>
          </a:p>
          <a:p>
            <a:pPr marL="64769">
              <a:lnSpc>
                <a:spcPct val="100000"/>
              </a:lnSpc>
              <a:spcBef>
                <a:spcPts val="175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000" spc="2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What</a:t>
            </a:r>
            <a:r>
              <a:rPr sz="2000" b="1" spc="-2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did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Segoe UI"/>
                <a:cs typeface="Segoe UI"/>
              </a:rPr>
              <a:t>you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find</a:t>
            </a:r>
            <a:r>
              <a:rPr sz="2000" b="1" spc="-2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Segoe UI"/>
                <a:cs typeface="Segoe UI"/>
              </a:rPr>
              <a:t>from</a:t>
            </a:r>
            <a:r>
              <a:rPr sz="2000" b="1" spc="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the</a:t>
            </a:r>
            <a:r>
              <a:rPr sz="2000" b="1" spc="-2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Zeroth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law</a:t>
            </a:r>
            <a:r>
              <a:rPr sz="2000" b="1" spc="-1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Segoe UI"/>
                <a:cs typeface="Segoe UI"/>
              </a:rPr>
              <a:t>of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thermodynamics?</a:t>
            </a:r>
            <a:endParaRPr sz="2000">
              <a:latin typeface="Segoe UI"/>
              <a:cs typeface="Segoe UI"/>
            </a:endParaRPr>
          </a:p>
          <a:p>
            <a:pPr marL="393700" indent="-342900">
              <a:lnSpc>
                <a:spcPct val="100000"/>
              </a:lnSpc>
              <a:spcBef>
                <a:spcPts val="1345"/>
              </a:spcBef>
              <a:buFont typeface="Wingdings"/>
              <a:buChar char=""/>
              <a:tabLst>
                <a:tab pos="393065" algn="l"/>
                <a:tab pos="393700" algn="l"/>
              </a:tabLst>
            </a:pPr>
            <a:r>
              <a:rPr sz="2000" b="1" dirty="0">
                <a:solidFill>
                  <a:srgbClr val="001F5F"/>
                </a:solidFill>
                <a:latin typeface="Segoe UI"/>
                <a:cs typeface="Segoe UI"/>
              </a:rPr>
              <a:t>The</a:t>
            </a:r>
            <a:r>
              <a:rPr sz="2000" b="1" spc="-2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Segoe UI"/>
                <a:cs typeface="Segoe UI"/>
              </a:rPr>
              <a:t>property</a:t>
            </a:r>
            <a:r>
              <a:rPr sz="2000" b="1" spc="-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001F5F"/>
                </a:solidFill>
                <a:latin typeface="Segoe UI"/>
                <a:cs typeface="Segoe UI"/>
              </a:rPr>
              <a:t>of</a:t>
            </a:r>
            <a:r>
              <a:rPr sz="2000" b="1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spc="-15" dirty="0">
                <a:solidFill>
                  <a:srgbClr val="00AF50"/>
                </a:solidFill>
                <a:latin typeface="Segoe UI"/>
                <a:cs typeface="Segoe UI"/>
              </a:rPr>
              <a:t>TEMPERATURE</a:t>
            </a:r>
            <a:endParaRPr sz="2000">
              <a:latin typeface="Segoe UI"/>
              <a:cs typeface="Segoe UI"/>
            </a:endParaRPr>
          </a:p>
          <a:p>
            <a:pPr marL="64769">
              <a:lnSpc>
                <a:spcPct val="100000"/>
              </a:lnSpc>
              <a:spcBef>
                <a:spcPts val="168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000" spc="2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What</a:t>
            </a:r>
            <a:r>
              <a:rPr sz="2000" b="1" spc="-2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is</a:t>
            </a:r>
            <a:r>
              <a:rPr sz="2000" b="1" spc="-3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Segoe UI"/>
                <a:cs typeface="Segoe UI"/>
              </a:rPr>
              <a:t>Temperature?</a:t>
            </a:r>
            <a:endParaRPr sz="2000">
              <a:latin typeface="Segoe UI"/>
              <a:cs typeface="Segoe UI"/>
            </a:endParaRPr>
          </a:p>
          <a:p>
            <a:pPr marL="393700" indent="-342900">
              <a:lnSpc>
                <a:spcPct val="100000"/>
              </a:lnSpc>
              <a:spcBef>
                <a:spcPts val="1035"/>
              </a:spcBef>
              <a:buFont typeface="Wingdings"/>
              <a:buChar char=""/>
              <a:tabLst>
                <a:tab pos="393065" algn="l"/>
                <a:tab pos="393700" algn="l"/>
              </a:tabLst>
            </a:pP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temperature</a:t>
            </a:r>
            <a:r>
              <a:rPr sz="2000" b="1" spc="2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is</a:t>
            </a:r>
            <a:r>
              <a:rPr sz="2000" b="1" spc="-2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Segoe UI"/>
                <a:cs typeface="Segoe UI"/>
              </a:rPr>
              <a:t>the</a:t>
            </a:r>
            <a:r>
              <a:rPr sz="2000" b="1" spc="-1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quantity measured</a:t>
            </a:r>
            <a:r>
              <a:rPr sz="2000" b="1" spc="1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by</a:t>
            </a:r>
            <a:r>
              <a:rPr sz="2000" b="1" spc="-1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Segoe UI"/>
                <a:cs typeface="Segoe UI"/>
              </a:rPr>
              <a:t>a</a:t>
            </a:r>
            <a:r>
              <a:rPr sz="2000" b="1" spc="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00AF50"/>
                </a:solidFill>
                <a:latin typeface="Segoe UI"/>
                <a:cs typeface="Segoe UI"/>
              </a:rPr>
              <a:t>thermometer.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01032" y="4296660"/>
            <a:ext cx="1873250" cy="2180590"/>
            <a:chOff x="1101032" y="4296660"/>
            <a:chExt cx="1873250" cy="218059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032" y="4296660"/>
              <a:ext cx="1872849" cy="21620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36548" y="6161532"/>
              <a:ext cx="1490980" cy="309880"/>
            </a:xfrm>
            <a:custGeom>
              <a:avLst/>
              <a:gdLst/>
              <a:ahLst/>
              <a:cxnLst/>
              <a:rect l="l" t="t" r="r" b="b"/>
              <a:pathLst>
                <a:path w="1490980" h="309879">
                  <a:moveTo>
                    <a:pt x="1438910" y="0"/>
                  </a:moveTo>
                  <a:lnTo>
                    <a:pt x="51562" y="0"/>
                  </a:lnTo>
                  <a:lnTo>
                    <a:pt x="31503" y="4052"/>
                  </a:lnTo>
                  <a:lnTo>
                    <a:pt x="15113" y="15103"/>
                  </a:lnTo>
                  <a:lnTo>
                    <a:pt x="4056" y="31493"/>
                  </a:lnTo>
                  <a:lnTo>
                    <a:pt x="0" y="51562"/>
                  </a:lnTo>
                  <a:lnTo>
                    <a:pt x="0" y="257810"/>
                  </a:lnTo>
                  <a:lnTo>
                    <a:pt x="4056" y="277878"/>
                  </a:lnTo>
                  <a:lnTo>
                    <a:pt x="15112" y="294268"/>
                  </a:lnTo>
                  <a:lnTo>
                    <a:pt x="31503" y="305319"/>
                  </a:lnTo>
                  <a:lnTo>
                    <a:pt x="51562" y="309372"/>
                  </a:lnTo>
                  <a:lnTo>
                    <a:pt x="1438910" y="309372"/>
                  </a:lnTo>
                  <a:lnTo>
                    <a:pt x="1458968" y="305319"/>
                  </a:lnTo>
                  <a:lnTo>
                    <a:pt x="1475359" y="294268"/>
                  </a:lnTo>
                  <a:lnTo>
                    <a:pt x="1486415" y="277878"/>
                  </a:lnTo>
                  <a:lnTo>
                    <a:pt x="1490472" y="257810"/>
                  </a:lnTo>
                  <a:lnTo>
                    <a:pt x="1490472" y="51562"/>
                  </a:lnTo>
                  <a:lnTo>
                    <a:pt x="1486415" y="31493"/>
                  </a:lnTo>
                  <a:lnTo>
                    <a:pt x="1475359" y="15103"/>
                  </a:lnTo>
                  <a:lnTo>
                    <a:pt x="1458968" y="4052"/>
                  </a:lnTo>
                  <a:lnTo>
                    <a:pt x="14389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36548" y="6161532"/>
              <a:ext cx="1490980" cy="309880"/>
            </a:xfrm>
            <a:custGeom>
              <a:avLst/>
              <a:gdLst/>
              <a:ahLst/>
              <a:cxnLst/>
              <a:rect l="l" t="t" r="r" b="b"/>
              <a:pathLst>
                <a:path w="1490980" h="309879">
                  <a:moveTo>
                    <a:pt x="0" y="51562"/>
                  </a:moveTo>
                  <a:lnTo>
                    <a:pt x="4056" y="31493"/>
                  </a:lnTo>
                  <a:lnTo>
                    <a:pt x="15113" y="15103"/>
                  </a:lnTo>
                  <a:lnTo>
                    <a:pt x="31503" y="4052"/>
                  </a:lnTo>
                  <a:lnTo>
                    <a:pt x="51562" y="0"/>
                  </a:lnTo>
                  <a:lnTo>
                    <a:pt x="1438910" y="0"/>
                  </a:lnTo>
                  <a:lnTo>
                    <a:pt x="1458968" y="4052"/>
                  </a:lnTo>
                  <a:lnTo>
                    <a:pt x="1475359" y="15103"/>
                  </a:lnTo>
                  <a:lnTo>
                    <a:pt x="1486415" y="31493"/>
                  </a:lnTo>
                  <a:lnTo>
                    <a:pt x="1490472" y="51562"/>
                  </a:lnTo>
                  <a:lnTo>
                    <a:pt x="1490472" y="257810"/>
                  </a:lnTo>
                  <a:lnTo>
                    <a:pt x="1486415" y="277878"/>
                  </a:lnTo>
                  <a:lnTo>
                    <a:pt x="1475359" y="294268"/>
                  </a:lnTo>
                  <a:lnTo>
                    <a:pt x="1458968" y="305319"/>
                  </a:lnTo>
                  <a:lnTo>
                    <a:pt x="1438910" y="309372"/>
                  </a:lnTo>
                  <a:lnTo>
                    <a:pt x="51562" y="309372"/>
                  </a:lnTo>
                  <a:lnTo>
                    <a:pt x="31503" y="305319"/>
                  </a:lnTo>
                  <a:lnTo>
                    <a:pt x="15112" y="294268"/>
                  </a:lnTo>
                  <a:lnTo>
                    <a:pt x="4056" y="277878"/>
                  </a:lnTo>
                  <a:lnTo>
                    <a:pt x="0" y="257810"/>
                  </a:lnTo>
                  <a:lnTo>
                    <a:pt x="0" y="515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8366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Zeroth</a:t>
            </a:r>
            <a:r>
              <a:rPr spc="-55" dirty="0"/>
              <a:t> </a:t>
            </a:r>
            <a:r>
              <a:rPr dirty="0"/>
              <a:t>law</a:t>
            </a:r>
            <a:r>
              <a:rPr spc="-35" dirty="0"/>
              <a:t> </a:t>
            </a:r>
            <a:r>
              <a:rPr spc="-45" dirty="0"/>
              <a:t>of</a:t>
            </a:r>
            <a:r>
              <a:rPr spc="-20" dirty="0"/>
              <a:t> </a:t>
            </a:r>
            <a:r>
              <a:rPr dirty="0"/>
              <a:t>thermodynamics-Applications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8929" y="1625600"/>
            <a:ext cx="6788784" cy="3584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Courier New"/>
              <a:buChar char="o"/>
              <a:tabLst>
                <a:tab pos="355600" algn="l"/>
              </a:tabLst>
            </a:pP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Application</a:t>
            </a:r>
            <a:r>
              <a:rPr sz="2000" b="1" spc="-3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Segoe UI"/>
                <a:cs typeface="Segoe UI"/>
              </a:rPr>
              <a:t>of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 zeroth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law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Segoe UI"/>
                <a:cs typeface="Segoe UI"/>
              </a:rPr>
              <a:t>of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thermodynamics</a:t>
            </a:r>
            <a:endParaRPr sz="2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Courier New"/>
              <a:buChar char="o"/>
            </a:pPr>
            <a:endParaRPr sz="3000">
              <a:latin typeface="Segoe UI"/>
              <a:cs typeface="Segoe UI"/>
            </a:endParaRPr>
          </a:p>
          <a:p>
            <a:pPr marL="408305" lvl="1" indent="-343535">
              <a:lnSpc>
                <a:spcPct val="100000"/>
              </a:lnSpc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000" b="1" spc="-90" dirty="0">
                <a:solidFill>
                  <a:srgbClr val="001F5F"/>
                </a:solidFill>
                <a:latin typeface="Segoe UI"/>
                <a:cs typeface="Segoe UI"/>
              </a:rPr>
              <a:t>To</a:t>
            </a:r>
            <a:r>
              <a:rPr sz="2000" b="1" spc="-1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Segoe UI"/>
                <a:cs typeface="Segoe UI"/>
              </a:rPr>
              <a:t>measure</a:t>
            </a:r>
            <a:r>
              <a:rPr sz="2000" b="1" spc="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Segoe UI"/>
                <a:cs typeface="Segoe UI"/>
              </a:rPr>
              <a:t>human</a:t>
            </a:r>
            <a:r>
              <a:rPr sz="2000" b="1" spc="-3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Segoe UI"/>
                <a:cs typeface="Segoe UI"/>
              </a:rPr>
              <a:t>body</a:t>
            </a:r>
            <a:r>
              <a:rPr sz="2000" b="1" spc="-2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Segoe UI"/>
                <a:cs typeface="Segoe UI"/>
              </a:rPr>
              <a:t>temperature</a:t>
            </a:r>
            <a:endParaRPr sz="20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har char=""/>
            </a:pPr>
            <a:endParaRPr sz="1800">
              <a:latin typeface="Segoe UI"/>
              <a:cs typeface="Segoe UI"/>
            </a:endParaRPr>
          </a:p>
          <a:p>
            <a:pPr marL="408305" lvl="1" indent="-343535">
              <a:lnSpc>
                <a:spcPct val="100000"/>
              </a:lnSpc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000" b="1" spc="-90" dirty="0">
                <a:solidFill>
                  <a:srgbClr val="00AF50"/>
                </a:solidFill>
                <a:latin typeface="Segoe UI"/>
                <a:cs typeface="Segoe UI"/>
              </a:rPr>
              <a:t>To</a:t>
            </a:r>
            <a:r>
              <a:rPr sz="2000" b="1" spc="-2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measure </a:t>
            </a:r>
            <a:r>
              <a:rPr sz="2000" b="1" dirty="0">
                <a:solidFill>
                  <a:srgbClr val="00AF50"/>
                </a:solidFill>
                <a:latin typeface="Segoe UI"/>
                <a:cs typeface="Segoe UI"/>
              </a:rPr>
              <a:t>atmospheric</a:t>
            </a:r>
            <a:r>
              <a:rPr sz="2000" b="1" spc="-5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temperature</a:t>
            </a:r>
            <a:endParaRPr sz="20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har char=""/>
            </a:pPr>
            <a:endParaRPr sz="1800">
              <a:latin typeface="Segoe UI"/>
              <a:cs typeface="Segoe UI"/>
            </a:endParaRPr>
          </a:p>
          <a:p>
            <a:pPr marL="408305" lvl="1" indent="-343535">
              <a:lnSpc>
                <a:spcPct val="100000"/>
              </a:lnSpc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000" b="1" spc="-20" dirty="0">
                <a:solidFill>
                  <a:srgbClr val="EC7C30"/>
                </a:solidFill>
                <a:latin typeface="Segoe UI"/>
                <a:cs typeface="Segoe UI"/>
              </a:rPr>
              <a:t>Temperature</a:t>
            </a:r>
            <a:r>
              <a:rPr sz="2000" b="1" spc="15" dirty="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EC7C30"/>
                </a:solidFill>
                <a:latin typeface="Segoe UI"/>
                <a:cs typeface="Segoe UI"/>
              </a:rPr>
              <a:t>measurement</a:t>
            </a:r>
            <a:r>
              <a:rPr sz="2000" b="1" spc="25" dirty="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EC7C30"/>
                </a:solidFill>
                <a:latin typeface="Segoe UI"/>
                <a:cs typeface="Segoe UI"/>
              </a:rPr>
              <a:t>for industrial</a:t>
            </a:r>
            <a:r>
              <a:rPr sz="2000" b="1" spc="-25" dirty="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EC7C30"/>
                </a:solidFill>
                <a:latin typeface="Segoe UI"/>
                <a:cs typeface="Segoe UI"/>
              </a:rPr>
              <a:t>applications</a:t>
            </a:r>
            <a:endParaRPr sz="20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har char=""/>
            </a:pPr>
            <a:endParaRPr sz="1800">
              <a:latin typeface="Segoe UI"/>
              <a:cs typeface="Segoe UI"/>
            </a:endParaRPr>
          </a:p>
          <a:p>
            <a:pPr marL="408305" lvl="1" indent="-343535">
              <a:lnSpc>
                <a:spcPct val="100000"/>
              </a:lnSpc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000" b="1" spc="-20" dirty="0">
                <a:solidFill>
                  <a:srgbClr val="00AFEF"/>
                </a:solidFill>
                <a:latin typeface="Segoe UI"/>
                <a:cs typeface="Segoe UI"/>
              </a:rPr>
              <a:t>Temperature</a:t>
            </a:r>
            <a:r>
              <a:rPr sz="2000" b="1" spc="15" dirty="0">
                <a:solidFill>
                  <a:srgbClr val="00AFE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Segoe UI"/>
                <a:cs typeface="Segoe UI"/>
              </a:rPr>
              <a:t>measurement</a:t>
            </a:r>
            <a:r>
              <a:rPr sz="2000" b="1" spc="20" dirty="0">
                <a:solidFill>
                  <a:srgbClr val="00AFE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Segoe UI"/>
                <a:cs typeface="Segoe UI"/>
              </a:rPr>
              <a:t>for</a:t>
            </a:r>
            <a:r>
              <a:rPr sz="2000" b="1" spc="-10" dirty="0">
                <a:solidFill>
                  <a:srgbClr val="00AFE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Segoe UI"/>
                <a:cs typeface="Segoe UI"/>
              </a:rPr>
              <a:t>air</a:t>
            </a:r>
            <a:r>
              <a:rPr sz="2000" b="1" spc="-10" dirty="0">
                <a:solidFill>
                  <a:srgbClr val="00AFE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Segoe UI"/>
                <a:cs typeface="Segoe UI"/>
              </a:rPr>
              <a:t>conditioners</a:t>
            </a:r>
            <a:endParaRPr sz="20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har char=""/>
            </a:pPr>
            <a:endParaRPr sz="1800">
              <a:latin typeface="Segoe UI"/>
              <a:cs typeface="Segoe UI"/>
            </a:endParaRPr>
          </a:p>
          <a:p>
            <a:pPr marL="408305" lvl="1" indent="-343535">
              <a:lnSpc>
                <a:spcPct val="100000"/>
              </a:lnSpc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000" b="1" spc="-20" dirty="0">
                <a:solidFill>
                  <a:srgbClr val="C00000"/>
                </a:solidFill>
                <a:latin typeface="Segoe UI"/>
                <a:cs typeface="Segoe UI"/>
              </a:rPr>
              <a:t>Temperature</a:t>
            </a:r>
            <a:r>
              <a:rPr sz="2000" b="1" spc="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Segoe UI"/>
                <a:cs typeface="Segoe UI"/>
              </a:rPr>
              <a:t>measurement</a:t>
            </a:r>
            <a:r>
              <a:rPr sz="2000" b="1" spc="1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Segoe UI"/>
                <a:cs typeface="Segoe UI"/>
              </a:rPr>
              <a:t>for</a:t>
            </a:r>
            <a:r>
              <a:rPr sz="2000" b="1" spc="-1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Segoe UI"/>
                <a:cs typeface="Segoe UI"/>
              </a:rPr>
              <a:t>refrigerator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0843" y="1530096"/>
            <a:ext cx="2127504" cy="1677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06868" y="1444752"/>
            <a:ext cx="1982724" cy="18577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43391" y="3376426"/>
            <a:ext cx="3623095" cy="83016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22464" y="4965191"/>
            <a:ext cx="2310383" cy="144322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9901173" y="4452873"/>
            <a:ext cx="2033905" cy="2332355"/>
            <a:chOff x="9901173" y="4452873"/>
            <a:chExt cx="2033905" cy="233235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44177" y="4552210"/>
              <a:ext cx="1869328" cy="223258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907523" y="4459223"/>
              <a:ext cx="2021205" cy="463550"/>
            </a:xfrm>
            <a:custGeom>
              <a:avLst/>
              <a:gdLst/>
              <a:ahLst/>
              <a:cxnLst/>
              <a:rect l="l" t="t" r="r" b="b"/>
              <a:pathLst>
                <a:path w="2021204" h="463550">
                  <a:moveTo>
                    <a:pt x="1943607" y="0"/>
                  </a:moveTo>
                  <a:lnTo>
                    <a:pt x="77216" y="0"/>
                  </a:lnTo>
                  <a:lnTo>
                    <a:pt x="47148" y="6064"/>
                  </a:lnTo>
                  <a:lnTo>
                    <a:pt x="22605" y="22606"/>
                  </a:lnTo>
                  <a:lnTo>
                    <a:pt x="6064" y="47148"/>
                  </a:lnTo>
                  <a:lnTo>
                    <a:pt x="0" y="77215"/>
                  </a:lnTo>
                  <a:lnTo>
                    <a:pt x="0" y="386080"/>
                  </a:lnTo>
                  <a:lnTo>
                    <a:pt x="6064" y="416147"/>
                  </a:lnTo>
                  <a:lnTo>
                    <a:pt x="22605" y="440689"/>
                  </a:lnTo>
                  <a:lnTo>
                    <a:pt x="47148" y="457231"/>
                  </a:lnTo>
                  <a:lnTo>
                    <a:pt x="77216" y="463295"/>
                  </a:lnTo>
                  <a:lnTo>
                    <a:pt x="1943607" y="463295"/>
                  </a:lnTo>
                  <a:lnTo>
                    <a:pt x="1973675" y="457231"/>
                  </a:lnTo>
                  <a:lnTo>
                    <a:pt x="1998218" y="440689"/>
                  </a:lnTo>
                  <a:lnTo>
                    <a:pt x="2014759" y="416147"/>
                  </a:lnTo>
                  <a:lnTo>
                    <a:pt x="2020824" y="386080"/>
                  </a:lnTo>
                  <a:lnTo>
                    <a:pt x="2020824" y="77215"/>
                  </a:lnTo>
                  <a:lnTo>
                    <a:pt x="2014759" y="47148"/>
                  </a:lnTo>
                  <a:lnTo>
                    <a:pt x="1998218" y="22606"/>
                  </a:lnTo>
                  <a:lnTo>
                    <a:pt x="1973675" y="6064"/>
                  </a:lnTo>
                  <a:lnTo>
                    <a:pt x="1943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07523" y="4459223"/>
              <a:ext cx="2021205" cy="463550"/>
            </a:xfrm>
            <a:custGeom>
              <a:avLst/>
              <a:gdLst/>
              <a:ahLst/>
              <a:cxnLst/>
              <a:rect l="l" t="t" r="r" b="b"/>
              <a:pathLst>
                <a:path w="2021204" h="463550">
                  <a:moveTo>
                    <a:pt x="0" y="77215"/>
                  </a:moveTo>
                  <a:lnTo>
                    <a:pt x="6064" y="47148"/>
                  </a:lnTo>
                  <a:lnTo>
                    <a:pt x="22605" y="22606"/>
                  </a:lnTo>
                  <a:lnTo>
                    <a:pt x="47148" y="6064"/>
                  </a:lnTo>
                  <a:lnTo>
                    <a:pt x="77216" y="0"/>
                  </a:lnTo>
                  <a:lnTo>
                    <a:pt x="1943607" y="0"/>
                  </a:lnTo>
                  <a:lnTo>
                    <a:pt x="1973675" y="6064"/>
                  </a:lnTo>
                  <a:lnTo>
                    <a:pt x="1998218" y="22606"/>
                  </a:lnTo>
                  <a:lnTo>
                    <a:pt x="2014759" y="47148"/>
                  </a:lnTo>
                  <a:lnTo>
                    <a:pt x="2020824" y="77215"/>
                  </a:lnTo>
                  <a:lnTo>
                    <a:pt x="2020824" y="386080"/>
                  </a:lnTo>
                  <a:lnTo>
                    <a:pt x="2014759" y="416147"/>
                  </a:lnTo>
                  <a:lnTo>
                    <a:pt x="1998218" y="440689"/>
                  </a:lnTo>
                  <a:lnTo>
                    <a:pt x="1973675" y="457231"/>
                  </a:lnTo>
                  <a:lnTo>
                    <a:pt x="1943607" y="463295"/>
                  </a:lnTo>
                  <a:lnTo>
                    <a:pt x="77216" y="463295"/>
                  </a:lnTo>
                  <a:lnTo>
                    <a:pt x="47148" y="457231"/>
                  </a:lnTo>
                  <a:lnTo>
                    <a:pt x="22605" y="440689"/>
                  </a:lnTo>
                  <a:lnTo>
                    <a:pt x="6064" y="416147"/>
                  </a:lnTo>
                  <a:lnTo>
                    <a:pt x="0" y="386080"/>
                  </a:lnTo>
                  <a:lnTo>
                    <a:pt x="0" y="772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5455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First</a:t>
            </a:r>
            <a:r>
              <a:rPr spc="-65" dirty="0"/>
              <a:t> </a:t>
            </a:r>
            <a:r>
              <a:rPr dirty="0"/>
              <a:t>law</a:t>
            </a:r>
            <a:r>
              <a:rPr spc="-50" dirty="0"/>
              <a:t> </a:t>
            </a:r>
            <a:r>
              <a:rPr spc="-45" dirty="0"/>
              <a:t>of</a:t>
            </a:r>
            <a:r>
              <a:rPr spc="-15" dirty="0"/>
              <a:t> </a:t>
            </a:r>
            <a:r>
              <a:rPr dirty="0"/>
              <a:t>Thermodynamics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2290572"/>
            <a:ext cx="3581400" cy="26151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3954" y="1668602"/>
            <a:ext cx="11804015" cy="2808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299720" algn="l"/>
              </a:tabLst>
            </a:pP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First law</a:t>
            </a:r>
            <a:r>
              <a:rPr sz="1800" b="1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of</a:t>
            </a:r>
            <a:r>
              <a:rPr sz="1800" b="1" spc="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thermodynamics</a:t>
            </a:r>
            <a:r>
              <a:rPr sz="1800" b="1" spc="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is </a:t>
            </a:r>
            <a:r>
              <a:rPr sz="1800" b="1" dirty="0">
                <a:solidFill>
                  <a:srgbClr val="00AF50"/>
                </a:solidFill>
                <a:latin typeface="Verdana"/>
                <a:cs typeface="Verdana"/>
              </a:rPr>
              <a:t>a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 statement</a:t>
            </a:r>
            <a:r>
              <a:rPr sz="1800" b="1" spc="1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of conversion</a:t>
            </a:r>
            <a:r>
              <a:rPr sz="1800" b="1" spc="3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of</a:t>
            </a:r>
            <a:r>
              <a:rPr sz="1800" b="1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energy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AF50"/>
              </a:buClr>
              <a:buFont typeface="Courier New"/>
              <a:buChar char="o"/>
            </a:pPr>
            <a:endParaRPr sz="1900">
              <a:latin typeface="Verdana"/>
              <a:cs typeface="Verdana"/>
            </a:endParaRPr>
          </a:p>
          <a:p>
            <a:pPr marL="4653280" marR="5080" lvl="1" indent="-342900" algn="just">
              <a:lnSpc>
                <a:spcPct val="100299"/>
              </a:lnSpc>
              <a:buFont typeface="Courier New"/>
              <a:buChar char="o"/>
              <a:tabLst>
                <a:tab pos="4653915" algn="l"/>
              </a:tabLst>
            </a:pPr>
            <a:r>
              <a:rPr sz="1800" b="1" spc="2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8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006FC0"/>
                </a:solidFill>
                <a:latin typeface="Arial"/>
                <a:cs typeface="Arial"/>
              </a:rPr>
              <a:t>first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90" dirty="0">
                <a:solidFill>
                  <a:srgbClr val="006FC0"/>
                </a:solidFill>
                <a:latin typeface="Arial"/>
                <a:cs typeface="Arial"/>
              </a:rPr>
              <a:t>law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45" dirty="0">
                <a:solidFill>
                  <a:srgbClr val="006FC0"/>
                </a:solidFill>
                <a:latin typeface="Arial"/>
                <a:cs typeface="Arial"/>
              </a:rPr>
              <a:t>states</a:t>
            </a:r>
            <a:r>
              <a:rPr sz="18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130" dirty="0">
                <a:solidFill>
                  <a:srgbClr val="006FC0"/>
                </a:solidFill>
                <a:latin typeface="Arial"/>
                <a:cs typeface="Arial"/>
              </a:rPr>
              <a:t>that</a:t>
            </a:r>
            <a:r>
              <a:rPr sz="1800" b="1" spc="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8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20" dirty="0">
                <a:solidFill>
                  <a:srgbClr val="EC7C30"/>
                </a:solidFill>
                <a:latin typeface="Arial"/>
                <a:cs typeface="Arial"/>
              </a:rPr>
              <a:t>change</a:t>
            </a:r>
            <a:r>
              <a:rPr sz="1800" b="1" spc="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EC7C30"/>
                </a:solidFill>
                <a:latin typeface="Arial"/>
                <a:cs typeface="Arial"/>
              </a:rPr>
              <a:t>in</a:t>
            </a:r>
            <a:r>
              <a:rPr sz="1800" b="1" spc="-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EC7C30"/>
                </a:solidFill>
                <a:latin typeface="Arial"/>
                <a:cs typeface="Arial"/>
              </a:rPr>
              <a:t>the</a:t>
            </a:r>
            <a:r>
              <a:rPr sz="1800" b="1" spc="1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EC7C30"/>
                </a:solidFill>
                <a:latin typeface="Arial"/>
                <a:cs typeface="Arial"/>
              </a:rPr>
              <a:t>internal</a:t>
            </a:r>
            <a:r>
              <a:rPr sz="1800" b="1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EC7C30"/>
                </a:solidFill>
                <a:latin typeface="Arial"/>
                <a:cs typeface="Arial"/>
              </a:rPr>
              <a:t>energy</a:t>
            </a:r>
            <a:r>
              <a:rPr sz="1800" b="1" spc="-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EC7C30"/>
                </a:solidFill>
                <a:latin typeface="Arial"/>
                <a:cs typeface="Arial"/>
              </a:rPr>
              <a:t>of</a:t>
            </a:r>
            <a:r>
              <a:rPr sz="1800" b="1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EC7C30"/>
                </a:solidFill>
                <a:latin typeface="Arial"/>
                <a:cs typeface="Arial"/>
              </a:rPr>
              <a:t>a </a:t>
            </a:r>
            <a:r>
              <a:rPr sz="1800" b="1" spc="-484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EC7C30"/>
                </a:solidFill>
                <a:latin typeface="Arial"/>
                <a:cs typeface="Arial"/>
              </a:rPr>
              <a:t>system 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1800" b="1" spc="65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1800" b="1" spc="9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1800" b="1" spc="10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1800" b="1" spc="50" dirty="0">
                <a:solidFill>
                  <a:srgbClr val="6F2F9F"/>
                </a:solidFill>
                <a:latin typeface="Arial"/>
                <a:cs typeface="Arial"/>
              </a:rPr>
              <a:t>sum </a:t>
            </a:r>
            <a:r>
              <a:rPr sz="1800" b="1" spc="55" dirty="0">
                <a:solidFill>
                  <a:srgbClr val="6F2F9F"/>
                </a:solidFill>
                <a:latin typeface="Arial"/>
                <a:cs typeface="Arial"/>
              </a:rPr>
              <a:t>of </a:t>
            </a:r>
            <a:r>
              <a:rPr sz="1800" b="1" spc="105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1" spc="100" dirty="0">
                <a:solidFill>
                  <a:srgbClr val="6F2F9F"/>
                </a:solidFill>
                <a:latin typeface="Arial"/>
                <a:cs typeface="Arial"/>
              </a:rPr>
              <a:t>heat </a:t>
            </a:r>
            <a:r>
              <a:rPr sz="1800" b="1" spc="40" dirty="0">
                <a:solidFill>
                  <a:srgbClr val="6F2F9F"/>
                </a:solidFill>
                <a:latin typeface="Arial"/>
                <a:cs typeface="Arial"/>
              </a:rPr>
              <a:t>gained </a:t>
            </a:r>
            <a:r>
              <a:rPr sz="1800" b="1" spc="65" dirty="0">
                <a:solidFill>
                  <a:srgbClr val="6F2F9F"/>
                </a:solidFill>
                <a:latin typeface="Arial"/>
                <a:cs typeface="Arial"/>
              </a:rPr>
              <a:t>or </a:t>
            </a:r>
            <a:r>
              <a:rPr sz="1800" b="1" spc="30" dirty="0">
                <a:solidFill>
                  <a:srgbClr val="6F2F9F"/>
                </a:solidFill>
                <a:latin typeface="Arial"/>
                <a:cs typeface="Arial"/>
              </a:rPr>
              <a:t>lost </a:t>
            </a:r>
            <a:r>
              <a:rPr sz="1800" b="1" spc="10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1800" b="1" spc="10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1800" b="1" spc="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6FC0"/>
                </a:solidFill>
                <a:latin typeface="Arial"/>
                <a:cs typeface="Arial"/>
              </a:rPr>
              <a:t>system</a:t>
            </a:r>
            <a:r>
              <a:rPr sz="1800" b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1800" b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95" dirty="0">
                <a:solidFill>
                  <a:srgbClr val="C00000"/>
                </a:solidFill>
                <a:latin typeface="Arial"/>
                <a:cs typeface="Arial"/>
              </a:rPr>
              <a:t>work</a:t>
            </a:r>
            <a:r>
              <a:rPr sz="18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50" dirty="0">
                <a:solidFill>
                  <a:srgbClr val="C00000"/>
                </a:solidFill>
                <a:latin typeface="Arial"/>
                <a:cs typeface="Arial"/>
              </a:rPr>
              <a:t>done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by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C00000"/>
                </a:solidFill>
                <a:latin typeface="Arial"/>
                <a:cs typeface="Arial"/>
              </a:rPr>
              <a:t>or</a:t>
            </a:r>
            <a:r>
              <a:rPr sz="18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45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C00000"/>
                </a:solidFill>
                <a:latin typeface="Arial"/>
                <a:cs typeface="Arial"/>
              </a:rPr>
              <a:t>system</a:t>
            </a:r>
            <a:r>
              <a:rPr sz="1800" b="1" spc="3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har char="o"/>
            </a:pPr>
            <a:endParaRPr sz="1900">
              <a:latin typeface="Arial"/>
              <a:cs typeface="Arial"/>
            </a:endParaRPr>
          </a:p>
          <a:p>
            <a:pPr marL="4596765" marR="5080" lvl="1" indent="-287020" algn="just">
              <a:lnSpc>
                <a:spcPct val="100200"/>
              </a:lnSpc>
              <a:buFont typeface="Courier New"/>
              <a:buChar char="o"/>
              <a:tabLst>
                <a:tab pos="4597400" algn="l"/>
              </a:tabLst>
            </a:pPr>
            <a:r>
              <a:rPr sz="1800" b="1" spc="135" dirty="0">
                <a:solidFill>
                  <a:srgbClr val="FF0000"/>
                </a:solidFill>
                <a:latin typeface="Arial"/>
                <a:cs typeface="Arial"/>
              </a:rPr>
              <a:t>It </a:t>
            </a:r>
            <a:r>
              <a:rPr sz="1800" b="1" spc="25" dirty="0">
                <a:solidFill>
                  <a:srgbClr val="FF0000"/>
                </a:solidFill>
                <a:latin typeface="Arial"/>
                <a:cs typeface="Arial"/>
              </a:rPr>
              <a:t>can 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also </a:t>
            </a:r>
            <a:r>
              <a:rPr sz="1800" b="1" spc="45" dirty="0">
                <a:solidFill>
                  <a:srgbClr val="FF0000"/>
                </a:solidFill>
                <a:latin typeface="Arial"/>
                <a:cs typeface="Arial"/>
              </a:rPr>
              <a:t>be </a:t>
            </a:r>
            <a:r>
              <a:rPr sz="1800" b="1" spc="70" dirty="0">
                <a:solidFill>
                  <a:srgbClr val="FF0000"/>
                </a:solidFill>
                <a:latin typeface="Arial"/>
                <a:cs typeface="Arial"/>
              </a:rPr>
              <a:t>stated </a:t>
            </a:r>
            <a:r>
              <a:rPr sz="1800" b="1" spc="20" dirty="0">
                <a:solidFill>
                  <a:srgbClr val="FF0000"/>
                </a:solidFill>
                <a:latin typeface="Arial"/>
                <a:cs typeface="Arial"/>
              </a:rPr>
              <a:t>this: 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1" spc="20" dirty="0">
                <a:solidFill>
                  <a:srgbClr val="6F2F9F"/>
                </a:solidFill>
                <a:latin typeface="Arial"/>
                <a:cs typeface="Arial"/>
              </a:rPr>
              <a:t>change </a:t>
            </a:r>
            <a:r>
              <a:rPr sz="1800" b="1" spc="60" dirty="0">
                <a:solidFill>
                  <a:srgbClr val="6F2F9F"/>
                </a:solidFill>
                <a:latin typeface="Arial"/>
                <a:cs typeface="Arial"/>
              </a:rPr>
              <a:t>in </a:t>
            </a:r>
            <a:r>
              <a:rPr sz="1800" b="1" spc="105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1" spc="85" dirty="0">
                <a:solidFill>
                  <a:srgbClr val="00AF50"/>
                </a:solidFill>
                <a:latin typeface="Arial"/>
                <a:cs typeface="Arial"/>
              </a:rPr>
              <a:t>internal </a:t>
            </a:r>
            <a:r>
              <a:rPr sz="1800" b="1" spc="35" dirty="0">
                <a:solidFill>
                  <a:srgbClr val="00AF50"/>
                </a:solidFill>
                <a:latin typeface="Arial"/>
                <a:cs typeface="Arial"/>
              </a:rPr>
              <a:t>energy </a:t>
            </a:r>
            <a:r>
              <a:rPr sz="1800" b="1" spc="40" dirty="0">
                <a:solidFill>
                  <a:srgbClr val="00AF50"/>
                </a:solidFill>
                <a:latin typeface="Arial"/>
                <a:cs typeface="Arial"/>
              </a:rPr>
              <a:t>of </a:t>
            </a:r>
            <a:r>
              <a:rPr sz="1800" b="1" spc="-4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AF50"/>
                </a:solidFill>
                <a:latin typeface="Arial"/>
                <a:cs typeface="Arial"/>
              </a:rPr>
              <a:t>a </a:t>
            </a:r>
            <a:r>
              <a:rPr sz="1800" b="1" spc="-10" dirty="0">
                <a:solidFill>
                  <a:srgbClr val="00AF50"/>
                </a:solidFill>
                <a:latin typeface="Arial"/>
                <a:cs typeface="Arial"/>
              </a:rPr>
              <a:t>closed </a:t>
            </a:r>
            <a:r>
              <a:rPr sz="1800" b="1" spc="70" dirty="0">
                <a:solidFill>
                  <a:srgbClr val="00AF50"/>
                </a:solidFill>
                <a:latin typeface="Arial"/>
                <a:cs typeface="Arial"/>
              </a:rPr>
              <a:t>thermodynamic </a:t>
            </a:r>
            <a:r>
              <a:rPr sz="1800" b="1" spc="30" dirty="0">
                <a:solidFill>
                  <a:srgbClr val="00AF50"/>
                </a:solidFill>
                <a:latin typeface="Arial"/>
                <a:cs typeface="Arial"/>
              </a:rPr>
              <a:t>system 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1800" b="1" spc="60" dirty="0">
                <a:solidFill>
                  <a:srgbClr val="6F2F9F"/>
                </a:solidFill>
                <a:latin typeface="Arial"/>
                <a:cs typeface="Arial"/>
              </a:rPr>
              <a:t>equal </a:t>
            </a:r>
            <a:r>
              <a:rPr sz="1800" b="1" spc="95" dirty="0">
                <a:solidFill>
                  <a:srgbClr val="6F2F9F"/>
                </a:solidFill>
                <a:latin typeface="Arial"/>
                <a:cs typeface="Arial"/>
              </a:rPr>
              <a:t>to </a:t>
            </a:r>
            <a:r>
              <a:rPr sz="1800" b="1" spc="105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1" spc="40" dirty="0">
                <a:solidFill>
                  <a:srgbClr val="001F5F"/>
                </a:solidFill>
                <a:latin typeface="Arial"/>
                <a:cs typeface="Arial"/>
              </a:rPr>
              <a:t>sum </a:t>
            </a:r>
            <a:r>
              <a:rPr sz="1800" b="1" spc="55" dirty="0">
                <a:solidFill>
                  <a:srgbClr val="001F5F"/>
                </a:solidFill>
                <a:latin typeface="Arial"/>
                <a:cs typeface="Arial"/>
              </a:rPr>
              <a:t>of </a:t>
            </a:r>
            <a:r>
              <a:rPr sz="1800" b="1" spc="105" dirty="0">
                <a:solidFill>
                  <a:srgbClr val="001F5F"/>
                </a:solidFill>
                <a:latin typeface="Arial"/>
                <a:cs typeface="Arial"/>
              </a:rPr>
              <a:t>the </a:t>
            </a:r>
            <a:r>
              <a:rPr sz="1800" b="1" spc="1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001F5F"/>
                </a:solidFill>
                <a:latin typeface="Arial"/>
                <a:cs typeface="Arial"/>
              </a:rPr>
              <a:t>amount</a:t>
            </a:r>
            <a:r>
              <a:rPr sz="1800" b="1" spc="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1800" b="1" spc="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001F5F"/>
                </a:solidFill>
                <a:latin typeface="Arial"/>
                <a:cs typeface="Arial"/>
              </a:rPr>
              <a:t>heat</a:t>
            </a:r>
            <a:r>
              <a:rPr sz="1800" b="1" spc="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001F5F"/>
                </a:solidFill>
                <a:latin typeface="Arial"/>
                <a:cs typeface="Arial"/>
              </a:rPr>
              <a:t>energy</a:t>
            </a:r>
            <a:r>
              <a:rPr sz="1800" b="1" spc="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1F5F"/>
                </a:solidFill>
                <a:latin typeface="Arial"/>
                <a:cs typeface="Arial"/>
              </a:rPr>
              <a:t>supplied</a:t>
            </a:r>
            <a:r>
              <a:rPr sz="1800" b="1" spc="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95" dirty="0">
                <a:solidFill>
                  <a:srgbClr val="001F5F"/>
                </a:solidFill>
                <a:latin typeface="Arial"/>
                <a:cs typeface="Arial"/>
              </a:rPr>
              <a:t>to</a:t>
            </a:r>
            <a:r>
              <a:rPr sz="1800" b="1" spc="10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001F5F"/>
                </a:solidFill>
                <a:latin typeface="Arial"/>
                <a:cs typeface="Arial"/>
              </a:rPr>
              <a:t>or</a:t>
            </a:r>
            <a:r>
              <a:rPr sz="1800" b="1" spc="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001F5F"/>
                </a:solidFill>
                <a:latin typeface="Arial"/>
                <a:cs typeface="Arial"/>
              </a:rPr>
              <a:t>removed</a:t>
            </a:r>
            <a:r>
              <a:rPr sz="1800" b="1" spc="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6F2F9F"/>
                </a:solidFill>
                <a:latin typeface="Arial"/>
                <a:cs typeface="Arial"/>
              </a:rPr>
              <a:t>from</a:t>
            </a:r>
            <a:r>
              <a:rPr sz="1800" b="1" spc="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1" spc="-4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6F2F9F"/>
                </a:solidFill>
                <a:latin typeface="Arial"/>
                <a:cs typeface="Arial"/>
              </a:rPr>
              <a:t>system</a:t>
            </a:r>
            <a:r>
              <a:rPr sz="1800" b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6F2F9F"/>
                </a:solidFill>
                <a:latin typeface="Arial"/>
                <a:cs typeface="Arial"/>
              </a:rPr>
              <a:t>and</a:t>
            </a:r>
            <a:r>
              <a:rPr sz="1800" b="1" spc="-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95" dirty="0">
                <a:solidFill>
                  <a:srgbClr val="D24625"/>
                </a:solidFill>
                <a:latin typeface="Arial"/>
                <a:cs typeface="Arial"/>
              </a:rPr>
              <a:t>work</a:t>
            </a:r>
            <a:r>
              <a:rPr sz="1800" b="1" spc="-65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50" dirty="0">
                <a:solidFill>
                  <a:srgbClr val="D24625"/>
                </a:solidFill>
                <a:latin typeface="Arial"/>
                <a:cs typeface="Arial"/>
              </a:rPr>
              <a:t>done</a:t>
            </a:r>
            <a:r>
              <a:rPr sz="1800" b="1" spc="-40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45" dirty="0">
                <a:solidFill>
                  <a:srgbClr val="D24625"/>
                </a:solidFill>
                <a:latin typeface="Arial"/>
                <a:cs typeface="Arial"/>
              </a:rPr>
              <a:t>on</a:t>
            </a:r>
            <a:r>
              <a:rPr sz="1800" b="1" spc="-40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D24625"/>
                </a:solidFill>
                <a:latin typeface="Arial"/>
                <a:cs typeface="Arial"/>
              </a:rPr>
              <a:t>or</a:t>
            </a:r>
            <a:r>
              <a:rPr sz="1800" b="1" spc="-45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D24625"/>
                </a:solidFill>
                <a:latin typeface="Arial"/>
                <a:cs typeface="Arial"/>
              </a:rPr>
              <a:t>by</a:t>
            </a:r>
            <a:r>
              <a:rPr sz="1800" b="1" spc="-40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D24625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D24625"/>
                </a:solidFill>
                <a:latin typeface="Arial"/>
                <a:cs typeface="Arial"/>
              </a:rPr>
              <a:t>system</a:t>
            </a:r>
            <a:r>
              <a:rPr sz="1800" b="1" spc="30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207889"/>
            <a:ext cx="10835005" cy="850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marR="5080" indent="-287020">
              <a:lnSpc>
                <a:spcPct val="100299"/>
              </a:lnSpc>
              <a:spcBef>
                <a:spcPts val="90"/>
              </a:spcBef>
            </a:pPr>
            <a:r>
              <a:rPr sz="1800" dirty="0">
                <a:solidFill>
                  <a:srgbClr val="001F5F"/>
                </a:solidFill>
                <a:latin typeface="Courier New"/>
                <a:cs typeface="Courier New"/>
              </a:rPr>
              <a:t>o</a:t>
            </a:r>
            <a:r>
              <a:rPr sz="1800" spc="110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800" b="1" spc="25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80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animation</a:t>
            </a:r>
            <a:r>
              <a:rPr sz="18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Arial"/>
                <a:cs typeface="Arial"/>
              </a:rPr>
              <a:t>shows</a:t>
            </a:r>
            <a:r>
              <a:rPr sz="18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45" dirty="0">
                <a:solidFill>
                  <a:srgbClr val="001F5F"/>
                </a:solidFill>
                <a:latin typeface="Arial"/>
                <a:cs typeface="Arial"/>
              </a:rPr>
              <a:t>typical</a:t>
            </a:r>
            <a:r>
              <a:rPr sz="18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70" dirty="0">
                <a:solidFill>
                  <a:srgbClr val="001F5F"/>
                </a:solidFill>
                <a:latin typeface="Arial"/>
                <a:cs typeface="Arial"/>
              </a:rPr>
              <a:t>thermodynamic</a:t>
            </a:r>
            <a:r>
              <a:rPr sz="18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1F5F"/>
                </a:solidFill>
                <a:latin typeface="Arial"/>
                <a:cs typeface="Arial"/>
              </a:rPr>
              <a:t>system,</a:t>
            </a:r>
            <a:r>
              <a:rPr sz="18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20" dirty="0">
                <a:solidFill>
                  <a:srgbClr val="001F5F"/>
                </a:solidFill>
                <a:latin typeface="Arial"/>
                <a:cs typeface="Arial"/>
              </a:rPr>
              <a:t>showing</a:t>
            </a:r>
            <a:r>
              <a:rPr sz="18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input</a:t>
            </a:r>
            <a:r>
              <a:rPr sz="18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from</a:t>
            </a:r>
            <a:r>
              <a:rPr sz="18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DD462E"/>
                </a:solidFill>
                <a:latin typeface="Arial"/>
                <a:cs typeface="Arial"/>
              </a:rPr>
              <a:t>heat</a:t>
            </a:r>
            <a:r>
              <a:rPr sz="1800" b="1" spc="-40" dirty="0">
                <a:solidFill>
                  <a:srgbClr val="DD462E"/>
                </a:solidFill>
                <a:latin typeface="Arial"/>
                <a:cs typeface="Arial"/>
              </a:rPr>
              <a:t> </a:t>
            </a:r>
            <a:r>
              <a:rPr sz="1800" b="1" spc="5" dirty="0">
                <a:solidFill>
                  <a:srgbClr val="DD462E"/>
                </a:solidFill>
                <a:latin typeface="Arial"/>
                <a:cs typeface="Arial"/>
              </a:rPr>
              <a:t>source</a:t>
            </a:r>
            <a:r>
              <a:rPr sz="1800" b="1" spc="-35" dirty="0">
                <a:solidFill>
                  <a:srgbClr val="DD462E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DD462E"/>
                </a:solidFill>
                <a:latin typeface="Arial"/>
                <a:cs typeface="Arial"/>
              </a:rPr>
              <a:t>on </a:t>
            </a:r>
            <a:r>
              <a:rPr sz="1800" b="1" spc="-484" dirty="0">
                <a:solidFill>
                  <a:srgbClr val="DD462E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DD462E"/>
                </a:solidFill>
                <a:latin typeface="Arial"/>
                <a:cs typeface="Arial"/>
              </a:rPr>
              <a:t>the </a:t>
            </a:r>
            <a:r>
              <a:rPr sz="1800" b="1" spc="95" dirty="0">
                <a:solidFill>
                  <a:srgbClr val="DD462E"/>
                </a:solidFill>
                <a:latin typeface="Arial"/>
                <a:cs typeface="Arial"/>
              </a:rPr>
              <a:t>left </a:t>
            </a:r>
            <a:r>
              <a:rPr sz="1800" b="1" spc="70" dirty="0">
                <a:solidFill>
                  <a:srgbClr val="001F5F"/>
                </a:solidFill>
                <a:latin typeface="Arial"/>
                <a:cs typeface="Arial"/>
              </a:rPr>
              <a:t>and </a:t>
            </a:r>
            <a:r>
              <a:rPr sz="1800" b="1" spc="95" dirty="0">
                <a:solidFill>
                  <a:srgbClr val="001F5F"/>
                </a:solidFill>
                <a:latin typeface="Arial"/>
                <a:cs typeface="Arial"/>
              </a:rPr>
              <a:t>output to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a </a:t>
            </a:r>
            <a:r>
              <a:rPr sz="1800" b="1" spc="100" dirty="0">
                <a:solidFill>
                  <a:srgbClr val="00AF50"/>
                </a:solidFill>
                <a:latin typeface="Arial"/>
                <a:cs typeface="Arial"/>
              </a:rPr>
              <a:t>heat </a:t>
            </a:r>
            <a:r>
              <a:rPr sz="1800" b="1" spc="35" dirty="0">
                <a:solidFill>
                  <a:srgbClr val="00AF50"/>
                </a:solidFill>
                <a:latin typeface="Arial"/>
                <a:cs typeface="Arial"/>
              </a:rPr>
              <a:t>sink </a:t>
            </a:r>
            <a:r>
              <a:rPr sz="1800" b="1" spc="45" dirty="0">
                <a:solidFill>
                  <a:srgbClr val="00AF50"/>
                </a:solidFill>
                <a:latin typeface="Arial"/>
                <a:cs typeface="Arial"/>
              </a:rPr>
              <a:t>on </a:t>
            </a:r>
            <a:r>
              <a:rPr sz="1800" b="1" spc="105" dirty="0">
                <a:solidFill>
                  <a:srgbClr val="00AF50"/>
                </a:solidFill>
                <a:latin typeface="Arial"/>
                <a:cs typeface="Arial"/>
              </a:rPr>
              <a:t>the </a:t>
            </a:r>
            <a:r>
              <a:rPr sz="1800" b="1" spc="55" dirty="0">
                <a:solidFill>
                  <a:srgbClr val="00AF50"/>
                </a:solidFill>
                <a:latin typeface="Arial"/>
                <a:cs typeface="Arial"/>
              </a:rPr>
              <a:t>right. </a:t>
            </a:r>
            <a:r>
              <a:rPr sz="1800" b="1" spc="55" dirty="0">
                <a:solidFill>
                  <a:srgbClr val="C00000"/>
                </a:solidFill>
                <a:latin typeface="Arial"/>
                <a:cs typeface="Arial"/>
              </a:rPr>
              <a:t>Work 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is </a:t>
            </a:r>
            <a:r>
              <a:rPr sz="1800" b="1" spc="60" dirty="0">
                <a:solidFill>
                  <a:srgbClr val="C00000"/>
                </a:solidFill>
                <a:latin typeface="Arial"/>
                <a:cs typeface="Arial"/>
              </a:rPr>
              <a:t>extracted</a:t>
            </a:r>
            <a:r>
              <a:rPr sz="1800" b="1" spc="60" dirty="0">
                <a:solidFill>
                  <a:srgbClr val="001F5F"/>
                </a:solidFill>
                <a:latin typeface="Arial"/>
                <a:cs typeface="Arial"/>
              </a:rPr>
              <a:t>, in </a:t>
            </a:r>
            <a:r>
              <a:rPr sz="1800" b="1" spc="50" dirty="0">
                <a:solidFill>
                  <a:srgbClr val="001F5F"/>
                </a:solidFill>
                <a:latin typeface="Arial"/>
                <a:cs typeface="Arial"/>
              </a:rPr>
              <a:t>this </a:t>
            </a:r>
            <a:r>
              <a:rPr sz="1800" b="1" spc="-10" dirty="0">
                <a:solidFill>
                  <a:srgbClr val="001F5F"/>
                </a:solidFill>
                <a:latin typeface="Arial"/>
                <a:cs typeface="Arial"/>
              </a:rPr>
              <a:t>case </a:t>
            </a:r>
            <a:r>
              <a:rPr sz="1800" b="1" spc="10" dirty="0">
                <a:solidFill>
                  <a:srgbClr val="001F5F"/>
                </a:solidFill>
                <a:latin typeface="Arial"/>
                <a:cs typeface="Arial"/>
              </a:rPr>
              <a:t>by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a </a:t>
            </a:r>
            <a:r>
              <a:rPr sz="1800" b="1" spc="10" dirty="0">
                <a:solidFill>
                  <a:srgbClr val="001F5F"/>
                </a:solidFill>
                <a:latin typeface="Arial"/>
                <a:cs typeface="Arial"/>
              </a:rPr>
              <a:t>series </a:t>
            </a:r>
            <a:r>
              <a:rPr sz="1800" b="1" spc="50" dirty="0">
                <a:solidFill>
                  <a:srgbClr val="001F5F"/>
                </a:solidFill>
                <a:latin typeface="Arial"/>
                <a:cs typeface="Arial"/>
              </a:rPr>
              <a:t>of </a:t>
            </a:r>
            <a:r>
              <a:rPr sz="1800" b="1" spc="-49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15" dirty="0">
                <a:solidFill>
                  <a:srgbClr val="001F5F"/>
                </a:solidFill>
                <a:latin typeface="Arial"/>
                <a:cs typeface="Arial"/>
              </a:rPr>
              <a:t>pistons.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8517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First</a:t>
            </a:r>
            <a:r>
              <a:rPr spc="-55" dirty="0"/>
              <a:t> </a:t>
            </a:r>
            <a:r>
              <a:rPr dirty="0"/>
              <a:t>law</a:t>
            </a:r>
            <a:r>
              <a:rPr spc="-40" dirty="0"/>
              <a:t> </a:t>
            </a:r>
            <a:r>
              <a:rPr spc="-45" dirty="0"/>
              <a:t>of</a:t>
            </a:r>
            <a:r>
              <a:rPr spc="-5" dirty="0"/>
              <a:t> </a:t>
            </a:r>
            <a:r>
              <a:rPr dirty="0"/>
              <a:t>Thermodynamics-Mathematically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640" y="1675257"/>
            <a:ext cx="11765915" cy="314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85" indent="-28702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337820" algn="l"/>
              </a:tabLst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Mathematical</a:t>
            </a:r>
            <a:r>
              <a:rPr sz="18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expression</a:t>
            </a:r>
            <a:endParaRPr sz="1800">
              <a:latin typeface="Times New Roman"/>
              <a:cs typeface="Times New Roman"/>
            </a:endParaRPr>
          </a:p>
          <a:p>
            <a:pPr marL="574675" marR="68580" lvl="1" indent="-287020">
              <a:lnSpc>
                <a:spcPct val="150000"/>
              </a:lnSpc>
              <a:spcBef>
                <a:spcPts val="1290"/>
              </a:spcBef>
              <a:buFont typeface="Wingdings"/>
              <a:buChar char=""/>
              <a:tabLst>
                <a:tab pos="575310" algn="l"/>
              </a:tabLst>
            </a:pPr>
            <a:r>
              <a:rPr sz="1800" dirty="0">
                <a:latin typeface="Times New Roman"/>
                <a:cs typeface="Times New Roman"/>
              </a:rPr>
              <a:t>Consider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thermodynamic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system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initially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have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internal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energy</a:t>
            </a:r>
            <a:r>
              <a:rPr sz="1800" b="1" spc="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</a:t>
            </a:r>
            <a:r>
              <a:rPr sz="1800" b="1" spc="-7" baseline="-20833" dirty="0">
                <a:latin typeface="Times New Roman"/>
                <a:cs typeface="Times New Roman"/>
              </a:rPr>
              <a:t>1</a:t>
            </a:r>
            <a:r>
              <a:rPr sz="1800" b="1" spc="7" baseline="-20833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absorbs</a:t>
            </a:r>
            <a:r>
              <a:rPr sz="1800" spc="-5" dirty="0">
                <a:latin typeface="Times New Roman"/>
                <a:cs typeface="Times New Roman"/>
              </a:rPr>
              <a:t>,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mbria Math"/>
                <a:cs typeface="Cambria Math"/>
              </a:rPr>
              <a:t>∆</a:t>
            </a:r>
            <a:r>
              <a:rPr sz="1800" b="1" dirty="0">
                <a:latin typeface="Times New Roman"/>
                <a:cs typeface="Times New Roman"/>
              </a:rPr>
              <a:t>Q</a:t>
            </a:r>
            <a:r>
              <a:rPr sz="1800" b="1" spc="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amount</a:t>
            </a:r>
            <a:r>
              <a:rPr sz="1800" b="1" spc="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heat</a:t>
            </a:r>
            <a:r>
              <a:rPr sz="1800" b="1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its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surroundings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performs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∆𝐖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amount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work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same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time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its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internal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energy</a:t>
            </a:r>
            <a:r>
              <a:rPr sz="1800" b="1" spc="-5" dirty="0">
                <a:latin typeface="Times New Roman"/>
                <a:cs typeface="Times New Roman"/>
              </a:rPr>
              <a:t> increases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</a:t>
            </a:r>
            <a:r>
              <a:rPr sz="1800" b="1" spc="-7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imes New Roman"/>
              <a:cs typeface="Times New Roman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according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first </a:t>
            </a:r>
            <a:r>
              <a:rPr sz="1800" dirty="0">
                <a:latin typeface="Times New Roman"/>
                <a:cs typeface="Times New Roman"/>
              </a:rPr>
              <a:t>law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thermodynamics:</a:t>
            </a:r>
            <a:endParaRPr sz="1800">
              <a:latin typeface="Times New Roman"/>
              <a:cs typeface="Times New Roman"/>
            </a:endParaRPr>
          </a:p>
          <a:p>
            <a:pPr marL="4767580">
              <a:lnSpc>
                <a:spcPct val="100000"/>
              </a:lnSpc>
              <a:spcBef>
                <a:spcPts val="1675"/>
              </a:spcBef>
            </a:pPr>
            <a:r>
              <a:rPr sz="1800" b="1" dirty="0">
                <a:latin typeface="Times New Roman"/>
                <a:cs typeface="Times New Roman"/>
              </a:rPr>
              <a:t>Heat</a:t>
            </a:r>
            <a:r>
              <a:rPr sz="1800" b="1" spc="-5" dirty="0">
                <a:latin typeface="Times New Roman"/>
                <a:cs typeface="Times New Roman"/>
              </a:rPr>
              <a:t> supplied </a:t>
            </a:r>
            <a:r>
              <a:rPr sz="1800" b="1" dirty="0">
                <a:latin typeface="Times New Roman"/>
                <a:cs typeface="Times New Roman"/>
              </a:rPr>
              <a:t>= </a:t>
            </a:r>
            <a:r>
              <a:rPr sz="1800" b="1" spc="-5" dirty="0">
                <a:latin typeface="Times New Roman"/>
                <a:cs typeface="Times New Roman"/>
              </a:rPr>
              <a:t>increase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internal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energy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+work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done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L="6344920">
              <a:lnSpc>
                <a:spcPct val="100000"/>
              </a:lnSpc>
            </a:pP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190" dirty="0">
                <a:latin typeface="Verdana"/>
                <a:cs typeface="Verdana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 </a:t>
            </a:r>
            <a:r>
              <a:rPr sz="1800" spc="10" dirty="0">
                <a:latin typeface="Symbol"/>
                <a:cs typeface="Symbol"/>
              </a:rPr>
              <a:t></a:t>
            </a:r>
            <a:r>
              <a:rPr sz="1800" dirty="0">
                <a:latin typeface="Symbol"/>
                <a:cs typeface="Symbol"/>
              </a:rPr>
              <a:t>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 </a:t>
            </a: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75931" y="4034028"/>
            <a:ext cx="76200" cy="454659"/>
          </a:xfrm>
          <a:custGeom>
            <a:avLst/>
            <a:gdLst/>
            <a:ahLst/>
            <a:cxnLst/>
            <a:rect l="l" t="t" r="r" b="b"/>
            <a:pathLst>
              <a:path w="76200" h="454660">
                <a:moveTo>
                  <a:pt x="31750" y="378460"/>
                </a:moveTo>
                <a:lnTo>
                  <a:pt x="0" y="378460"/>
                </a:lnTo>
                <a:lnTo>
                  <a:pt x="38100" y="454660"/>
                </a:lnTo>
                <a:lnTo>
                  <a:pt x="69850" y="391160"/>
                </a:lnTo>
                <a:lnTo>
                  <a:pt x="31750" y="391160"/>
                </a:lnTo>
                <a:lnTo>
                  <a:pt x="31750" y="378460"/>
                </a:lnTo>
                <a:close/>
              </a:path>
              <a:path w="76200" h="454660">
                <a:moveTo>
                  <a:pt x="44450" y="0"/>
                </a:moveTo>
                <a:lnTo>
                  <a:pt x="31750" y="0"/>
                </a:lnTo>
                <a:lnTo>
                  <a:pt x="31750" y="391160"/>
                </a:lnTo>
                <a:lnTo>
                  <a:pt x="44450" y="391160"/>
                </a:lnTo>
                <a:lnTo>
                  <a:pt x="44450" y="0"/>
                </a:lnTo>
                <a:close/>
              </a:path>
              <a:path w="76200" h="454660">
                <a:moveTo>
                  <a:pt x="76200" y="378460"/>
                </a:moveTo>
                <a:lnTo>
                  <a:pt x="44450" y="378460"/>
                </a:lnTo>
                <a:lnTo>
                  <a:pt x="44450" y="391160"/>
                </a:lnTo>
                <a:lnTo>
                  <a:pt x="69850" y="391160"/>
                </a:lnTo>
                <a:lnTo>
                  <a:pt x="76200" y="37846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16497" y="5235016"/>
            <a:ext cx="22948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195" dirty="0">
                <a:latin typeface="Verdana"/>
                <a:cs typeface="Verdana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Symbol"/>
                <a:cs typeface="Symbol"/>
              </a:rPr>
              <a:t></a:t>
            </a:r>
            <a:r>
              <a:rPr sz="1800" b="1" dirty="0">
                <a:latin typeface="Verdana"/>
                <a:cs typeface="Verdana"/>
              </a:rPr>
              <a:t>U</a:t>
            </a:r>
            <a:r>
              <a:rPr sz="1800" b="1" baseline="-20833" dirty="0">
                <a:latin typeface="Verdana"/>
                <a:cs typeface="Verdana"/>
              </a:rPr>
              <a:t>2</a:t>
            </a:r>
            <a:r>
              <a:rPr sz="1800" b="1" spc="277" baseline="-20833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-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U</a:t>
            </a:r>
            <a:r>
              <a:rPr sz="1800" b="1" spc="-7" baseline="-20833" dirty="0">
                <a:latin typeface="Verdana"/>
                <a:cs typeface="Verdana"/>
              </a:rPr>
              <a:t>1</a:t>
            </a:r>
            <a:r>
              <a:rPr sz="1800" dirty="0">
                <a:latin typeface="Symbol"/>
                <a:cs typeface="Symbol"/>
              </a:rPr>
              <a:t>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75932" y="4764151"/>
            <a:ext cx="1894205" cy="626745"/>
          </a:xfrm>
          <a:custGeom>
            <a:avLst/>
            <a:gdLst/>
            <a:ahLst/>
            <a:cxnLst/>
            <a:rect l="l" t="t" r="r" b="b"/>
            <a:pathLst>
              <a:path w="1894204" h="626745">
                <a:moveTo>
                  <a:pt x="76200" y="446913"/>
                </a:moveTo>
                <a:lnTo>
                  <a:pt x="44450" y="446913"/>
                </a:lnTo>
                <a:lnTo>
                  <a:pt x="44450" y="68453"/>
                </a:lnTo>
                <a:lnTo>
                  <a:pt x="31750" y="68453"/>
                </a:lnTo>
                <a:lnTo>
                  <a:pt x="31750" y="446913"/>
                </a:lnTo>
                <a:lnTo>
                  <a:pt x="0" y="446913"/>
                </a:lnTo>
                <a:lnTo>
                  <a:pt x="38100" y="523113"/>
                </a:lnTo>
                <a:lnTo>
                  <a:pt x="69850" y="459613"/>
                </a:lnTo>
                <a:lnTo>
                  <a:pt x="76200" y="446913"/>
                </a:lnTo>
                <a:close/>
              </a:path>
              <a:path w="1894204" h="626745">
                <a:moveTo>
                  <a:pt x="1893824" y="615315"/>
                </a:moveTo>
                <a:lnTo>
                  <a:pt x="1879485" y="600710"/>
                </a:lnTo>
                <a:lnTo>
                  <a:pt x="1834134" y="554482"/>
                </a:lnTo>
                <a:lnTo>
                  <a:pt x="1823872" y="584517"/>
                </a:lnTo>
                <a:lnTo>
                  <a:pt x="120904" y="0"/>
                </a:lnTo>
                <a:lnTo>
                  <a:pt x="116840" y="11938"/>
                </a:lnTo>
                <a:lnTo>
                  <a:pt x="1819744" y="596607"/>
                </a:lnTo>
                <a:lnTo>
                  <a:pt x="1809496" y="626618"/>
                </a:lnTo>
                <a:lnTo>
                  <a:pt x="1893824" y="61531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36309" y="6001308"/>
            <a:ext cx="2395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190" dirty="0">
                <a:latin typeface="Verdana"/>
                <a:cs typeface="Verdana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Symbol"/>
                <a:cs typeface="Symbol"/>
              </a:rPr>
              <a:t></a:t>
            </a:r>
            <a:r>
              <a:rPr sz="1800" b="1" dirty="0">
                <a:latin typeface="Verdana"/>
                <a:cs typeface="Verdana"/>
              </a:rPr>
              <a:t>U</a:t>
            </a:r>
            <a:r>
              <a:rPr sz="1800" b="1" baseline="-20833" dirty="0">
                <a:latin typeface="Verdana"/>
                <a:cs typeface="Verdana"/>
              </a:rPr>
              <a:t>2</a:t>
            </a:r>
            <a:r>
              <a:rPr sz="1800" b="1" spc="277" baseline="-20833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-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U</a:t>
            </a:r>
            <a:r>
              <a:rPr sz="1800" b="1" spc="-7" baseline="-20833" dirty="0">
                <a:latin typeface="Verdana"/>
                <a:cs typeface="Verdana"/>
              </a:rPr>
              <a:t>1</a:t>
            </a:r>
            <a:r>
              <a:rPr sz="1800" dirty="0">
                <a:latin typeface="Symbol"/>
                <a:cs typeface="Symbol"/>
              </a:rPr>
              <a:t>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75931" y="5574791"/>
            <a:ext cx="76200" cy="454659"/>
          </a:xfrm>
          <a:custGeom>
            <a:avLst/>
            <a:gdLst/>
            <a:ahLst/>
            <a:cxnLst/>
            <a:rect l="l" t="t" r="r" b="b"/>
            <a:pathLst>
              <a:path w="76200" h="454660">
                <a:moveTo>
                  <a:pt x="31750" y="378409"/>
                </a:moveTo>
                <a:lnTo>
                  <a:pt x="0" y="378409"/>
                </a:lnTo>
                <a:lnTo>
                  <a:pt x="38100" y="454609"/>
                </a:lnTo>
                <a:lnTo>
                  <a:pt x="69850" y="391109"/>
                </a:lnTo>
                <a:lnTo>
                  <a:pt x="31750" y="391109"/>
                </a:lnTo>
                <a:lnTo>
                  <a:pt x="31750" y="378409"/>
                </a:lnTo>
                <a:close/>
              </a:path>
              <a:path w="76200" h="454660">
                <a:moveTo>
                  <a:pt x="44450" y="0"/>
                </a:moveTo>
                <a:lnTo>
                  <a:pt x="31750" y="0"/>
                </a:lnTo>
                <a:lnTo>
                  <a:pt x="31750" y="391109"/>
                </a:lnTo>
                <a:lnTo>
                  <a:pt x="44450" y="391109"/>
                </a:lnTo>
                <a:lnTo>
                  <a:pt x="44450" y="0"/>
                </a:lnTo>
                <a:close/>
              </a:path>
              <a:path w="76200" h="454660">
                <a:moveTo>
                  <a:pt x="76200" y="378409"/>
                </a:moveTo>
                <a:lnTo>
                  <a:pt x="44450" y="378409"/>
                </a:lnTo>
                <a:lnTo>
                  <a:pt x="44450" y="391109"/>
                </a:lnTo>
                <a:lnTo>
                  <a:pt x="69850" y="391109"/>
                </a:lnTo>
                <a:lnTo>
                  <a:pt x="76200" y="37840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972042" y="5222189"/>
            <a:ext cx="1299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Symbol"/>
                <a:cs typeface="Symbol"/>
              </a:rPr>
              <a:t></a:t>
            </a:r>
            <a:r>
              <a:rPr sz="1800" b="1" spc="5" dirty="0">
                <a:latin typeface="Times New Roman"/>
                <a:cs typeface="Times New Roman"/>
              </a:rPr>
              <a:t>U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U</a:t>
            </a:r>
            <a:r>
              <a:rPr sz="1800" b="1" spc="-7" baseline="-20833" dirty="0">
                <a:latin typeface="Times New Roman"/>
                <a:cs typeface="Times New Roman"/>
              </a:rPr>
              <a:t>2</a:t>
            </a:r>
            <a:r>
              <a:rPr sz="1800" b="1" spc="202" baseline="-20833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-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U</a:t>
            </a:r>
            <a:r>
              <a:rPr sz="1800" b="1" spc="-7" baseline="-20833" dirty="0">
                <a:latin typeface="Times New Roman"/>
                <a:cs typeface="Times New Roman"/>
              </a:rPr>
              <a:t>1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26728" y="6001308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W</a:t>
            </a:r>
            <a:r>
              <a:rPr sz="1800" b="1" spc="-185" dirty="0">
                <a:latin typeface="Verdana"/>
                <a:cs typeface="Verdana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78851" y="5569203"/>
            <a:ext cx="1038860" cy="546735"/>
          </a:xfrm>
          <a:custGeom>
            <a:avLst/>
            <a:gdLst/>
            <a:ahLst/>
            <a:cxnLst/>
            <a:rect l="l" t="t" r="r" b="b"/>
            <a:pathLst>
              <a:path w="1038859" h="546735">
                <a:moveTo>
                  <a:pt x="967860" y="516559"/>
                </a:moveTo>
                <a:lnTo>
                  <a:pt x="953134" y="544728"/>
                </a:lnTo>
                <a:lnTo>
                  <a:pt x="1038351" y="546227"/>
                </a:lnTo>
                <a:lnTo>
                  <a:pt x="1021173" y="522465"/>
                </a:lnTo>
                <a:lnTo>
                  <a:pt x="979170" y="522465"/>
                </a:lnTo>
                <a:lnTo>
                  <a:pt x="967860" y="516559"/>
                </a:lnTo>
                <a:close/>
              </a:path>
              <a:path w="1038859" h="546735">
                <a:moveTo>
                  <a:pt x="973733" y="505324"/>
                </a:moveTo>
                <a:lnTo>
                  <a:pt x="967860" y="516559"/>
                </a:lnTo>
                <a:lnTo>
                  <a:pt x="979170" y="522465"/>
                </a:lnTo>
                <a:lnTo>
                  <a:pt x="985012" y="511213"/>
                </a:lnTo>
                <a:lnTo>
                  <a:pt x="973733" y="505324"/>
                </a:lnTo>
                <a:close/>
              </a:path>
              <a:path w="1038859" h="546735">
                <a:moveTo>
                  <a:pt x="988441" y="477189"/>
                </a:moveTo>
                <a:lnTo>
                  <a:pt x="973733" y="505324"/>
                </a:lnTo>
                <a:lnTo>
                  <a:pt x="985012" y="511213"/>
                </a:lnTo>
                <a:lnTo>
                  <a:pt x="979170" y="522465"/>
                </a:lnTo>
                <a:lnTo>
                  <a:pt x="1021173" y="522465"/>
                </a:lnTo>
                <a:lnTo>
                  <a:pt x="988441" y="477189"/>
                </a:lnTo>
                <a:close/>
              </a:path>
              <a:path w="1038859" h="546735">
                <a:moveTo>
                  <a:pt x="5842" y="0"/>
                </a:moveTo>
                <a:lnTo>
                  <a:pt x="0" y="11176"/>
                </a:lnTo>
                <a:lnTo>
                  <a:pt x="967860" y="516559"/>
                </a:lnTo>
                <a:lnTo>
                  <a:pt x="973733" y="505324"/>
                </a:lnTo>
                <a:lnTo>
                  <a:pt x="584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483" y="4245864"/>
            <a:ext cx="5006340" cy="21838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7245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First</a:t>
            </a:r>
            <a:r>
              <a:rPr spc="-60" dirty="0"/>
              <a:t> </a:t>
            </a:r>
            <a:r>
              <a:rPr dirty="0"/>
              <a:t>law</a:t>
            </a:r>
            <a:r>
              <a:rPr spc="-45" dirty="0"/>
              <a:t> of</a:t>
            </a:r>
            <a:r>
              <a:rPr spc="-10" dirty="0"/>
              <a:t> </a:t>
            </a:r>
            <a:r>
              <a:rPr dirty="0"/>
              <a:t>Thermodynamics-Example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6951" y="1733169"/>
            <a:ext cx="8020684" cy="233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AF50"/>
                </a:solidFill>
                <a:latin typeface="Courier New"/>
                <a:cs typeface="Courier New"/>
              </a:rPr>
              <a:t>o</a:t>
            </a:r>
            <a:r>
              <a:rPr sz="1800" spc="9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What</a:t>
            </a:r>
            <a:r>
              <a:rPr sz="18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an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 example of</a:t>
            </a:r>
            <a:r>
              <a:rPr sz="18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 first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law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 of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thermodynamics?</a:t>
            </a:r>
            <a:endParaRPr sz="1800">
              <a:latin typeface="Times New Roman"/>
              <a:cs typeface="Times New Roman"/>
            </a:endParaRPr>
          </a:p>
          <a:p>
            <a:pPr marL="328295" marR="5080" indent="-287020" algn="just">
              <a:lnSpc>
                <a:spcPct val="150000"/>
              </a:lnSpc>
              <a:spcBef>
                <a:spcPts val="1500"/>
              </a:spcBef>
              <a:buFont typeface="Wingdings"/>
              <a:buChar char=""/>
              <a:tabLst>
                <a:tab pos="328930" algn="l"/>
              </a:tabLst>
            </a:pP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A bicycle pump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provides a good example. when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we pump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on the handle </a:t>
            </a:r>
            <a:r>
              <a:rPr sz="1800" spc="-20" dirty="0">
                <a:solidFill>
                  <a:srgbClr val="001F5F"/>
                </a:solidFill>
                <a:latin typeface="Times New Roman"/>
                <a:cs typeface="Times New Roman"/>
              </a:rPr>
              <a:t>rapidly, 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it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 becomes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hot due to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mechanical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work done on the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gas, raising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they're 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by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its internal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01F5F"/>
                </a:solidFill>
                <a:latin typeface="Times New Roman"/>
                <a:cs typeface="Times New Roman"/>
              </a:rPr>
              <a:t>energy.</a:t>
            </a:r>
            <a:r>
              <a:rPr sz="18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one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such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simple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 arrangement is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shown</a:t>
            </a:r>
            <a:r>
              <a:rPr sz="1800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in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figure.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Times New Roman"/>
              <a:cs typeface="Times New Roman"/>
            </a:endParaRPr>
          </a:p>
          <a:p>
            <a:pPr marL="403225">
              <a:lnSpc>
                <a:spcPct val="100000"/>
              </a:lnSpc>
              <a:spcBef>
                <a:spcPts val="5"/>
              </a:spcBef>
            </a:pPr>
            <a:r>
              <a:rPr sz="24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Try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find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out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 another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example!!!!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376" y="3234720"/>
            <a:ext cx="2141220" cy="30472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6951" y="4758690"/>
            <a:ext cx="78136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The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first</a:t>
            </a:r>
            <a:r>
              <a:rPr sz="1800" b="1" spc="-1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law</a:t>
            </a:r>
            <a:r>
              <a:rPr sz="1800" b="1" spc="-1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can</a:t>
            </a:r>
            <a:r>
              <a:rPr sz="1800" b="1" spc="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be</a:t>
            </a:r>
            <a:r>
              <a:rPr sz="1800" b="1" spc="-1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Segoe UI"/>
                <a:cs typeface="Segoe UI"/>
              </a:rPr>
              <a:t>extended</a:t>
            </a:r>
            <a:r>
              <a:rPr sz="1800" b="1" spc="2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Segoe UI"/>
                <a:cs typeface="Segoe UI"/>
              </a:rPr>
              <a:t>to</a:t>
            </a:r>
            <a:r>
              <a:rPr sz="1800" b="1" spc="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include</a:t>
            </a:r>
            <a:r>
              <a:rPr sz="1800" b="1" spc="-2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changes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 in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mechanical</a:t>
            </a:r>
            <a:r>
              <a:rPr sz="1800" b="1" spc="-1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energy</a:t>
            </a:r>
            <a:r>
              <a:rPr sz="1800" b="1" spc="-1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=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kinetic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energy</a:t>
            </a:r>
            <a:r>
              <a:rPr sz="1800" b="1" spc="-2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K +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 potential</a:t>
            </a:r>
            <a:r>
              <a:rPr sz="1800" b="1" spc="-2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energy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 U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42160" y="5599176"/>
            <a:ext cx="3172967" cy="3078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7245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First</a:t>
            </a:r>
            <a:r>
              <a:rPr spc="-60" dirty="0"/>
              <a:t> </a:t>
            </a:r>
            <a:r>
              <a:rPr dirty="0"/>
              <a:t>law</a:t>
            </a:r>
            <a:r>
              <a:rPr spc="-45" dirty="0"/>
              <a:t> of</a:t>
            </a:r>
            <a:r>
              <a:rPr spc="-10" dirty="0"/>
              <a:t> </a:t>
            </a:r>
            <a:r>
              <a:rPr dirty="0"/>
              <a:t>Thermodynamics-Example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7115" y="1671320"/>
            <a:ext cx="5205095" cy="293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0" marR="1213485" indent="-2870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Courier New"/>
                <a:cs typeface="Courier New"/>
              </a:rPr>
              <a:t>o</a:t>
            </a:r>
            <a:r>
              <a:rPr sz="2400" spc="-6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Lim</a:t>
            </a:r>
            <a:r>
              <a:rPr sz="24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ta</a:t>
            </a:r>
            <a:r>
              <a:rPr sz="24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ions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first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law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  thermodynamics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00">
              <a:latin typeface="Times New Roman"/>
              <a:cs typeface="Times New Roman"/>
            </a:endParaRPr>
          </a:p>
          <a:p>
            <a:pPr marL="406400" marR="198755" indent="-287020" algn="just">
              <a:lnSpc>
                <a:spcPct val="100000"/>
              </a:lnSpc>
              <a:buFont typeface="Wingdings"/>
              <a:buChar char=""/>
              <a:tabLst>
                <a:tab pos="407034" algn="l"/>
              </a:tabLst>
            </a:pP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limitation of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first </a:t>
            </a:r>
            <a:r>
              <a:rPr sz="1600" spc="-5" dirty="0">
                <a:latin typeface="Times New Roman"/>
                <a:cs typeface="Times New Roman"/>
              </a:rPr>
              <a:t>law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thermodynamics is that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 does </a:t>
            </a:r>
            <a:r>
              <a:rPr sz="1600" dirty="0">
                <a:latin typeface="Times New Roman"/>
                <a:cs typeface="Times New Roman"/>
              </a:rPr>
              <a:t>not say </a:t>
            </a:r>
            <a:r>
              <a:rPr sz="1600" spc="-5" dirty="0">
                <a:latin typeface="Times New Roman"/>
                <a:cs typeface="Times New Roman"/>
              </a:rPr>
              <a:t>anything about the direction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flow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heat.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1175"/>
              </a:spcBef>
              <a:buFont typeface="Wingdings"/>
              <a:buChar char=""/>
              <a:tabLst>
                <a:tab pos="299085" algn="l"/>
                <a:tab pos="299720" algn="l"/>
                <a:tab pos="579120" algn="l"/>
                <a:tab pos="1108075" algn="l"/>
                <a:tab pos="1525905" algn="l"/>
                <a:tab pos="1953895" algn="l"/>
                <a:tab pos="2822575" algn="l"/>
                <a:tab pos="3635375" algn="l"/>
                <a:tab pos="4040504" algn="l"/>
                <a:tab pos="4808855" algn="l"/>
                <a:tab pos="5101590" algn="l"/>
              </a:tabLst>
            </a:pPr>
            <a:r>
              <a:rPr sz="1600" spc="-10" dirty="0">
                <a:latin typeface="Times New Roman"/>
                <a:cs typeface="Times New Roman"/>
              </a:rPr>
              <a:t>I</a:t>
            </a:r>
            <a:r>
              <a:rPr sz="1600" spc="-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does</a:t>
            </a:r>
            <a:r>
              <a:rPr sz="1600" dirty="0">
                <a:latin typeface="Times New Roman"/>
                <a:cs typeface="Times New Roman"/>
              </a:rPr>
              <a:t>	no</a:t>
            </a:r>
            <a:r>
              <a:rPr sz="1600" spc="-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spc="5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y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anything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whet</a:t>
            </a:r>
            <a:r>
              <a:rPr sz="1600" spc="10" dirty="0">
                <a:latin typeface="Times New Roman"/>
                <a:cs typeface="Times New Roman"/>
              </a:rPr>
              <a:t>h</a:t>
            </a:r>
            <a:r>
              <a:rPr sz="1600" spc="-5" dirty="0">
                <a:latin typeface="Times New Roman"/>
                <a:cs typeface="Times New Roman"/>
              </a:rPr>
              <a:t>er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pro</a:t>
            </a:r>
            <a:r>
              <a:rPr sz="1600" spc="5" dirty="0">
                <a:latin typeface="Times New Roman"/>
                <a:cs typeface="Times New Roman"/>
              </a:rPr>
              <a:t>c</a:t>
            </a:r>
            <a:r>
              <a:rPr sz="1600" spc="-5" dirty="0">
                <a:latin typeface="Times New Roman"/>
                <a:cs typeface="Times New Roman"/>
              </a:rPr>
              <a:t>ess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5" dirty="0">
                <a:latin typeface="Times New Roman"/>
                <a:cs typeface="Times New Roman"/>
              </a:rPr>
              <a:t>i</a:t>
            </a: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a  spontaneous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process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5" dirty="0">
                <a:latin typeface="Times New Roman"/>
                <a:cs typeface="Times New Roman"/>
              </a:rPr>
              <a:t>not.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115" y="5237733"/>
            <a:ext cx="501205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reverse process </a:t>
            </a:r>
            <a:r>
              <a:rPr sz="1600" spc="-5" dirty="0">
                <a:latin typeface="Times New Roman"/>
                <a:cs typeface="Times New Roman"/>
              </a:rPr>
              <a:t>is </a:t>
            </a:r>
            <a:r>
              <a:rPr sz="1600" dirty="0">
                <a:latin typeface="Times New Roman"/>
                <a:cs typeface="Times New Roman"/>
              </a:rPr>
              <a:t>not possible. In </a:t>
            </a:r>
            <a:r>
              <a:rPr sz="1600" spc="-5" dirty="0">
                <a:latin typeface="Times New Roman"/>
                <a:cs typeface="Times New Roman"/>
              </a:rPr>
              <a:t>actual </a:t>
            </a:r>
            <a:r>
              <a:rPr sz="1600" dirty="0">
                <a:latin typeface="Times New Roman"/>
                <a:cs typeface="Times New Roman"/>
              </a:rPr>
              <a:t>practice, 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heat doesn’t convert </a:t>
            </a:r>
            <a:r>
              <a:rPr sz="1600" dirty="0">
                <a:latin typeface="Times New Roman"/>
                <a:cs typeface="Times New Roman"/>
              </a:rPr>
              <a:t>completely into </a:t>
            </a:r>
            <a:r>
              <a:rPr sz="1600" spc="-5" dirty="0">
                <a:latin typeface="Times New Roman"/>
                <a:cs typeface="Times New Roman"/>
              </a:rPr>
              <a:t>work. If </a:t>
            </a:r>
            <a:r>
              <a:rPr sz="1600" dirty="0">
                <a:latin typeface="Times New Roman"/>
                <a:cs typeface="Times New Roman"/>
              </a:rPr>
              <a:t>it would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have been possible to convert the whole heat into </a:t>
            </a:r>
            <a:r>
              <a:rPr sz="1600" dirty="0">
                <a:latin typeface="Times New Roman"/>
                <a:cs typeface="Times New Roman"/>
              </a:rPr>
              <a:t>work,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 we could </a:t>
            </a:r>
            <a:r>
              <a:rPr sz="1600" dirty="0">
                <a:latin typeface="Times New Roman"/>
                <a:cs typeface="Times New Roman"/>
              </a:rPr>
              <a:t>drive </a:t>
            </a:r>
            <a:r>
              <a:rPr sz="1600" spc="-5" dirty="0">
                <a:latin typeface="Times New Roman"/>
                <a:cs typeface="Times New Roman"/>
              </a:rPr>
              <a:t>ships across the ocean </a:t>
            </a:r>
            <a:r>
              <a:rPr sz="1600" dirty="0">
                <a:latin typeface="Times New Roman"/>
                <a:cs typeface="Times New Roman"/>
              </a:rPr>
              <a:t>by extracting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heat</a:t>
            </a:r>
            <a:r>
              <a:rPr sz="1600" dirty="0">
                <a:latin typeface="Times New Roman"/>
                <a:cs typeface="Times New Roman"/>
              </a:rPr>
              <a:t> from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water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ocean.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954" y="589915"/>
            <a:ext cx="2306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Segoe UI Light"/>
                <a:cs typeface="Segoe UI Light"/>
              </a:rPr>
              <a:t>C</a:t>
            </a:r>
            <a:r>
              <a:rPr sz="3600" spc="10" dirty="0">
                <a:solidFill>
                  <a:srgbClr val="FFFFFF"/>
                </a:solidFill>
                <a:latin typeface="Segoe UI Light"/>
                <a:cs typeface="Segoe UI Light"/>
              </a:rPr>
              <a:t>on</a:t>
            </a:r>
            <a:r>
              <a:rPr sz="3600" dirty="0">
                <a:solidFill>
                  <a:srgbClr val="FFFFFF"/>
                </a:solidFill>
                <a:latin typeface="Segoe UI Light"/>
                <a:cs typeface="Segoe UI Light"/>
              </a:rPr>
              <a:t>clus</a:t>
            </a:r>
            <a:r>
              <a:rPr sz="3600" spc="5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3600" spc="-5" dirty="0">
                <a:solidFill>
                  <a:srgbClr val="FFFFFF"/>
                </a:solidFill>
                <a:latin typeface="Segoe UI Light"/>
                <a:cs typeface="Segoe UI Light"/>
              </a:rPr>
              <a:t>ons</a:t>
            </a:r>
            <a:endParaRPr sz="3600">
              <a:latin typeface="Segoe UI Light"/>
              <a:cs typeface="Segoe U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366259" y="3200400"/>
            <a:ext cx="3608070" cy="1271905"/>
            <a:chOff x="4366259" y="3200400"/>
            <a:chExt cx="3608070" cy="12719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207" y="3677388"/>
              <a:ext cx="63865" cy="2137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40046" y="3200400"/>
              <a:ext cx="333248" cy="4800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6259" y="3672840"/>
              <a:ext cx="1224534" cy="7993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4879" y="3672840"/>
              <a:ext cx="1184910" cy="7993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03875" y="3672840"/>
              <a:ext cx="1224534" cy="7993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92495" y="3672840"/>
              <a:ext cx="1177290" cy="7993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18275" y="3672840"/>
              <a:ext cx="1165098" cy="79933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47459" y="3672840"/>
              <a:ext cx="1238249" cy="79933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49795" y="3672840"/>
              <a:ext cx="1224533" cy="79933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773929" y="2982544"/>
            <a:ext cx="27978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0000"/>
                </a:solidFill>
                <a:latin typeface="Segoe UI"/>
                <a:cs typeface="Segoe UI"/>
              </a:rPr>
              <a:t>h</a:t>
            </a:r>
            <a:r>
              <a:rPr sz="5400" dirty="0">
                <a:solidFill>
                  <a:srgbClr val="00AF50"/>
                </a:solidFill>
                <a:latin typeface="Segoe UI"/>
                <a:cs typeface="Segoe UI"/>
              </a:rPr>
              <a:t>a</a:t>
            </a:r>
            <a:r>
              <a:rPr sz="5400" dirty="0">
                <a:solidFill>
                  <a:srgbClr val="FFC000"/>
                </a:solidFill>
                <a:latin typeface="Segoe UI"/>
                <a:cs typeface="Segoe UI"/>
              </a:rPr>
              <a:t>n</a:t>
            </a:r>
            <a:r>
              <a:rPr sz="5400" dirty="0">
                <a:solidFill>
                  <a:srgbClr val="6F2F9F"/>
                </a:solidFill>
                <a:latin typeface="Segoe UI"/>
                <a:cs typeface="Segoe UI"/>
              </a:rPr>
              <a:t>k</a:t>
            </a:r>
            <a:r>
              <a:rPr sz="5400" spc="-105" dirty="0">
                <a:solidFill>
                  <a:srgbClr val="6F2F9F"/>
                </a:solidFill>
                <a:latin typeface="Segoe UI"/>
                <a:cs typeface="Segoe UI"/>
              </a:rPr>
              <a:t> </a:t>
            </a:r>
            <a:r>
              <a:rPr sz="5400" spc="-10" dirty="0">
                <a:solidFill>
                  <a:srgbClr val="C55A11"/>
                </a:solidFill>
                <a:latin typeface="Segoe UI"/>
                <a:cs typeface="Segoe UI"/>
              </a:rPr>
              <a:t>y</a:t>
            </a:r>
            <a:r>
              <a:rPr sz="5400" spc="-10" dirty="0">
                <a:solidFill>
                  <a:srgbClr val="FF0000"/>
                </a:solidFill>
                <a:latin typeface="Segoe UI"/>
                <a:cs typeface="Segoe UI"/>
              </a:rPr>
              <a:t>o</a:t>
            </a:r>
            <a:r>
              <a:rPr sz="5400" spc="-10" dirty="0">
                <a:solidFill>
                  <a:srgbClr val="00AFEF"/>
                </a:solidFill>
                <a:latin typeface="Segoe UI"/>
                <a:cs typeface="Segoe UI"/>
              </a:rPr>
              <a:t>u</a:t>
            </a:r>
            <a:endParaRPr sz="5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666</Words>
  <Application>Microsoft Office PowerPoint</Application>
  <PresentationFormat>Custom</PresentationFormat>
  <Paragraphs>96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Physics (PHY 102)Thermodynamic</vt:lpstr>
      <vt:lpstr>PowerPoint Presentation</vt:lpstr>
      <vt:lpstr>Why should we study thermodynamics?</vt:lpstr>
      <vt:lpstr>Thermodynamics</vt:lpstr>
      <vt:lpstr>Thermal equilibrium</vt:lpstr>
      <vt:lpstr>Zeroth law of thermodynamics</vt:lpstr>
      <vt:lpstr>Zeroth law of thermodynamics</vt:lpstr>
      <vt:lpstr>Zeroth law of thermodynamics-Applications</vt:lpstr>
      <vt:lpstr>First law of Thermodynamics</vt:lpstr>
      <vt:lpstr>First law of Thermodynamics-Mathematically</vt:lpstr>
      <vt:lpstr>First law of Thermodynamics-Example</vt:lpstr>
      <vt:lpstr>First law of Thermodynamics-Example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 and thermodynamics, oscillations and optics</dc:title>
  <dc:creator>Misbah Babu</dc:creator>
  <cp:lastModifiedBy>User</cp:lastModifiedBy>
  <cp:revision>2</cp:revision>
  <dcterms:created xsi:type="dcterms:W3CDTF">2023-05-20T07:56:22Z</dcterms:created>
  <dcterms:modified xsi:type="dcterms:W3CDTF">2024-04-23T04:01:01Z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2023-05-20T00:00:00Z</vt:filetime>
  </property>
</Properties>
</file>