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4"/>
  </p:notesMasterIdLst>
  <p:sldIdLst>
    <p:sldId id="256" r:id="rId5"/>
    <p:sldId id="280" r:id="rId6"/>
    <p:sldId id="293" r:id="rId7"/>
    <p:sldId id="285" r:id="rId8"/>
    <p:sldId id="287" r:id="rId9"/>
    <p:sldId id="292" r:id="rId10"/>
    <p:sldId id="289" r:id="rId11"/>
    <p:sldId id="291" r:id="rId12"/>
    <p:sldId id="284"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Lst>
        </p14:section>
        <p14:section name="Design, Impress, Work Together" id="{B9B51309-D148-4332-87C2-07BE32FBCA3B}">
          <p14:sldIdLst>
            <p14:sldId id="280"/>
            <p14:sldId id="293"/>
            <p14:sldId id="285"/>
            <p14:sldId id="287"/>
            <p14:sldId id="292"/>
            <p14:sldId id="289"/>
            <p14:sldId id="291"/>
            <p14:sldId id="284"/>
          </p14:sldIdLst>
        </p14:section>
        <p14:section name="Learn More" id="{2CC34DB2-6590-42C0-AD4B-A04C6060184E}">
          <p14:sldIdLst/>
        </p14:section>
      </p14:sectionLst>
    </p:ex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462F"/>
    <a:srgbClr val="D24726"/>
    <a:srgbClr val="734F29"/>
    <a:srgbClr val="D2B4A6"/>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snapToGrid="0">
      <p:cViewPr>
        <p:scale>
          <a:sx n="81" d="100"/>
          <a:sy n="81" d="100"/>
        </p:scale>
        <p:origin x="-300" y="20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25-Apr-24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2</a:t>
            </a:fld>
            <a:endParaRPr lang="en-US"/>
          </a:p>
        </p:txBody>
      </p:sp>
    </p:spTree>
    <p:extLst>
      <p:ext uri="{BB962C8B-B14F-4D97-AF65-F5344CB8AC3E}">
        <p14:creationId xmlns:p14="http://schemas.microsoft.com/office/powerpoint/2010/main" val="11036503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4</a:t>
            </a:fld>
            <a:endParaRPr lang="en-US"/>
          </a:p>
        </p:txBody>
      </p:sp>
    </p:spTree>
    <p:extLst>
      <p:ext uri="{BB962C8B-B14F-4D97-AF65-F5344CB8AC3E}">
        <p14:creationId xmlns:p14="http://schemas.microsoft.com/office/powerpoint/2010/main" val="28006279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5</a:t>
            </a:fld>
            <a:endParaRPr lang="en-US"/>
          </a:p>
        </p:txBody>
      </p:sp>
    </p:spTree>
    <p:extLst>
      <p:ext uri="{BB962C8B-B14F-4D97-AF65-F5344CB8AC3E}">
        <p14:creationId xmlns:p14="http://schemas.microsoft.com/office/powerpoint/2010/main" val="2457973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6</a:t>
            </a:fld>
            <a:endParaRPr lang="en-US"/>
          </a:p>
        </p:txBody>
      </p:sp>
    </p:spTree>
    <p:extLst>
      <p:ext uri="{BB962C8B-B14F-4D97-AF65-F5344CB8AC3E}">
        <p14:creationId xmlns:p14="http://schemas.microsoft.com/office/powerpoint/2010/main" val="898683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7</a:t>
            </a:fld>
            <a:endParaRPr lang="en-US"/>
          </a:p>
        </p:txBody>
      </p:sp>
    </p:spTree>
    <p:extLst>
      <p:ext uri="{BB962C8B-B14F-4D97-AF65-F5344CB8AC3E}">
        <p14:creationId xmlns:p14="http://schemas.microsoft.com/office/powerpoint/2010/main" val="21773889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8</a:t>
            </a:fld>
            <a:endParaRPr lang="en-US"/>
          </a:p>
        </p:txBody>
      </p:sp>
    </p:spTree>
    <p:extLst>
      <p:ext uri="{BB962C8B-B14F-4D97-AF65-F5344CB8AC3E}">
        <p14:creationId xmlns:p14="http://schemas.microsoft.com/office/powerpoint/2010/main" val="27010043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DF61EA0F-A667-4B49-8422-0062BC55E249}" type="slidenum">
              <a:rPr lang="en-US" smtClean="0"/>
              <a:t>9</a:t>
            </a:fld>
            <a:endParaRPr lang="en-US"/>
          </a:p>
        </p:txBody>
      </p:sp>
    </p:spTree>
    <p:extLst>
      <p:ext uri="{BB962C8B-B14F-4D97-AF65-F5344CB8AC3E}">
        <p14:creationId xmlns:p14="http://schemas.microsoft.com/office/powerpoint/2010/main" val="1661246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5" name="Date Placeholder 4"/>
          <p:cNvSpPr>
            <a:spLocks noGrp="1"/>
          </p:cNvSpPr>
          <p:nvPr>
            <p:ph type="dt" sz="half" idx="10"/>
          </p:nvPr>
        </p:nvSpPr>
        <p:spPr/>
        <p:txBody>
          <a:bodyPr/>
          <a:lstStyle/>
          <a:p>
            <a:fld id="{8BEEBAAA-29B5-4AF5-BC5F-7E580C29002D}" type="datetimeFigureOut">
              <a:rPr lang="en-US" smtClean="0"/>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a:t>Click to edit Master title style</a:t>
            </a:r>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7" name="Date Placeholder 6"/>
          <p:cNvSpPr>
            <a:spLocks noGrp="1"/>
          </p:cNvSpPr>
          <p:nvPr>
            <p:ph type="dt" sz="half" idx="10"/>
          </p:nvPr>
        </p:nvSpPr>
        <p:spPr/>
        <p:txBody>
          <a:bodyPr/>
          <a:lstStyle/>
          <a:p>
            <a:fld id="{8BEEBAAA-29B5-4AF5-BC5F-7E580C29002D}" type="datetimeFigureOut">
              <a:rPr lang="en-US" smtClean="0"/>
              <a:t>25-Apr-24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25-Apr-24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25-Apr-24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a:t>Click to edit Master text styles</a:t>
            </a:r>
          </a:p>
          <a:p>
            <a:pPr marL="0" lvl="1" indent="0">
              <a:lnSpc>
                <a:spcPct val="150000"/>
              </a:lnSpc>
              <a:spcAft>
                <a:spcPts val="1200"/>
              </a:spcAft>
              <a:buNone/>
            </a:pPr>
            <a:r>
              <a:rPr lang="en-US"/>
              <a:t>Second level</a:t>
            </a:r>
          </a:p>
          <a:p>
            <a:pPr marL="0" lvl="2" indent="0">
              <a:lnSpc>
                <a:spcPct val="150000"/>
              </a:lnSpc>
              <a:spcAft>
                <a:spcPts val="1200"/>
              </a:spcAft>
              <a:buNone/>
            </a:pPr>
            <a:r>
              <a:rPr lang="en-US"/>
              <a:t>Third level</a:t>
            </a:r>
          </a:p>
          <a:p>
            <a:pPr marL="0" lvl="3" indent="0">
              <a:lnSpc>
                <a:spcPct val="150000"/>
              </a:lnSpc>
              <a:spcAft>
                <a:spcPts val="1200"/>
              </a:spcAft>
              <a:buNone/>
            </a:pPr>
            <a:r>
              <a:rPr lang="en-US"/>
              <a:t>Fourth level</a:t>
            </a:r>
          </a:p>
          <a:p>
            <a:pPr marL="0" lvl="4" indent="0">
              <a:lnSpc>
                <a:spcPct val="150000"/>
              </a:lnSpc>
              <a:spcAft>
                <a:spcPts val="1200"/>
              </a:spcAft>
              <a:buNone/>
            </a:pPr>
            <a:r>
              <a:rPr lang="en-US"/>
              <a:t>Fifth level</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25-Apr-24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BEEBAAA-29B5-4AF5-BC5F-7E580C29002D}" type="datetimeFigureOut">
              <a:rPr lang="en-US" smtClean="0"/>
              <a:t>25-Apr-24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25-Apr-24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2.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5.gif"/><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8.gif"/><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7.gif"/><Relationship Id="rId5" Type="http://schemas.openxmlformats.org/officeDocument/2006/relationships/image" Target="../media/image6.gif"/><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10.gif"/><Relationship Id="rId5" Type="http://schemas.openxmlformats.org/officeDocument/2006/relationships/image" Target="../media/image9.gif"/><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7.xml"/><Relationship Id="rId7"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tags" Target="../tags/tag8.xml"/><Relationship Id="rId6" Type="http://schemas.microsoft.com/office/2007/relationships/hdphoto" Target="../media/hdphoto1.wdp"/><Relationship Id="rId5" Type="http://schemas.openxmlformats.org/officeDocument/2006/relationships/image" Target="../media/image11.png"/><Relationship Id="rId10" Type="http://schemas.microsoft.com/office/2007/relationships/hdphoto" Target="../media/hdphoto3.wdp"/><Relationship Id="rId4" Type="http://schemas.openxmlformats.org/officeDocument/2006/relationships/image" Target="../media/image1.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227" y="2235200"/>
            <a:ext cx="10515600" cy="2387600"/>
          </a:xfrm>
        </p:spPr>
        <p:txBody>
          <a:bodyPr/>
          <a:lstStyle/>
          <a:p>
            <a:r>
              <a:rPr lang="en-US" b="1" dirty="0"/>
              <a:t>Physics (PHY 102)</a:t>
            </a:r>
            <a:r>
              <a:rPr lang="en-US" sz="2400" b="1" dirty="0">
                <a:solidFill>
                  <a:schemeClr val="accent4"/>
                </a:solidFill>
              </a:rPr>
              <a:t> Physical Optics</a:t>
            </a:r>
            <a:endParaRPr lang="en-US" b="1" dirty="0">
              <a:solidFill>
                <a:schemeClr val="accent4"/>
              </a:solidFill>
            </a:endParaRPr>
          </a:p>
        </p:txBody>
      </p:sp>
      <p:pic>
        <p:nvPicPr>
          <p:cNvPr id="4"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32827" y="0"/>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6" name="Subtitle 5">
            <a:extLst>
              <a:ext uri="{FF2B5EF4-FFF2-40B4-BE49-F238E27FC236}">
                <a16:creationId xmlns="" xmlns:a16="http://schemas.microsoft.com/office/drawing/2014/main" id="{9D320518-C1C4-E35A-7B3E-286F540C8611}"/>
              </a:ext>
            </a:extLst>
          </p:cNvPr>
          <p:cNvSpPr>
            <a:spLocks noGrp="1"/>
          </p:cNvSpPr>
          <p:nvPr>
            <p:ph type="subTitle" idx="1"/>
          </p:nvPr>
        </p:nvSpPr>
        <p:spPr/>
        <p:txBody>
          <a:bodyPr>
            <a:normAutofit fontScale="55000" lnSpcReduction="20000"/>
          </a:bodyPr>
          <a:lstStyle/>
          <a:p>
            <a:r>
              <a:rPr lang="en-US" dirty="0" err="1" smtClean="0">
                <a:ln w="0"/>
                <a:solidFill>
                  <a:schemeClr val="tx1"/>
                </a:solidFill>
                <a:effectLst>
                  <a:outerShdw blurRad="38100" dist="19050" dir="2700000" algn="tl" rotWithShape="0">
                    <a:schemeClr val="dk1">
                      <a:alpha val="40000"/>
                    </a:schemeClr>
                  </a:outerShdw>
                </a:effectLst>
              </a:rPr>
              <a:t>Farjana</a:t>
            </a:r>
            <a:r>
              <a:rPr lang="en-US" dirty="0" smtClean="0">
                <a:ln w="0"/>
                <a:solidFill>
                  <a:schemeClr val="tx1"/>
                </a:solidFill>
                <a:effectLst>
                  <a:outerShdw blurRad="38100" dist="19050" dir="2700000" algn="tl" rotWithShape="0">
                    <a:schemeClr val="dk1">
                      <a:alpha val="40000"/>
                    </a:schemeClr>
                  </a:outerShdw>
                </a:effectLst>
              </a:rPr>
              <a:t> </a:t>
            </a:r>
            <a:r>
              <a:rPr lang="en-US" dirty="0" err="1" smtClean="0">
                <a:ln w="0"/>
                <a:solidFill>
                  <a:schemeClr val="tx1"/>
                </a:solidFill>
                <a:effectLst>
                  <a:outerShdw blurRad="38100" dist="19050" dir="2700000" algn="tl" rotWithShape="0">
                    <a:schemeClr val="dk1">
                      <a:alpha val="40000"/>
                    </a:schemeClr>
                  </a:outerShdw>
                </a:effectLst>
              </a:rPr>
              <a:t>Yeasmin</a:t>
            </a:r>
            <a:endParaRPr lang="en-US" dirty="0" smtClean="0">
              <a:ln w="0"/>
              <a:solidFill>
                <a:schemeClr val="tx1"/>
              </a:solidFill>
              <a:effectLst>
                <a:outerShdw blurRad="38100" dist="19050" dir="2700000" algn="tl" rotWithShape="0">
                  <a:schemeClr val="dk1">
                    <a:alpha val="40000"/>
                  </a:schemeClr>
                </a:outerShdw>
              </a:effectLst>
            </a:endParaRPr>
          </a:p>
          <a:p>
            <a:r>
              <a:rPr lang="en-US" dirty="0" smtClean="0">
                <a:ln w="0"/>
                <a:solidFill>
                  <a:schemeClr val="tx1"/>
                </a:solidFill>
                <a:effectLst>
                  <a:outerShdw blurRad="38100" dist="19050" dir="2700000" algn="tl" rotWithShape="0">
                    <a:schemeClr val="dk1">
                      <a:alpha val="40000"/>
                    </a:schemeClr>
                  </a:outerShdw>
                </a:effectLst>
              </a:rPr>
              <a:t>Lecturer </a:t>
            </a:r>
            <a:r>
              <a:rPr lang="en-US" dirty="0">
                <a:ln w="0"/>
                <a:solidFill>
                  <a:schemeClr val="tx1"/>
                </a:solidFill>
                <a:effectLst>
                  <a:outerShdw blurRad="38100" dist="19050" dir="2700000" algn="tl" rotWithShape="0">
                    <a:schemeClr val="dk1">
                      <a:alpha val="40000"/>
                    </a:schemeClr>
                  </a:outerShdw>
                </a:effectLst>
              </a:rPr>
              <a:t>in Physics</a:t>
            </a:r>
          </a:p>
          <a:p>
            <a:r>
              <a:rPr lang="en-US" dirty="0">
                <a:ln w="0"/>
                <a:solidFill>
                  <a:schemeClr val="tx1"/>
                </a:solidFill>
                <a:effectLst>
                  <a:outerShdw blurRad="38100" dist="19050" dir="2700000" algn="tl" rotWithShape="0">
                    <a:schemeClr val="dk1">
                      <a:alpha val="40000"/>
                    </a:schemeClr>
                  </a:outerShdw>
                </a:effectLst>
              </a:rPr>
              <a:t>World University of Bangladesh</a:t>
            </a:r>
          </a:p>
          <a:p>
            <a:endParaRPr lang="en-US" dirty="0"/>
          </a:p>
        </p:txBody>
      </p:sp>
    </p:spTree>
    <p:custDataLst>
      <p:tags r:id="rId1"/>
    </p:custDataLst>
    <p:extLst>
      <p:ext uri="{BB962C8B-B14F-4D97-AF65-F5344CB8AC3E}">
        <p14:creationId xmlns:p14="http://schemas.microsoft.com/office/powerpoint/2010/main" val="2471807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Objectives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 xmlns:a16="http://schemas.microsoft.com/office/drawing/2014/main" id="{09775BF7-2548-4421-B6D6-D3074714DEBC}"/>
              </a:ext>
            </a:extLst>
          </p:cNvPr>
          <p:cNvSpPr txBox="1"/>
          <p:nvPr/>
        </p:nvSpPr>
        <p:spPr>
          <a:xfrm>
            <a:off x="3300993" y="3103982"/>
            <a:ext cx="5240537" cy="923330"/>
          </a:xfrm>
          <a:prstGeom prst="rect">
            <a:avLst/>
          </a:prstGeom>
          <a:noFill/>
        </p:spPr>
        <p:txBody>
          <a:bodyPr wrap="none" rtlCol="0">
            <a:spAutoFit/>
          </a:bodyPr>
          <a:lstStyle/>
          <a:p>
            <a:r>
              <a:rPr lang="en-US" sz="5400" b="1" dirty="0">
                <a:cs typeface="Times New Roman" panose="02020603050405020304" pitchFamily="18" charset="0"/>
              </a:rPr>
              <a:t> Physical Optics</a:t>
            </a:r>
          </a:p>
        </p:txBody>
      </p:sp>
      <p:pic>
        <p:nvPicPr>
          <p:cNvPr id="16" name="Picture 4" descr="Writing Hand | Free Vectors, Stock Photos &amp; PSD">
            <a:extLst>
              <a:ext uri="{FF2B5EF4-FFF2-40B4-BE49-F238E27FC236}">
                <a16:creationId xmlns="" xmlns:a16="http://schemas.microsoft.com/office/drawing/2014/main" id="{5A50438D-3358-4F16-9C98-383C91F5E316}"/>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7203" t="17225" r="6215"/>
          <a:stretch/>
        </p:blipFill>
        <p:spPr bwMode="auto">
          <a:xfrm rot="21042646">
            <a:off x="10104816" y="4705761"/>
            <a:ext cx="1736153" cy="2154202"/>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5540330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iterate type="lt">
                                    <p:tmPct val="4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0" presetClass="path" presetSubtype="0" fill="hold" nodeType="withEffect">
                                  <p:stCondLst>
                                    <p:cond delay="0"/>
                                  </p:stCondLst>
                                  <p:childTnLst>
                                    <p:animMotion origin="layout" path="M -0.51263 -0.29838 L -0.51263 -0.29815 C -0.51146 -0.29237 -0.50937 -0.28681 -0.50885 -0.28033 C -0.50768 -0.26621 -0.50924 -0.22338 -0.50755 -0.2375 C -0.50521 -0.25903 -0.50677 -0.28125 -0.50638 -0.30301 C -0.50469 -0.30278 -0.49115 -0.30093 -0.48724 -0.29838 C -0.48581 -0.29746 -0.48477 -0.29537 -0.48346 -0.29399 C -0.48307 -0.29167 -0.48216 -0.28959 -0.48216 -0.28727 C -0.48216 -0.28334 -0.48229 -0.27917 -0.48346 -0.27593 C -0.48424 -0.27385 -0.48594 -0.27408 -0.48724 -0.27362 C -0.49102 -0.27246 -0.49492 -0.27223 -0.4987 -0.2713 C -0.5 -0.27061 -0.50352 -0.27084 -0.50247 -0.26922 C -0.50065 -0.26575 -0.49492 -0.26459 -0.49492 -0.26436 C -0.49362 -0.2632 -0.49245 -0.26135 -0.49115 -0.26019 C -0.48984 -0.25903 -0.48828 -0.2595 -0.48724 -0.25787 C -0.48633 -0.25625 -0.48659 -0.25325 -0.48594 -0.25116 C -0.48372 -0.24306 -0.48268 -0.24306 -0.47839 -0.2375 C -0.47904 -0.25625 -0.48112 -0.28912 -0.47839 -0.30741 C -0.47799 -0.30973 -0.47578 -0.30602 -0.47461 -0.30533 C -0.47409 -0.29098 -0.47474 -0.27639 -0.47331 -0.26227 C -0.47305 -0.25973 -0.47187 -0.26737 -0.4707 -0.26922 C -0.46849 -0.27269 -0.46315 -0.27825 -0.46315 -0.27801 C -0.45794 -0.27593 -0.4569 -0.27778 -0.45547 -0.2669 C -0.45417 -0.25649 -0.45299 -0.23519 -0.45299 -0.23496 C -0.45039 -0.24213 -0.44974 -0.24306 -0.44792 -0.25116 C -0.4474 -0.25325 -0.44701 -0.25556 -0.44661 -0.25787 C -0.44622 -0.26829 -0.44687 -0.27917 -0.44531 -0.28936 C -0.44492 -0.29213 -0.44336 -0.28519 -0.44284 -0.28264 C -0.44206 -0.27987 -0.44206 -0.27662 -0.44154 -0.27362 C -0.44076 -0.26899 -0.44154 -0.26158 -0.43893 -0.26019 L -0.43138 -0.25556 C -0.43008 -0.25625 -0.42865 -0.25649 -0.42747 -0.25787 C -0.42461 -0.26135 -0.42305 -0.26644 -0.42122 -0.2713 C -0.4207 -0.27524 -0.41927 -0.27894 -0.41992 -0.28264 C -0.42148 -0.2926 -0.4319 -0.28311 -0.43255 -0.28264 C -0.43685 -0.25996 -0.43047 -0.29584 -0.43516 -0.23519 C -0.43542 -0.23195 -0.43672 -0.22917 -0.43763 -0.22616 C -0.44036 -0.21806 -0.43971 -0.22014 -0.44401 -0.21482 C -0.44492 -0.21713 -0.44648 -0.21899 -0.44661 -0.22176 C -0.44687 -0.22917 -0.44701 -0.23727 -0.44531 -0.24422 C -0.44453 -0.24746 -0.44193 -0.24723 -0.44023 -0.24885 C -0.43893 -0.25024 -0.43776 -0.25209 -0.43646 -0.25325 C -0.43529 -0.2544 -0.43385 -0.25487 -0.43255 -0.25556 C -0.42474 -0.2595 -0.42448 -0.25834 -0.41354 -0.26019 C -0.41042 -0.26181 -0.40833 -0.2625 -0.40586 -0.2669 C -0.40482 -0.26875 -0.40417 -0.2713 -0.40339 -0.27362 C -0.40299 -0.27593 -0.40156 -0.27825 -0.40208 -0.28033 C -0.40417 -0.28936 -0.41484 -0.28287 -0.41615 -0.28264 C -0.41562 -0.27894 -0.41628 -0.27408 -0.41484 -0.2713 C -0.41289 -0.26806 -0.40977 -0.26829 -0.40716 -0.2669 L -0.40339 -0.26459 C -0.40247 -0.26227 -0.40078 -0.26065 -0.40078 -0.25787 C -0.40078 -0.23959 -0.40208 -0.24306 -0.40846 -0.23982 C -0.40977 -0.23912 -0.41094 -0.2382 -0.41224 -0.2375 C -0.40833 -0.24792 -0.41068 -0.24607 -0.40078 -0.24213 C -0.39818 -0.24098 -0.39323 -0.2375 -0.39323 -0.23727 C -0.38984 -0.23912 -0.38503 -0.23704 -0.38307 -0.24213 C -0.3819 -0.24491 -0.38477 -0.26366 -0.38555 -0.26922 C -0.38594 -0.27593 -0.38516 -0.28334 -0.38685 -0.28936 C -0.3875 -0.2919 -0.38945 -0.28542 -0.38945 -0.28264 C -0.38945 -0.27061 -0.38763 -0.25857 -0.38685 -0.24653 C -0.38138 -0.24723 -0.37565 -0.24653 -0.37031 -0.24885 C -0.36862 -0.24954 -0.3681 -0.25394 -0.36654 -0.25556 C -0.36419 -0.25787 -0.35885 -0.26019 -0.35885 -0.25996 C -0.35755 -0.26227 -0.35625 -0.26436 -0.35508 -0.2669 C -0.35312 -0.27084 -0.35078 -0.27524 -0.35378 -0.28033 C -0.35469 -0.28218 -0.35638 -0.28195 -0.35755 -0.28264 C -0.36146 -0.28195 -0.36719 -0.28635 -0.36901 -0.28033 C -0.37201 -0.2713 -0.36849 -0.25487 -0.36654 -0.24422 C -0.35664 -0.2463 -0.35625 -0.24213 -0.3513 -0.25325 C -0.34935 -0.25764 -0.34622 -0.2669 -0.34622 -0.26667 C -0.34557 -0.27223 -0.34596 -0.2845 -0.33984 -0.28264 C -0.33828 -0.28218 -0.33815 -0.27825 -0.33724 -0.27593 C -0.33685 -0.27362 -0.33581 -0.27153 -0.33594 -0.26922 C -0.3362 -0.26644 -0.3375 -0.26436 -0.33854 -0.26227 C -0.34219 -0.25463 -0.34141 -0.25602 -0.34622 -0.25325 C -0.34701 -0.25116 -0.3487 -0.24931 -0.3487 -0.24653 C -0.3487 -0.23797 -0.34232 -0.23843 -0.33984 -0.2375 C -0.33672 -0.23473 -0.33086 -0.22732 -0.32708 -0.23519 C -0.32578 -0.2382 -0.3293 -0.24306 -0.32839 -0.24653 C -0.32773 -0.24908 -0.32669 -0.24213 -0.32578 -0.23982 C -0.32539 -0.2375 -0.32565 -0.2345 -0.32461 -0.23311 C -0.32318 -0.23102 -0.32109 -0.23149 -0.31953 -0.23079 C -0.31823 -0.2301 -0.31693 -0.22917 -0.31562 -0.22848 C -0.31523 -0.23612 -0.3151 -0.24352 -0.31445 -0.25116 C -0.3138 -0.25718 -0.31432 -0.27362 -0.31185 -0.26922 C -0.30859 -0.2632 -0.31094 -0.25255 -0.31055 -0.24422 C -0.29961 -0.24514 -0.28854 -0.24514 -0.27747 -0.24653 C -0.27578 -0.24676 -0.27409 -0.24815 -0.2724 -0.24885 C -0.26328 -0.25232 -0.26914 -0.24931 -0.26224 -0.25325 C -0.26029 -0.25556 -0.25612 -0.25926 -0.25586 -0.26459 C -0.2556 -0.27223 -0.25651 -0.27963 -0.25716 -0.28727 C -0.25742 -0.28959 -0.25755 -0.29237 -0.25846 -0.29399 C -0.25937 -0.29561 -0.26094 -0.29537 -0.26224 -0.2963 C -0.26523 -0.29537 -0.26862 -0.29676 -0.27122 -0.29399 C -0.27266 -0.29237 -0.27187 -0.28797 -0.2724 -0.28496 C -0.27318 -0.28033 -0.27409 -0.27593 -0.275 -0.2713 L -0.2763 -0.26459 C -0.27539 -0.25787 -0.27617 -0.24977 -0.2737 -0.24422 C -0.27214 -0.24075 -0.26862 -0.24213 -0.26615 -0.24213 C -0.25885 -0.24213 -0.25169 -0.24352 -0.24453 -0.24422 C -0.24362 -0.24885 -0.24258 -0.25325 -0.24193 -0.25787 C -0.24036 -0.26922 -0.24115 -0.26389 -0.23932 -0.27362 C -0.23893 -0.26389 -0.2431 -0.24862 -0.23815 -0.24422 C -0.23359 -0.24028 -0.23828 -0.26274 -0.23685 -0.2713 C -0.23633 -0.27454 -0.2306 -0.27732 -0.22917 -0.27825 C -0.22708 -0.27732 -0.225 -0.27686 -0.22292 -0.27593 C -0.22161 -0.27524 -0.2194 -0.27593 -0.21901 -0.27362 C -0.21758 -0.26297 -0.22214 -0.24769 -0.22799 -0.24422 C -0.23906 -0.23774 -0.23307 -0.2419 -0.20885 -0.24422 C -0.20755 -0.24514 -0.20612 -0.24514 -0.20508 -0.24653 C -0.20286 -0.24977 -0.20208 -0.25556 -0.2013 -0.26019 C -0.19844 -0.3095 -0.20156 -0.26621 -0.1987 -0.23982 C -0.19844 -0.23704 -0.19622 -0.23681 -0.19492 -0.23519 C -0.19193 -0.23612 -0.18854 -0.23473 -0.18594 -0.2375 C -0.18451 -0.23912 -0.18542 -0.24375 -0.18477 -0.24653 C -0.18411 -0.24908 -0.18307 -0.25116 -0.18216 -0.25325 C -0.17852 -0.27269 -0.1793 -0.26204 -0.18086 -0.28496 C -0.18451 -0.2595 -0.18411 -0.27292 -0.18086 -0.24422 C -0.16615 -0.24862 -0.17891 -0.24213 -0.16953 -0.25325 C -0.16836 -0.25463 -0.1668 -0.2544 -0.16562 -0.25556 C -0.16432 -0.25672 -0.16315 -0.2588 -0.16185 -0.26019 C -0.16068 -0.26112 -0.15924 -0.26135 -0.15807 -0.26227 C -0.15664 -0.26366 -0.1556 -0.26551 -0.15417 -0.2669 C -0.1526 -0.26852 -0.15078 -0.26991 -0.14909 -0.2713 C -0.1487 -0.27362 -0.1474 -0.27593 -0.14792 -0.27825 C -0.14935 -0.28635 -0.15456 -0.28588 -0.15807 -0.28727 C -0.16042 -0.28612 -0.16536 -0.28496 -0.16693 -0.28033 C -0.16836 -0.27639 -0.16953 -0.2669 -0.16953 -0.26667 C -0.16901 -0.26019 -0.16953 -0.25301 -0.16823 -0.24653 C -0.16771 -0.24399 -0.16562 -0.24375 -0.16432 -0.24213 C -0.15807 -0.23264 -0.16341 -0.23704 -0.15677 -0.23311 C -0.15547 -0.2338 -0.15378 -0.23334 -0.15299 -0.23519 C -0.15013 -0.24237 -0.15182 -0.25 -0.14792 -0.25556 C -0.14687 -0.25695 -0.14544 -0.25764 -0.14401 -0.25787 C -0.13815 -0.25903 -0.13216 -0.25926 -0.1263 -0.26019 C -0.125 -0.26158 -0.12279 -0.26204 -0.1224 -0.26459 C -0.12083 -0.27801 -0.12357 -0.2801 -0.12747 -0.28727 C -0.13086 -0.28635 -0.1349 -0.2882 -0.13763 -0.28496 C -0.13945 -0.28287 -0.13919 -0.27755 -0.13893 -0.27362 C -0.13841 -0.26274 -0.13724 -0.25973 -0.13255 -0.25556 C -0.13138 -0.2544 -0.13008 -0.25417 -0.12878 -0.25325 C -0.12917 -0.24815 -0.12852 -0.2419 -0.13008 -0.2375 C -0.13164 -0.23287 -0.13763 -0.22848 -0.13763 -0.22825 C -0.13984 -0.22917 -0.14284 -0.22755 -0.14401 -0.23079 C -0.14583 -0.23565 -0.14154 -0.24514 -0.14023 -0.24885 C -0.12461 -0.24561 -0.13268 -0.24653 -0.11602 -0.24653 L -0.11602 -0.2463 " pathEditMode="relative" rAng="0" ptsTypes="AAAAAAAAAAAAAAAAAAAAAAAAAAAAAAAAAAAAAAAAAAAAAAAAAAAAAAAAAAAAAAAAAAAAAAAAAAAAAAAAAAAAAAAAAAAAAAAAAAAAAAAAAAAAAAAAAAAAAAAAAAAAAAAAAAAAAAAAAAAAAAAAAAAA">
                                      <p:cBhvr>
                                        <p:cTn id="9" dur="4000" fill="hold"/>
                                        <p:tgtEl>
                                          <p:spTgt spid="16"/>
                                        </p:tgtEl>
                                        <p:attrNameLst>
                                          <p:attrName>ppt_x</p:attrName>
                                          <p:attrName>ppt_y</p:attrName>
                                        </p:attrNameLst>
                                      </p:cBhvr>
                                      <p:rCtr x="19831" y="3681"/>
                                    </p:animMotion>
                                  </p:childTnLst>
                                </p:cTn>
                              </p:par>
                            </p:childTnLst>
                          </p:cTn>
                        </p:par>
                        <p:par>
                          <p:cTn id="10" fill="hold">
                            <p:stCondLst>
                              <p:cond delay="4000"/>
                            </p:stCondLst>
                            <p:childTnLst>
                              <p:par>
                                <p:cTn id="11" presetID="2" presetClass="exit" presetSubtype="4" fill="hold" nodeType="afterEffect">
                                  <p:stCondLst>
                                    <p:cond delay="0"/>
                                  </p:stCondLst>
                                  <p:childTnLst>
                                    <p:anim calcmode="lin" valueType="num">
                                      <p:cBhvr additive="base">
                                        <p:cTn id="12" dur="500"/>
                                        <p:tgtEl>
                                          <p:spTgt spid="16"/>
                                        </p:tgtEl>
                                        <p:attrNameLst>
                                          <p:attrName>ppt_x</p:attrName>
                                        </p:attrNameLst>
                                      </p:cBhvr>
                                      <p:tavLst>
                                        <p:tav tm="0">
                                          <p:val>
                                            <p:strVal val="ppt_x"/>
                                          </p:val>
                                        </p:tav>
                                        <p:tav tm="100000">
                                          <p:val>
                                            <p:strVal val="ppt_x"/>
                                          </p:val>
                                        </p:tav>
                                      </p:tavLst>
                                    </p:anim>
                                    <p:anim calcmode="lin" valueType="num">
                                      <p:cBhvr additive="base">
                                        <p:cTn id="13" dur="500"/>
                                        <p:tgtEl>
                                          <p:spTgt spid="16"/>
                                        </p:tgtEl>
                                        <p:attrNameLst>
                                          <p:attrName>ppt_y</p:attrName>
                                        </p:attrNameLst>
                                      </p:cBhvr>
                                      <p:tavLst>
                                        <p:tav tm="0">
                                          <p:val>
                                            <p:strVal val="ppt_y"/>
                                          </p:val>
                                        </p:tav>
                                        <p:tav tm="100000">
                                          <p:val>
                                            <p:strVal val="1+ppt_h/2"/>
                                          </p:val>
                                        </p:tav>
                                      </p:tavLst>
                                    </p:anim>
                                    <p:set>
                                      <p:cBhvr>
                                        <p:cTn id="14" dur="1" fill="hold">
                                          <p:stCondLst>
                                            <p:cond delay="4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9AED10E-7535-1464-4AD8-A988A7BD6DA2}"/>
              </a:ext>
            </a:extLst>
          </p:cNvPr>
          <p:cNvSpPr>
            <a:spLocks noGrp="1"/>
          </p:cNvSpPr>
          <p:nvPr>
            <p:ph type="title"/>
          </p:nvPr>
        </p:nvSpPr>
        <p:spPr/>
        <p:txBody>
          <a:bodyPr/>
          <a:lstStyle/>
          <a:p>
            <a:r>
              <a:rPr lang="en-US" dirty="0" smtClean="0"/>
              <a:t>Physical Optics</a:t>
            </a:r>
            <a:endParaRPr lang="en-US" dirty="0"/>
          </a:p>
        </p:txBody>
      </p:sp>
      <p:sp>
        <p:nvSpPr>
          <p:cNvPr id="3" name="Content Placeholder 2">
            <a:extLst>
              <a:ext uri="{FF2B5EF4-FFF2-40B4-BE49-F238E27FC236}">
                <a16:creationId xmlns="" xmlns:a16="http://schemas.microsoft.com/office/drawing/2014/main" id="{23F5F9BF-DD06-4555-0B5C-F8334BAEF4BA}"/>
              </a:ext>
            </a:extLst>
          </p:cNvPr>
          <p:cNvSpPr>
            <a:spLocks noGrp="1"/>
          </p:cNvSpPr>
          <p:nvPr>
            <p:ph idx="1"/>
          </p:nvPr>
        </p:nvSpPr>
        <p:spPr>
          <a:xfrm>
            <a:off x="838201" y="1825625"/>
            <a:ext cx="9578008" cy="4351338"/>
          </a:xfrm>
        </p:spPr>
        <p:txBody>
          <a:bodyPr/>
          <a:lstStyle/>
          <a:p>
            <a:pPr algn="l"/>
            <a:r>
              <a:rPr lang="en-US" b="0" i="0" dirty="0">
                <a:solidFill>
                  <a:srgbClr val="424242"/>
                </a:solidFill>
                <a:effectLst/>
                <a:latin typeface="Neue Helvetica W01"/>
              </a:rPr>
              <a:t>The most certain indication of a wave is interference. This wave characteristic is most prominent when the wave interacts with an object that is not large compared with the wavelength. Interference is observed for water waves, sound waves, light waves, and, in fact, all types of waves.</a:t>
            </a:r>
          </a:p>
          <a:p>
            <a:pPr algn="l"/>
            <a:r>
              <a:rPr lang="en-US" b="0" i="0" dirty="0">
                <a:solidFill>
                  <a:srgbClr val="424242"/>
                </a:solidFill>
                <a:effectLst/>
                <a:latin typeface="Neue Helvetica W01"/>
              </a:rPr>
              <a:t>If you have ever looked at the reds, blues, and greens in a sunlit soap bubble and wondered how straw-colored soapy water could produce them, you have hit upon one of the many phenomena that can only be explained by the wave character of light. The same is true for the colors seen in an oil slick or in the light reflected from a DVD disc. These and other interesting phenomena cannot be explained fully by geometric optics. In these cases, light interacts with objects and exhibits wave characteristics. The branch of optics that considers the behavior of light when it exhibits wave characteristics is called wave optics (sometimes called physical optics). It is the topic of this chapter.</a:t>
            </a:r>
          </a:p>
          <a:p>
            <a:endParaRPr lang="en-US" dirty="0"/>
          </a:p>
        </p:txBody>
      </p:sp>
    </p:spTree>
    <p:extLst>
      <p:ext uri="{BB962C8B-B14F-4D97-AF65-F5344CB8AC3E}">
        <p14:creationId xmlns:p14="http://schemas.microsoft.com/office/powerpoint/2010/main" val="1363928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Wavefront</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 xmlns:a16="http://schemas.microsoft.com/office/drawing/2014/main" id="{9317E04B-1B8C-4A8E-A06A-B95331D86808}"/>
              </a:ext>
            </a:extLst>
          </p:cNvPr>
          <p:cNvSpPr txBox="1"/>
          <p:nvPr/>
        </p:nvSpPr>
        <p:spPr>
          <a:xfrm>
            <a:off x="247918" y="1733835"/>
            <a:ext cx="11420340" cy="646331"/>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effectLst/>
                <a:latin typeface="Times New Roman" panose="02020603050405020304" pitchFamily="18" charset="0"/>
                <a:cs typeface="Times New Roman" panose="02020603050405020304" pitchFamily="18" charset="0"/>
              </a:rPr>
              <a:t>The continuous locus of points having the same phase of vibration in a medium through which a wave propagates is called </a:t>
            </a:r>
            <a:r>
              <a:rPr lang="en-US" b="0" i="0" dirty="0">
                <a:solidFill>
                  <a:srgbClr val="FF0000"/>
                </a:solidFill>
                <a:effectLst/>
                <a:latin typeface="Times New Roman" panose="02020603050405020304" pitchFamily="18" charset="0"/>
                <a:cs typeface="Times New Roman" panose="02020603050405020304" pitchFamily="18" charset="0"/>
              </a:rPr>
              <a:t>a wave front. </a:t>
            </a:r>
            <a:endParaRPr lang="en-US"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 xmlns:a16="http://schemas.microsoft.com/office/drawing/2014/main" id="{66382652-031C-46B5-A5F6-EC7765E35544}"/>
              </a:ext>
            </a:extLst>
          </p:cNvPr>
          <p:cNvSpPr txBox="1"/>
          <p:nvPr/>
        </p:nvSpPr>
        <p:spPr>
          <a:xfrm>
            <a:off x="247918" y="2712439"/>
            <a:ext cx="11420339" cy="646331"/>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solidFill>
                  <a:srgbClr val="222222"/>
                </a:solidFill>
                <a:effectLst/>
                <a:latin typeface="Times New Roman" panose="02020603050405020304" pitchFamily="18" charset="0"/>
                <a:cs typeface="Times New Roman" panose="02020603050405020304" pitchFamily="18" charset="0"/>
              </a:rPr>
              <a:t>It is a surface composed at any instant of all the points just reached by a vibrational disturbance in its propagation through a medium.</a:t>
            </a:r>
            <a:endParaRPr lang="en-US" dirty="0"/>
          </a:p>
        </p:txBody>
      </p:sp>
      <p:pic>
        <p:nvPicPr>
          <p:cNvPr id="1026" name="Picture 2" descr="expanding wavefront GIF | Gfycat GIF를 찾고, 만들고 공유하기">
            <a:extLst>
              <a:ext uri="{FF2B5EF4-FFF2-40B4-BE49-F238E27FC236}">
                <a16:creationId xmlns="" xmlns:a16="http://schemas.microsoft.com/office/drawing/2014/main" id="{3EB6E6A9-D6AB-44C1-BA29-61C94860C4EE}"/>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95459" y="4126243"/>
            <a:ext cx="4241218" cy="15866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 xmlns:a16="http://schemas.microsoft.com/office/drawing/2014/main" id="{0FD79E85-4AFD-40F1-A96C-275DC1AF5E75}"/>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5151548" y="4126243"/>
            <a:ext cx="3193693" cy="16417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1030" name="Picture 6" descr="Sound Fields Radiated by Simple Acoustic Sources">
            <a:extLst>
              <a:ext uri="{FF2B5EF4-FFF2-40B4-BE49-F238E27FC236}">
                <a16:creationId xmlns="" xmlns:a16="http://schemas.microsoft.com/office/drawing/2014/main" id="{BDE9742B-1DD9-4E50-BE97-53E429525FC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753341" y="3429000"/>
            <a:ext cx="2743200" cy="2743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508778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8"/>
                                        </p:tgtEl>
                                        <p:attrNameLst>
                                          <p:attrName>style.visibility</p:attrName>
                                        </p:attrNameLst>
                                      </p:cBhvr>
                                      <p:to>
                                        <p:strVal val="visible"/>
                                      </p:to>
                                    </p:set>
                                    <p:animEffect transition="in" filter="fade">
                                      <p:cBhvr>
                                        <p:cTn id="17" dur="500"/>
                                        <p:tgtEl>
                                          <p:spTgt spid="10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30"/>
                                        </p:tgtEl>
                                        <p:attrNameLst>
                                          <p:attrName>style.visibility</p:attrName>
                                        </p:attrNameLst>
                                      </p:cBhvr>
                                      <p:to>
                                        <p:strVal val="visible"/>
                                      </p:to>
                                    </p:set>
                                    <p:animEffect transition="in" filter="fade">
                                      <p:cBhvr>
                                        <p:cTn id="22" dur="500"/>
                                        <p:tgtEl>
                                          <p:spTgt spid="10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 xmlns:a16="http://schemas.microsoft.com/office/drawing/2014/main" id="{91336605-0F0C-4E4C-80EF-45A8503ECEA5}"/>
              </a:ext>
            </a:extLst>
          </p:cNvPr>
          <p:cNvSpPr txBox="1"/>
          <p:nvPr/>
        </p:nvSpPr>
        <p:spPr>
          <a:xfrm>
            <a:off x="9034865" y="5170020"/>
            <a:ext cx="3113467" cy="369332"/>
          </a:xfrm>
          <a:prstGeom prst="rect">
            <a:avLst/>
          </a:prstGeom>
          <a:noFill/>
        </p:spPr>
        <p:txBody>
          <a:bodyPr wrap="square">
            <a:spAutoFit/>
          </a:bodyPr>
          <a:lstStyle/>
          <a:p>
            <a:pPr algn="ctr"/>
            <a:r>
              <a:rPr lang="en-US" b="0" i="0" dirty="0">
                <a:solidFill>
                  <a:srgbClr val="444444"/>
                </a:solidFill>
                <a:effectLst/>
                <a:latin typeface="Arial" panose="020B0604020202020204" pitchFamily="34" charset="0"/>
              </a:rPr>
              <a:t> </a:t>
            </a:r>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 xmlns:a16="http://schemas.microsoft.com/office/drawing/2014/main" id="{AF4963D2-0171-4044-88A9-0E0886F4C989}"/>
              </a:ext>
            </a:extLst>
          </p:cNvPr>
          <p:cNvSpPr txBox="1"/>
          <p:nvPr/>
        </p:nvSpPr>
        <p:spPr>
          <a:xfrm>
            <a:off x="218924" y="1468161"/>
            <a:ext cx="11710569" cy="923330"/>
          </a:xfrm>
          <a:prstGeom prst="rect">
            <a:avLst/>
          </a:prstGeom>
          <a:noFill/>
        </p:spPr>
        <p:txBody>
          <a:bodyPr wrap="square">
            <a:spAutoFit/>
          </a:bodyPr>
          <a:lstStyle/>
          <a:p>
            <a:pPr marL="285750" indent="-285750" algn="just">
              <a:buFont typeface="Courier New" panose="02070309020205020404" pitchFamily="49" charset="0"/>
              <a:buChar char="o"/>
            </a:pPr>
            <a:r>
              <a:rPr lang="en-US" sz="1800" b="1" i="0" u="none" strike="noStrike" baseline="0" dirty="0">
                <a:solidFill>
                  <a:srgbClr val="000000"/>
                </a:solidFill>
                <a:latin typeface="Times New Roman" panose="02020603050405020304" pitchFamily="18" charset="0"/>
              </a:rPr>
              <a:t>Interference: </a:t>
            </a:r>
            <a:r>
              <a:rPr lang="en-US" sz="1800" b="0" i="0" u="none" strike="noStrike" baseline="0" dirty="0">
                <a:solidFill>
                  <a:srgbClr val="000000"/>
                </a:solidFill>
                <a:latin typeface="Times New Roman" panose="02020603050405020304" pitchFamily="18" charset="0"/>
              </a:rPr>
              <a:t>Due to superposition of two light waves emitted from coherent sources intensity of light increases at some points and decreases at other points. As a result, alternate bright and dark state is produced on a plane. The alternate variation of intensity of light from point to point on a plane is called the interference of light.</a:t>
            </a:r>
            <a:r>
              <a:rPr lang="en-US" b="0" i="0" dirty="0">
                <a:effectLst/>
                <a:latin typeface="Times New Roman" panose="02020603050405020304" pitchFamily="18" charset="0"/>
                <a:cs typeface="Times New Roman" panose="02020603050405020304" pitchFamily="18" charset="0"/>
              </a:rPr>
              <a:t>. </a:t>
            </a:r>
            <a:endParaRPr lang="en-US" dirty="0"/>
          </a:p>
        </p:txBody>
      </p:sp>
      <p:pic>
        <p:nvPicPr>
          <p:cNvPr id="2056" name="Picture 8">
            <a:extLst>
              <a:ext uri="{FF2B5EF4-FFF2-40B4-BE49-F238E27FC236}">
                <a16:creationId xmlns="" xmlns:a16="http://schemas.microsoft.com/office/drawing/2014/main" id="{CC19C6A0-20EC-4B91-A631-97BDFFA211F0}"/>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639809" y="2954361"/>
            <a:ext cx="4048101" cy="2061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58" name="Picture 10" descr="Light">
            <a:extLst>
              <a:ext uri="{FF2B5EF4-FFF2-40B4-BE49-F238E27FC236}">
                <a16:creationId xmlns="" xmlns:a16="http://schemas.microsoft.com/office/drawing/2014/main" id="{A7CCF278-03CC-446C-A05D-5C1CD037E284}"/>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945485" y="2954361"/>
            <a:ext cx="2756081" cy="2061081"/>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2060" name="Picture 12" descr="Diffraction">
            <a:extLst>
              <a:ext uri="{FF2B5EF4-FFF2-40B4-BE49-F238E27FC236}">
                <a16:creationId xmlns="" xmlns:a16="http://schemas.microsoft.com/office/drawing/2014/main" id="{33C62765-DD37-43AB-B13B-553746E709B9}"/>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8320547" y="2833181"/>
            <a:ext cx="3071252" cy="2303439"/>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3785984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56"/>
                                        </p:tgtEl>
                                        <p:attrNameLst>
                                          <p:attrName>style.visibility</p:attrName>
                                        </p:attrNameLst>
                                      </p:cBhvr>
                                      <p:to>
                                        <p:strVal val="visible"/>
                                      </p:to>
                                    </p:set>
                                    <p:animEffect transition="in" filter="fade">
                                      <p:cBhvr>
                                        <p:cTn id="7" dur="500"/>
                                        <p:tgtEl>
                                          <p:spTgt spid="205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8"/>
                                        </p:tgtEl>
                                        <p:attrNameLst>
                                          <p:attrName>style.visibility</p:attrName>
                                        </p:attrNameLst>
                                      </p:cBhvr>
                                      <p:to>
                                        <p:strVal val="visible"/>
                                      </p:to>
                                    </p:set>
                                    <p:animEffect transition="in" filter="fade">
                                      <p:cBhvr>
                                        <p:cTn id="12" dur="500"/>
                                        <p:tgtEl>
                                          <p:spTgt spid="20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60"/>
                                        </p:tgtEl>
                                        <p:attrNameLst>
                                          <p:attrName>style.visibility</p:attrName>
                                        </p:attrNameLst>
                                      </p:cBhvr>
                                      <p:to>
                                        <p:strVal val="visible"/>
                                      </p:to>
                                    </p:set>
                                    <p:animEffect transition="in" filter="fade">
                                      <p:cBhvr>
                                        <p:cTn id="17" dur="500"/>
                                        <p:tgtEl>
                                          <p:spTgt spid="2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light-conditions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 xmlns:a16="http://schemas.microsoft.com/office/drawing/2014/main" id="{AF4963D2-0171-4044-88A9-0E0886F4C989}"/>
              </a:ext>
            </a:extLst>
          </p:cNvPr>
          <p:cNvSpPr txBox="1"/>
          <p:nvPr/>
        </p:nvSpPr>
        <p:spPr>
          <a:xfrm>
            <a:off x="115037" y="1558313"/>
            <a:ext cx="3156197" cy="369332"/>
          </a:xfrm>
          <a:prstGeom prst="rect">
            <a:avLst/>
          </a:prstGeom>
          <a:noFill/>
        </p:spPr>
        <p:txBody>
          <a:bodyPr wrap="square">
            <a:spAutoFit/>
          </a:bodyPr>
          <a:lstStyle/>
          <a:p>
            <a:pPr marL="285750" indent="-285750" algn="just">
              <a:buFont typeface="Courier New" panose="02070309020205020404" pitchFamily="49" charset="0"/>
              <a:buChar char="o"/>
            </a:pPr>
            <a:r>
              <a:rPr lang="en-US" b="0" i="0" dirty="0">
                <a:effectLst/>
                <a:highlight>
                  <a:srgbClr val="FFFF00"/>
                </a:highlight>
                <a:latin typeface="Times New Roman" panose="02020603050405020304" pitchFamily="18" charset="0"/>
                <a:cs typeface="Times New Roman" panose="02020603050405020304" pitchFamily="18" charset="0"/>
              </a:rPr>
              <a:t>Condition for interference</a:t>
            </a:r>
            <a:r>
              <a:rPr lang="en-US" b="0" i="0" dirty="0">
                <a:effectLst/>
                <a:latin typeface="Times New Roman" panose="02020603050405020304" pitchFamily="18" charset="0"/>
                <a:cs typeface="Times New Roman" panose="02020603050405020304" pitchFamily="18" charset="0"/>
              </a:rPr>
              <a:t>:</a:t>
            </a:r>
            <a:endParaRPr lang="en-US" dirty="0"/>
          </a:p>
        </p:txBody>
      </p:sp>
      <p:sp>
        <p:nvSpPr>
          <p:cNvPr id="11" name="TextBox 10">
            <a:extLst>
              <a:ext uri="{FF2B5EF4-FFF2-40B4-BE49-F238E27FC236}">
                <a16:creationId xmlns="" xmlns:a16="http://schemas.microsoft.com/office/drawing/2014/main" id="{2199D36B-FE29-4EBC-B2AE-C0EF08BED462}"/>
              </a:ext>
            </a:extLst>
          </p:cNvPr>
          <p:cNvSpPr txBox="1"/>
          <p:nvPr/>
        </p:nvSpPr>
        <p:spPr>
          <a:xfrm>
            <a:off x="2924578" y="1367289"/>
            <a:ext cx="9049354" cy="2470163"/>
          </a:xfrm>
          <a:prstGeom prst="rect">
            <a:avLst/>
          </a:prstGeom>
          <a:noFill/>
        </p:spPr>
        <p:txBody>
          <a:bodyPr wrap="square">
            <a:spAutoFit/>
          </a:bodyPr>
          <a:lstStyle/>
          <a:p>
            <a:pPr algn="l"/>
            <a:endParaRPr lang="en-US" sz="1600" b="0" i="0" u="none" strike="noStrike" baseline="0" dirty="0">
              <a:solidFill>
                <a:srgbClr val="000000"/>
              </a:solidFill>
              <a:latin typeface="Times New Roman" panose="02020603050405020304" pitchFamily="18" charset="0"/>
            </a:endParaRPr>
          </a:p>
          <a:p>
            <a:pPr>
              <a:lnSpc>
                <a:spcPct val="200000"/>
              </a:lnSpc>
            </a:pPr>
            <a:r>
              <a:rPr lang="en-US" sz="1800" b="1" i="0" u="none" strike="noStrike" baseline="0" dirty="0">
                <a:solidFill>
                  <a:srgbClr val="000000"/>
                </a:solidFill>
                <a:latin typeface="Times New Roman" panose="02020603050405020304" pitchFamily="18" charset="0"/>
              </a:rPr>
              <a:t>(</a:t>
            </a:r>
            <a:r>
              <a:rPr lang="en-US" sz="1800" b="1" i="0" u="none" strike="noStrike" baseline="0" dirty="0" err="1">
                <a:solidFill>
                  <a:srgbClr val="000000"/>
                </a:solidFill>
                <a:latin typeface="Times New Roman" panose="02020603050405020304" pitchFamily="18" charset="0"/>
              </a:rPr>
              <a:t>i</a:t>
            </a:r>
            <a:r>
              <a:rPr lang="en-US" sz="1800" b="1" i="0" u="none" strike="noStrike" baseline="0" dirty="0">
                <a:solidFill>
                  <a:srgbClr val="000000"/>
                </a:solidFill>
                <a:latin typeface="Times New Roman" panose="02020603050405020304" pitchFamily="18" charset="0"/>
              </a:rPr>
              <a:t>) </a:t>
            </a:r>
            <a:r>
              <a:rPr lang="en-US" sz="1800" b="0" i="0" u="none" strike="noStrike" baseline="0" dirty="0">
                <a:solidFill>
                  <a:srgbClr val="000000"/>
                </a:solidFill>
                <a:latin typeface="Times New Roman" panose="02020603050405020304" pitchFamily="18" charset="0"/>
              </a:rPr>
              <a:t>The light sources should be coherent. </a:t>
            </a:r>
          </a:p>
          <a:p>
            <a:pPr>
              <a:lnSpc>
                <a:spcPct val="200000"/>
              </a:lnSpc>
            </a:pPr>
            <a:r>
              <a:rPr lang="en-US" sz="1800" b="1" i="0" u="none" strike="noStrike" baseline="0" dirty="0">
                <a:solidFill>
                  <a:srgbClr val="000000"/>
                </a:solidFill>
                <a:latin typeface="Times New Roman" panose="02020603050405020304" pitchFamily="18" charset="0"/>
              </a:rPr>
              <a:t>(ii) </a:t>
            </a:r>
            <a:r>
              <a:rPr lang="en-US" sz="1800" b="0" i="0" u="none" strike="noStrike" baseline="0" dirty="0">
                <a:solidFill>
                  <a:srgbClr val="000000"/>
                </a:solidFill>
                <a:latin typeface="Times New Roman" panose="02020603050405020304" pitchFamily="18" charset="0"/>
              </a:rPr>
              <a:t>The amplitudes of the two waves producing interference should be equal or almost equal. </a:t>
            </a:r>
          </a:p>
          <a:p>
            <a:pPr>
              <a:lnSpc>
                <a:spcPct val="200000"/>
              </a:lnSpc>
            </a:pPr>
            <a:r>
              <a:rPr lang="en-US" sz="1800" b="1" i="0" u="none" strike="noStrike" baseline="0" dirty="0">
                <a:solidFill>
                  <a:srgbClr val="000000"/>
                </a:solidFill>
                <a:latin typeface="Times New Roman" panose="02020603050405020304" pitchFamily="18" charset="0"/>
              </a:rPr>
              <a:t>(iii) </a:t>
            </a:r>
            <a:r>
              <a:rPr lang="en-US" sz="1800" b="0" i="0" u="none" strike="noStrike" baseline="0" dirty="0">
                <a:solidFill>
                  <a:srgbClr val="000000"/>
                </a:solidFill>
                <a:latin typeface="Times New Roman" panose="02020603050405020304" pitchFamily="18" charset="0"/>
              </a:rPr>
              <a:t>The sources should be very close to each other. </a:t>
            </a:r>
          </a:p>
          <a:p>
            <a:pPr>
              <a:lnSpc>
                <a:spcPct val="200000"/>
              </a:lnSpc>
            </a:pPr>
            <a:r>
              <a:rPr lang="en-US" sz="1800" b="1" i="0" u="none" strike="noStrike" baseline="0" dirty="0">
                <a:solidFill>
                  <a:srgbClr val="000000"/>
                </a:solidFill>
                <a:latin typeface="Times New Roman" panose="02020603050405020304" pitchFamily="18" charset="0"/>
              </a:rPr>
              <a:t>(iv) </a:t>
            </a:r>
            <a:r>
              <a:rPr lang="en-US" sz="1800" b="0" i="0" u="none" strike="noStrike" baseline="0" dirty="0">
                <a:solidFill>
                  <a:srgbClr val="000000"/>
                </a:solidFill>
                <a:latin typeface="Times New Roman" panose="02020603050405020304" pitchFamily="18" charset="0"/>
              </a:rPr>
              <a:t>The sources should be very narrow. </a:t>
            </a:r>
          </a:p>
        </p:txBody>
      </p:sp>
    </p:spTree>
    <p:custDataLst>
      <p:tags r:id="rId1"/>
    </p:custDataLst>
    <p:extLst>
      <p:ext uri="{BB962C8B-B14F-4D97-AF65-F5344CB8AC3E}">
        <p14:creationId xmlns:p14="http://schemas.microsoft.com/office/powerpoint/2010/main" val="3874104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light-types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 xmlns:a16="http://schemas.microsoft.com/office/drawing/2014/main" id="{32175368-230C-4E1C-9F91-933432A58B9F}"/>
              </a:ext>
            </a:extLst>
          </p:cNvPr>
          <p:cNvSpPr txBox="1"/>
          <p:nvPr/>
        </p:nvSpPr>
        <p:spPr>
          <a:xfrm>
            <a:off x="286556" y="1482941"/>
            <a:ext cx="11458976" cy="923330"/>
          </a:xfrm>
          <a:prstGeom prst="rect">
            <a:avLst/>
          </a:prstGeom>
          <a:noFill/>
        </p:spPr>
        <p:txBody>
          <a:bodyPr wrap="square">
            <a:spAutoFit/>
          </a:bodyPr>
          <a:lstStyle/>
          <a:p>
            <a:pPr marL="285750" indent="-285750" algn="just">
              <a:buFont typeface="Courier New" panose="02070309020205020404" pitchFamily="49" charset="0"/>
              <a:buChar char="o"/>
            </a:pPr>
            <a:r>
              <a:rPr lang="en-US" sz="1800" b="1" i="0" u="none" strike="noStrike" baseline="0" dirty="0">
                <a:solidFill>
                  <a:srgbClr val="000000"/>
                </a:solidFill>
                <a:latin typeface="Times New Roman" panose="02020603050405020304" pitchFamily="18" charset="0"/>
              </a:rPr>
              <a:t>Constructive interference: </a:t>
            </a:r>
            <a:r>
              <a:rPr lang="en-US" sz="1800" b="0" i="0" u="none" strike="noStrike" baseline="0" dirty="0">
                <a:solidFill>
                  <a:srgbClr val="000000"/>
                </a:solidFill>
                <a:latin typeface="Times New Roman" panose="02020603050405020304" pitchFamily="18" charset="0"/>
              </a:rPr>
              <a:t>If the brightness that is the intensity increases due to superposition of two light waves of same wavelength and equal or almost equal amplitude emitted from coherent sources then the interference is called the constructive interference. </a:t>
            </a:r>
            <a:endParaRPr lang="en-US" dirty="0"/>
          </a:p>
        </p:txBody>
      </p:sp>
      <p:sp>
        <p:nvSpPr>
          <p:cNvPr id="7" name="TextBox 6">
            <a:extLst>
              <a:ext uri="{FF2B5EF4-FFF2-40B4-BE49-F238E27FC236}">
                <a16:creationId xmlns="" xmlns:a16="http://schemas.microsoft.com/office/drawing/2014/main" id="{36752CFE-E2FD-4EAE-BBC5-B8006BEEC45A}"/>
              </a:ext>
            </a:extLst>
          </p:cNvPr>
          <p:cNvSpPr txBox="1"/>
          <p:nvPr/>
        </p:nvSpPr>
        <p:spPr>
          <a:xfrm>
            <a:off x="286557" y="3990065"/>
            <a:ext cx="11458975" cy="923330"/>
          </a:xfrm>
          <a:prstGeom prst="rect">
            <a:avLst/>
          </a:prstGeom>
          <a:noFill/>
        </p:spPr>
        <p:txBody>
          <a:bodyPr wrap="square">
            <a:spAutoFit/>
          </a:bodyPr>
          <a:lstStyle/>
          <a:p>
            <a:pPr marL="285750" indent="-285750" algn="just">
              <a:buFont typeface="Courier New" panose="02070309020205020404" pitchFamily="49" charset="0"/>
              <a:buChar char="o"/>
            </a:pPr>
            <a:r>
              <a:rPr lang="en-US" sz="1800" b="1" i="0" u="none" strike="noStrike" baseline="0" dirty="0">
                <a:solidFill>
                  <a:srgbClr val="000000"/>
                </a:solidFill>
                <a:latin typeface="Times New Roman" panose="02020603050405020304" pitchFamily="18" charset="0"/>
              </a:rPr>
              <a:t>Destructive interference: </a:t>
            </a:r>
            <a:r>
              <a:rPr lang="en-US" sz="1800" b="0" i="0" u="none" strike="noStrike" baseline="0" dirty="0">
                <a:solidFill>
                  <a:srgbClr val="000000"/>
                </a:solidFill>
                <a:latin typeface="Times New Roman" panose="02020603050405020304" pitchFamily="18" charset="0"/>
              </a:rPr>
              <a:t>If zero or minimum intensity is obtained due to superposition of two light waves of same wavelength and equal or almost equal amplitude emitted from coherent sources then the interference is called the destructive interference. </a:t>
            </a:r>
            <a:endParaRPr lang="en-US" dirty="0"/>
          </a:p>
        </p:txBody>
      </p:sp>
      <p:pic>
        <p:nvPicPr>
          <p:cNvPr id="5122" name="Picture 2" descr="Learning Waves | GODWIN'S IMPRESSIONS">
            <a:extLst>
              <a:ext uri="{FF2B5EF4-FFF2-40B4-BE49-F238E27FC236}">
                <a16:creationId xmlns="" xmlns:a16="http://schemas.microsoft.com/office/drawing/2014/main" id="{81E092BF-DA7A-4CF4-B965-4630F02DE2C8}"/>
              </a:ext>
            </a:extLst>
          </p:cNvPr>
          <p:cNvPicPr>
            <a:picLocks noChangeAspect="1" noChangeArrowheads="1" noCrop="1"/>
          </p:cNvPicPr>
          <p:nvPr/>
        </p:nvPicPr>
        <p:blipFill>
          <a:blip r:embed="rId5">
            <a:extLst>
              <a:ext uri="{28A0092B-C50C-407E-A947-70E740481C1C}">
                <a14:useLocalDpi xmlns:a14="http://schemas.microsoft.com/office/drawing/2010/main" val="0"/>
              </a:ext>
            </a:extLst>
          </a:blip>
          <a:srcRect/>
          <a:stretch>
            <a:fillRect/>
          </a:stretch>
        </p:blipFill>
        <p:spPr bwMode="auto">
          <a:xfrm>
            <a:off x="4288665" y="2310777"/>
            <a:ext cx="3387144" cy="1524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pic>
        <p:nvPicPr>
          <p:cNvPr id="5124" name="Picture 4" descr="Does an accelerating or decelerating charge radiates or an accelerating and  decelerating charge radiates? What if acceleration is constant? - Quora">
            <a:extLst>
              <a:ext uri="{FF2B5EF4-FFF2-40B4-BE49-F238E27FC236}">
                <a16:creationId xmlns="" xmlns:a16="http://schemas.microsoft.com/office/drawing/2014/main" id="{FACF48BF-4B02-4FA1-A9CC-91895F092565}"/>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4288665" y="4913395"/>
            <a:ext cx="3387144" cy="152421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3921722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122"/>
                                        </p:tgtEl>
                                        <p:attrNameLst>
                                          <p:attrName>style.visibility</p:attrName>
                                        </p:attrNameLst>
                                      </p:cBhvr>
                                      <p:to>
                                        <p:strVal val="visible"/>
                                      </p:to>
                                    </p:set>
                                    <p:animEffect transition="in" filter="fade">
                                      <p:cBhvr>
                                        <p:cTn id="12" dur="500"/>
                                        <p:tgtEl>
                                          <p:spTgt spid="51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124"/>
                                        </p:tgtEl>
                                        <p:attrNameLst>
                                          <p:attrName>style.visibility</p:attrName>
                                        </p:attrNameLst>
                                      </p:cBhvr>
                                      <p:to>
                                        <p:strVal val="visible"/>
                                      </p:to>
                                    </p:set>
                                    <p:animEffect transition="in" filter="fade">
                                      <p:cBhvr>
                                        <p:cTn id="22" dur="500"/>
                                        <p:tgtEl>
                                          <p:spTgt spid="5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Interference of light-derivation</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591599" y="0"/>
            <a:ext cx="1600401" cy="136728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 xmlns:a16="http://schemas.microsoft.com/office/drawing/2014/main" id="{E378EEDC-B81F-403C-AF84-1FEA0E6A63F0}"/>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tretch>
            <a:fillRect/>
          </a:stretch>
        </p:blipFill>
        <p:spPr>
          <a:xfrm>
            <a:off x="563329" y="1600761"/>
            <a:ext cx="5850350" cy="480667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6" name="Picture 5">
            <a:extLst>
              <a:ext uri="{FF2B5EF4-FFF2-40B4-BE49-F238E27FC236}">
                <a16:creationId xmlns="" xmlns:a16="http://schemas.microsoft.com/office/drawing/2014/main" id="{4ABFD7F8-D8AE-44D8-AF67-65BEB34D3FC2}"/>
              </a:ext>
            </a:extLst>
          </p:cNvPr>
          <p:cNvPicPr>
            <a:picLocks noChangeAspect="1"/>
          </p:cNvPicPr>
          <p:nvPr/>
        </p:nvPicPr>
        <p:blipFill>
          <a:blip r:embed="rId7">
            <a:extLst>
              <a:ext uri="{BEBA8EAE-BF5A-486C-A8C5-ECC9F3942E4B}">
                <a14:imgProps xmlns:a14="http://schemas.microsoft.com/office/drawing/2010/main">
                  <a14:imgLayer r:embed="rId8">
                    <a14:imgEffect>
                      <a14:sharpenSoften amount="50000"/>
                    </a14:imgEffect>
                  </a14:imgLayer>
                </a14:imgProps>
              </a:ext>
              <a:ext uri="{28A0092B-C50C-407E-A947-70E740481C1C}">
                <a14:useLocalDpi xmlns:a14="http://schemas.microsoft.com/office/drawing/2010/main" val="0"/>
              </a:ext>
            </a:extLst>
          </a:blip>
          <a:stretch>
            <a:fillRect/>
          </a:stretch>
        </p:blipFill>
        <p:spPr>
          <a:xfrm>
            <a:off x="6908393" y="1600762"/>
            <a:ext cx="4856407" cy="230040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8" name="Picture 7">
            <a:extLst>
              <a:ext uri="{FF2B5EF4-FFF2-40B4-BE49-F238E27FC236}">
                <a16:creationId xmlns="" xmlns:a16="http://schemas.microsoft.com/office/drawing/2014/main" id="{0A1BFE8F-CEC9-4C86-8B8D-C13039D2608F}"/>
              </a:ext>
            </a:extLst>
          </p:cNvPr>
          <p:cNvPicPr>
            <a:picLocks noChangeAspect="1"/>
          </p:cNvPicPr>
          <p:nvPr/>
        </p:nvPicPr>
        <p:blipFill>
          <a:blip r:embed="rId9">
            <a:extLst>
              <a:ext uri="{BEBA8EAE-BF5A-486C-A8C5-ECC9F3942E4B}">
                <a14:imgProps xmlns:a14="http://schemas.microsoft.com/office/drawing/2010/main">
                  <a14:imgLayer r:embed="rId10">
                    <a14:imgEffect>
                      <a14:sharpenSoften amount="50000"/>
                    </a14:imgEffect>
                  </a14:imgLayer>
                </a14:imgProps>
              </a:ext>
              <a:ext uri="{28A0092B-C50C-407E-A947-70E740481C1C}">
                <a14:useLocalDpi xmlns:a14="http://schemas.microsoft.com/office/drawing/2010/main" val="0"/>
              </a:ext>
            </a:extLst>
          </a:blip>
          <a:stretch>
            <a:fillRect/>
          </a:stretch>
        </p:blipFill>
        <p:spPr>
          <a:xfrm>
            <a:off x="6914339" y="4107035"/>
            <a:ext cx="4850461" cy="2300403"/>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custDataLst>
      <p:tags r:id="rId1"/>
    </p:custDataLst>
    <p:extLst>
      <p:ext uri="{BB962C8B-B14F-4D97-AF65-F5344CB8AC3E}">
        <p14:creationId xmlns:p14="http://schemas.microsoft.com/office/powerpoint/2010/main" val="22000350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5037" y="0"/>
            <a:ext cx="10749367" cy="1208868"/>
          </a:xfrm>
        </p:spPr>
        <p:txBody>
          <a:bodyPr/>
          <a:lstStyle/>
          <a:p>
            <a:r>
              <a:rPr lang="en-US" b="1" dirty="0"/>
              <a:t>Conclusions</a:t>
            </a:r>
          </a:p>
        </p:txBody>
      </p:sp>
      <p:pic>
        <p:nvPicPr>
          <p:cNvPr id="1029" name="Picture 5" descr="World University of Bangladesh (WUB) | Ranking and Admissi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864404" y="105672"/>
            <a:ext cx="1359173" cy="1161198"/>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 xmlns:a16="http://schemas.microsoft.com/office/drawing/2014/main" id="{20258DDF-AEC2-412D-930F-E788E190D699}"/>
              </a:ext>
            </a:extLst>
          </p:cNvPr>
          <p:cNvSpPr/>
          <p:nvPr/>
        </p:nvSpPr>
        <p:spPr>
          <a:xfrm>
            <a:off x="4320973" y="2967335"/>
            <a:ext cx="3343992" cy="923330"/>
          </a:xfrm>
          <a:prstGeom prst="rect">
            <a:avLst/>
          </a:prstGeom>
          <a:noFill/>
        </p:spPr>
        <p:txBody>
          <a:bodyPr wrap="none" lIns="91440" tIns="45720" rIns="91440" bIns="45720">
            <a:spAutoFit/>
          </a:bodyPr>
          <a:lstStyle/>
          <a:p>
            <a:pPr algn="ct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a:t>
            </a:r>
            <a:r>
              <a:rPr lang="en-US" sz="5400" b="0" cap="none" spc="0" dirty="0">
                <a:ln w="0"/>
                <a:solidFill>
                  <a:srgbClr val="FF0000"/>
                </a:solidFill>
                <a:effectLst>
                  <a:reflection blurRad="6350" stA="53000" endA="300" endPos="35500" dir="5400000" sy="-90000" algn="bl" rotWithShape="0"/>
                </a:effectLst>
              </a:rPr>
              <a:t>h</a:t>
            </a:r>
            <a:r>
              <a:rPr lang="en-US" sz="5400" b="0" cap="none" spc="0" dirty="0">
                <a:ln w="0"/>
                <a:solidFill>
                  <a:srgbClr val="00B050"/>
                </a:solidFill>
                <a:effectLst>
                  <a:reflection blurRad="6350" stA="53000" endA="300" endPos="35500" dir="5400000" sy="-90000" algn="bl" rotWithShape="0"/>
                </a:effectLst>
              </a:rPr>
              <a:t>a</a:t>
            </a:r>
            <a:r>
              <a:rPr lang="en-US" sz="5400" b="0" cap="none" spc="0" dirty="0">
                <a:ln w="0"/>
                <a:solidFill>
                  <a:srgbClr val="FFC000"/>
                </a:solidFill>
                <a:effectLst>
                  <a:reflection blurRad="6350" stA="53000" endA="300" endPos="35500" dir="5400000" sy="-90000" algn="bl" rotWithShape="0"/>
                </a:effectLst>
              </a:rPr>
              <a:t>n</a:t>
            </a:r>
            <a:r>
              <a:rPr lang="en-US" sz="5400" b="0" cap="none" spc="0" dirty="0">
                <a:ln w="0"/>
                <a:solidFill>
                  <a:srgbClr val="7030A0"/>
                </a:solidFill>
                <a:effectLst>
                  <a:reflection blurRad="6350" stA="53000" endA="300" endPos="35500" dir="5400000" sy="-90000" algn="bl" rotWithShape="0"/>
                </a:effectLst>
              </a:rPr>
              <a:t>k</a:t>
            </a:r>
            <a:r>
              <a:rPr lang="en-US" sz="54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 </a:t>
            </a:r>
            <a:r>
              <a:rPr lang="en-US" sz="5400" b="0" cap="none" spc="0" dirty="0">
                <a:ln w="0"/>
                <a:solidFill>
                  <a:schemeClr val="accent2">
                    <a:lumMod val="75000"/>
                  </a:schemeClr>
                </a:solidFill>
                <a:effectLst>
                  <a:reflection blurRad="6350" stA="53000" endA="300" endPos="35500" dir="5400000" sy="-90000" algn="bl" rotWithShape="0"/>
                </a:effectLst>
              </a:rPr>
              <a:t>y</a:t>
            </a:r>
            <a:r>
              <a:rPr lang="en-US" sz="5400" b="0" cap="none" spc="0" dirty="0">
                <a:ln w="0"/>
                <a:solidFill>
                  <a:srgbClr val="FF0000"/>
                </a:solidFill>
                <a:effectLst>
                  <a:reflection blurRad="6350" stA="53000" endA="300" endPos="35500" dir="5400000" sy="-90000" algn="bl" rotWithShape="0"/>
                </a:effectLst>
              </a:rPr>
              <a:t>o</a:t>
            </a:r>
            <a:r>
              <a:rPr lang="en-US" sz="5400" b="0" cap="none" spc="0" dirty="0">
                <a:ln w="0"/>
                <a:solidFill>
                  <a:srgbClr val="00B0F0"/>
                </a:solidFill>
                <a:effectLst>
                  <a:reflection blurRad="6350" stA="53000" endA="300" endPos="35500" dir="5400000" sy="-90000" algn="bl" rotWithShape="0"/>
                </a:effectLst>
              </a:rPr>
              <a:t>u</a:t>
            </a:r>
          </a:p>
        </p:txBody>
      </p:sp>
    </p:spTree>
    <p:custDataLst>
      <p:tags r:id="rId1"/>
    </p:custDataLst>
    <p:extLst>
      <p:ext uri="{BB962C8B-B14F-4D97-AF65-F5344CB8AC3E}">
        <p14:creationId xmlns:p14="http://schemas.microsoft.com/office/powerpoint/2010/main" val="89347519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Heat and thermodynamics, oscillations and optics"/>
  <p:tag name="ISPRING_FIRST_PUBLISH" val="1"/>
  <p:tag name="ISPRING_PROJECT_FOLDER_UPDATED" val="1"/>
  <p:tag name="ISPRING_UUID" val="{02C6D6BF-535B-44FC-A14E-F7DDF2682E08}"/>
  <p:tag name="ISPRING_PROJECT_VERSION" val="9"/>
  <p:tag name="FLASHSPRING_ZOOM_TAG" val="11"/>
  <p:tag name="ISPRING_PRESENTATION_INFO_2" val="&lt;?xml version=&quot;1.0&quot; encoding=&quot;UTF-8&quot; standalone=&quot;no&quot; ?&gt;&#10;&lt;presentation2&gt;&#10;&#10;  &lt;slides&gt;&#10;    &lt;slide id=&quot;{B1287C85-437A-430B-8FE4-3289BF99FFE1}&quot; pptId=&quot;256&quot;/&gt;&#10;    &lt;slide id=&quot;{1FCDADF9-49C0-4206-B7A4-13D5BD3F781A}&quot; pptId=&quot;280&quot;/&gt;&#10;    &lt;slide id=&quot;{102E65A7-8C86-4D56-AFD7-6DF62CE1AEE9}&quot; pptId=&quot;271&quot;/&gt;&#10;    &lt;slide id=&quot;{4E45975D-53AE-403C-AC4C-1E4AB1FDE33D}&quot; pptId=&quot;272&quot;/&gt;&#10;    &lt;slide id=&quot;{B9208B61-7222-46AF-8752-9DCF46E5FE26}&quot; pptId=&quot;270&quot;/&gt;&#10;    &lt;slide id=&quot;{E1478411-8328-4E1D-B43F-28BCF2B1D97D}&quot; pptId=&quot;273&quot;/&gt;&#10;    &lt;slide id=&quot;{F7112553-E22A-4C0F-9DD9-0D1A4F63DAD7}&quot; pptId=&quot;275&quot;/&gt;&#10;    &lt;slide id=&quot;{E3971424-18C7-452A-A74F-6AD05C2E5222}&quot; pptId=&quot;276&quot;/&gt;&#10;    &lt;slide id=&quot;{17EB08EC-9F0B-49C4-97E8-D59E16A3F02E}&quot; pptId=&quot;281&quot;/&gt;&#10;    &lt;slide id=&quot;{52D01513-1586-4636-99C0-A28F896DEE2D}&quot; pptId=&quot;282&quot;/&gt;&#10;    &lt;slide id=&quot;{5E75238E-DA07-41AD-9DA8-61EA05A32149}&quot; pptId=&quot;277&quot;/&gt;&#10;  &lt;/slides&gt;&#10;&#10;  &lt;narration&gt;&#10;    &lt;audioTracks/&gt;&#10;    &lt;videoTracks/&gt;&#10;  &lt;/narration&gt;&#10;&#10;&lt;/presentation2&gt;&#10;"/>
  <p:tag name="ISPRING_SCREEN_RECS_UPDATED" val="F:\Online Class-Fall 20\PHY-102\Week-7\Work and energy\"/>
  <p:tag name="ISPRING_RESOURCE_FOLDER" val="F:\Online Class-Fall 20\PHY-102\Week-7\Work and energy\"/>
  <p:tag name="ISPRING_PRESENTATION_PATH" val="F:\Online Class-Fall 20\PHY-102\Week-7\Work and energy.pptx"/>
</p:tagLst>
</file>

<file path=ppt/tags/tag2.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B1287C85-437A-430B-8FE4-3289BF99FFE1}"/>
  <p:tag name="GENSWF_ADVANCE_TIME" val="14.667"/>
</p:tagLst>
</file>

<file path=ppt/tags/tag3.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7"/>
</p:tagLst>
</file>

<file path=ppt/tags/tag4.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27.2|49.1|35.3|13.5"/>
</p:tagLst>
</file>

<file path=ppt/tags/tag5.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30.7|171.5|44.9"/>
</p:tagLst>
</file>

<file path=ppt/tags/tag6.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0.5"/>
</p:tagLst>
</file>

<file path=ppt/tags/tag7.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13|25.3|111.8|12.2"/>
</p:tagLst>
</file>

<file path=ppt/tags/tag8.xml><?xml version="1.0" encoding="utf-8"?>
<p:tagLst xmlns:a="http://schemas.openxmlformats.org/drawingml/2006/main" xmlns:r="http://schemas.openxmlformats.org/officeDocument/2006/relationships" xmlns:p="http://schemas.openxmlformats.org/presentationml/2006/main">
  <p:tag name="GENSWF_ADVANCE_TIME" val="16.472"/>
  <p:tag name="ISPRING_CUSTOM_TIMING_USED" val="1"/>
  <p:tag name="ISPRING_SLIDE_ID_2" val="{1FCDADF9-49C0-4206-B7A4-13D5BD3F781A}"/>
  <p:tag name="TIMING" val="|8.1|151.3|136.8"/>
</p:tagLst>
</file>

<file path=ppt/tags/tag9.xml><?xml version="1.0" encoding="utf-8"?>
<p:tagLst xmlns:a="http://schemas.openxmlformats.org/drawingml/2006/main" xmlns:r="http://schemas.openxmlformats.org/officeDocument/2006/relationships" xmlns:p="http://schemas.openxmlformats.org/presentationml/2006/main">
  <p:tag name="ISPRING_CUSTOM_TIMING_USED" val="1"/>
  <p:tag name="ISPRING_SLIDE_ID_2" val="{5E75238E-DA07-41AD-9DA8-61EA05A32149}"/>
  <p:tag name="GENSWF_ADVANCE_TIME" val="7.7"/>
</p:tagLst>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B970C04F-E7AC-41AB-9C6D-1B1BB88BFF7F}">
  <ds:schemaRefs>
    <ds:schemaRef ds:uri="http://schemas.microsoft.com/office/infopath/2007/PartnerControls"/>
    <ds:schemaRef ds:uri="http://purl.org/dc/elements/1.1/"/>
    <ds:schemaRef ds:uri="http://purl.org/dc/terms/"/>
    <ds:schemaRef ds:uri="http://www.w3.org/XML/1998/namespace"/>
    <ds:schemaRef ds:uri="http://schemas.microsoft.com/office/2006/metadata/properties"/>
    <ds:schemaRef ds:uri="http://schemas.openxmlformats.org/package/2006/metadata/core-properties"/>
    <ds:schemaRef ds:uri="http://schemas.microsoft.com/office/2006/documentManagement/types"/>
    <ds:schemaRef ds:uri="4873beb7-5857-4685-be1f-d57550cc96cc"/>
    <ds:schemaRef ds:uri="http://purl.org/dc/dcmitype/"/>
  </ds:schemaRefs>
</ds:datastoreItem>
</file>

<file path=customXml/itemProps2.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3DEC53A-9DF1-4780-BE92-17E971B7A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3901</TotalTime>
  <Words>461</Words>
  <Application>Microsoft Office PowerPoint</Application>
  <PresentationFormat>Custom</PresentationFormat>
  <Paragraphs>36</Paragraphs>
  <Slides>9</Slides>
  <Notes>8</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WelcomeDoc</vt:lpstr>
      <vt:lpstr>Physics (PHY 102) Physical Optics</vt:lpstr>
      <vt:lpstr>Objectives</vt:lpstr>
      <vt:lpstr>Physical Optics</vt:lpstr>
      <vt:lpstr>Wavefront</vt:lpstr>
      <vt:lpstr>Interference of light</vt:lpstr>
      <vt:lpstr>Interference of light-conditions</vt:lpstr>
      <vt:lpstr>Interference of light-types</vt:lpstr>
      <vt:lpstr>Interference of light-derivation</vt:lpstr>
      <vt:lpstr>Conclusions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Heat and thermodynamics, oscillations and optics</dc:title>
  <dc:creator>Misbah Babu</dc:creator>
  <cp:keywords/>
  <cp:lastModifiedBy>User</cp:lastModifiedBy>
  <cp:revision>614</cp:revision>
  <dcterms:created xsi:type="dcterms:W3CDTF">2020-06-02T04:52:33Z</dcterms:created>
  <dcterms:modified xsi:type="dcterms:W3CDTF">2024-04-25T05:35:15Z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